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608" r:id="rId5"/>
    <p:sldId id="609" r:id="rId6"/>
    <p:sldId id="405" r:id="rId7"/>
    <p:sldId id="420" r:id="rId8"/>
    <p:sldId id="417" r:id="rId9"/>
    <p:sldId id="409" r:id="rId10"/>
    <p:sldId id="374" r:id="rId11"/>
    <p:sldId id="410" r:id="rId12"/>
    <p:sldId id="3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B899C64-257D-3CF8-307B-C064A9FD30FD}" name="Hem" initials="HV" userId="S::hem@codebasics.io::bea3b344-f516-4190-a918-690af99159cb" providerId="AD"/>
  <p188:author id="{14DC20F0-DF08-BF13-326D-99DF121BFC3F}" name="Satya Sravani" initials="SS" userId="S::satya@codebasics.io::5c51036d-9669-4df2-8c71-663b5e5d9b4e" providerId="AD"/>
  <p188:author id="{AE33FAF6-3CE3-E5E2-32DD-CDF414B84266}" name="Aditya" initials="Ad" userId="S::aditya@codebasics.io::3497135c-7165-4578-8828-c6a26bbf1d4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152C"/>
    <a:srgbClr val="19192F"/>
    <a:srgbClr val="1D0F27"/>
    <a:srgbClr val="7373B5"/>
    <a:srgbClr val="484888"/>
    <a:srgbClr val="343462"/>
    <a:srgbClr val="1D107E"/>
    <a:srgbClr val="E5C959"/>
    <a:srgbClr val="DE8540"/>
    <a:srgbClr val="5CB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10" autoAdjust="0"/>
  </p:normalViewPr>
  <p:slideViewPr>
    <p:cSldViewPr snapToGrid="0">
      <p:cViewPr varScale="1">
        <p:scale>
          <a:sx n="98" d="100"/>
          <a:sy n="98" d="100"/>
        </p:scale>
        <p:origin x="82" y="178"/>
      </p:cViewPr>
      <p:guideLst/>
    </p:cSldViewPr>
  </p:slideViewPr>
  <p:notesTextViewPr>
    <p:cViewPr>
      <p:scale>
        <a:sx n="1" d="1"/>
        <a:sy n="1" d="1"/>
      </p:scale>
      <p:origin x="0" y="-1214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haval Patel" userId="c6bc9a3d-7f74-4890-bdc7-ab3b9bbda805" providerId="ADAL" clId="{14902164-DD85-4FD1-9088-72804F0B40E7}"/>
    <pc:docChg chg="delSld delSection modSection">
      <pc:chgData name="Dhaval Patel" userId="c6bc9a3d-7f74-4890-bdc7-ab3b9bbda805" providerId="ADAL" clId="{14902164-DD85-4FD1-9088-72804F0B40E7}" dt="2026-06-19T12:14:06.906" v="3" actId="47"/>
      <pc:docMkLst>
        <pc:docMk/>
      </pc:docMkLst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796047980" sldId="349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610632656" sldId="376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683426830" sldId="377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898826786" sldId="378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455121827" sldId="379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769642540" sldId="380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4282644765" sldId="383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822096286" sldId="398"/>
        </pc:sldMkLst>
      </pc:sldChg>
      <pc:sldChg chg="del">
        <pc:chgData name="Dhaval Patel" userId="c6bc9a3d-7f74-4890-bdc7-ab3b9bbda805" providerId="ADAL" clId="{14902164-DD85-4FD1-9088-72804F0B40E7}" dt="2026-06-19T12:14:05.943" v="2" actId="47"/>
        <pc:sldMkLst>
          <pc:docMk/>
          <pc:sldMk cId="745777331" sldId="407"/>
        </pc:sldMkLst>
      </pc:sldChg>
      <pc:sldChg chg="del">
        <pc:chgData name="Dhaval Patel" userId="c6bc9a3d-7f74-4890-bdc7-ab3b9bbda805" providerId="ADAL" clId="{14902164-DD85-4FD1-9088-72804F0B40E7}" dt="2026-06-19T12:14:06.906" v="3" actId="47"/>
        <pc:sldMkLst>
          <pc:docMk/>
          <pc:sldMk cId="61884065" sldId="408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180989841" sldId="411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507788722" sldId="412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567078420" sldId="414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268405819" sldId="415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215070798" sldId="416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424040531" sldId="422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527499100" sldId="430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172920332" sldId="434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768074316" sldId="435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165265718" sldId="436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706534209" sldId="437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025321718" sldId="439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25384132" sldId="440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040047008" sldId="443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980567072" sldId="444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732166775" sldId="446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519438575" sldId="451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373491477" sldId="452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785980715" sldId="455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201704153" sldId="456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46225762" sldId="461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804218920" sldId="462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773723979" sldId="467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482179995" sldId="468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928237412" sldId="469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539667338" sldId="470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853973383" sldId="473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065456621" sldId="479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489951807" sldId="480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306383402" sldId="481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677975277" sldId="482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793344497" sldId="483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80496334" sldId="489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248540828" sldId="526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934114821" sldId="528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624478772" sldId="531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591470604" sldId="532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345616044" sldId="535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772565633" sldId="536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04945891" sldId="538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913453233" sldId="540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965415012" sldId="541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161513223" sldId="542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069641885" sldId="544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257965507" sldId="546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4080827242" sldId="547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086487857" sldId="548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3990262630" sldId="551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683415027" sldId="552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921836242" sldId="555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781923428" sldId="561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1766926916" sldId="562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4038372087" sldId="563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190385113" sldId="564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2934698751" sldId="566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4202037021" sldId="567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596833286" sldId="568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497197022" sldId="569"/>
        </pc:sldMkLst>
      </pc:sldChg>
      <pc:sldChg chg="del">
        <pc:chgData name="Dhaval Patel" userId="c6bc9a3d-7f74-4890-bdc7-ab3b9bbda805" providerId="ADAL" clId="{14902164-DD85-4FD1-9088-72804F0B40E7}" dt="2026-06-19T12:13:33.020" v="0" actId="47"/>
        <pc:sldMkLst>
          <pc:docMk/>
          <pc:sldMk cId="969678095" sldId="57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B05CF2F-309D-8E19-E7E8-8B90E3AC57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BD362E-C94A-8626-C9C6-0075296BA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A4C63E-FB18-4E26-BB86-09015304BB2F}" type="datetimeFigureOut">
              <a:rPr lang="en-IN" smtClean="0"/>
              <a:t>29-09-2026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627B09-F0E2-A918-07A3-5B1349E20E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05D758-6767-AC06-A62B-E2A756BFE7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en-IN" dirty="0"/>
          </a:p>
          <a:p>
            <a:r>
              <a:rPr lang="en-IN" dirty="0"/>
              <a:t>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67329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DD25-F74E-4AFC-A1BD-2280AAE537E6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68CA65-A871-48DA-87AE-B3F6FAF72CF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5266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595EF-D635-2CB4-AA6B-AB0A62D68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0061A9-E117-CCB0-84C4-0A36E0396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D4DE7-213B-F248-3116-EDE42EB71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21611-8FAA-9F9E-8BF4-8C63C467C9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68CA65-A871-48DA-87AE-B3F6FAF72CF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425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68CA65-A871-48DA-87AE-B3F6FAF72CF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703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C4789-62F5-50DC-E010-87D95F168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66188-801C-0FBE-CDB0-2B78769BA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49039-FD8B-0737-1411-95D138797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Have you wondered that you spending 1 week  in a vacation flies so fast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IN" dirty="0"/>
            </a:br>
            <a:r>
              <a:rPr lang="en-IN" dirty="0"/>
              <a:t>----</a:t>
            </a:r>
            <a:br>
              <a:rPr lang="en-IN" dirty="0"/>
            </a:br>
            <a:br>
              <a:rPr lang="en-IN" dirty="0"/>
            </a:b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91005-ED11-7151-43A4-815A9C4170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68CA65-A871-48DA-87AE-B3F6FAF72CF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6670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8FA35-D6DC-8995-8685-F74E73663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619481-BA38-0FC2-D59F-E04EDB05D3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79D6F-A4FD-9239-7136-4D7448ABE7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Have you wondered that you spending 1 week  in a vacation flies so fast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IN" dirty="0"/>
            </a:br>
            <a:r>
              <a:rPr lang="en-IN" dirty="0"/>
              <a:t>----</a:t>
            </a:r>
            <a:br>
              <a:rPr lang="en-IN" dirty="0"/>
            </a:br>
            <a:br>
              <a:rPr lang="en-IN" dirty="0"/>
            </a:b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4FCAD-C378-A80B-3978-577CA10DBC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68CA65-A871-48DA-87AE-B3F6FAF72CF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942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D994C-8A23-F5C3-0567-FC49C11C5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56C5AE-4D73-106E-20E1-5FDD7BA914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DF8384-ED7C-D9E3-A47B-1C2595669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/>
              <a:t>But psychologically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C9351A-90E5-6CEE-B803-6781EAA7C0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68CA65-A871-48DA-87AE-B3F6FAF72CF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7530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90F58-F020-4265-E151-AE85B5B63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A9E05-49E8-8694-C4C7-56B1FEBCC3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7B73DB-F55F-A186-A485-D3584E15C2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14400" lvl="2" indent="0">
              <a:buFont typeface="Arial"/>
              <a:buNone/>
            </a:pPr>
            <a:r>
              <a:rPr lang="en-IN" dirty="0"/>
              <a:t>So fundamentally you cannot expand time but  (image 1)</a:t>
            </a:r>
          </a:p>
          <a:p>
            <a:pPr marL="914400" lvl="2" indent="0">
              <a:buFont typeface="Arial"/>
              <a:buNone/>
            </a:pPr>
            <a:endParaRPr lang="en-IN" dirty="0"/>
          </a:p>
          <a:p>
            <a:pPr marL="914400" lvl="2" indent="0">
              <a:buFont typeface="Arial"/>
              <a:buNone/>
            </a:pPr>
            <a:r>
              <a:rPr lang="en-IN" dirty="0"/>
              <a:t>you can expand your presence in it. (image 2)</a:t>
            </a:r>
          </a:p>
          <a:p>
            <a:pPr marL="914400" lvl="2" indent="0">
              <a:buFont typeface="Arial"/>
              <a:buNone/>
            </a:pPr>
            <a:endParaRPr lang="en-IN" dirty="0"/>
          </a:p>
          <a:p>
            <a:endParaRPr lang="en-US" sz="9600" dirty="0"/>
          </a:p>
          <a:p>
            <a:r>
              <a:rPr lang="en-US" sz="9600" dirty="0"/>
              <a:t>-----</a:t>
            </a:r>
            <a:br>
              <a:rPr lang="en-US" sz="9600" dirty="0"/>
            </a:br>
            <a:br>
              <a:rPr lang="en-US" sz="9600" dirty="0"/>
            </a:br>
            <a:r>
              <a:rPr lang="en-US" sz="9600" dirty="0"/>
              <a:t>So if you expand your presence in the time frame, you get more productive and end up doing more stuff.</a:t>
            </a:r>
            <a:br>
              <a:rPr lang="en-US" sz="9600" dirty="0"/>
            </a:br>
            <a:br>
              <a:rPr lang="en-US" sz="9600" dirty="0"/>
            </a:br>
            <a:r>
              <a:rPr lang="en-US" sz="9600" dirty="0"/>
              <a:t>Just understand this fundamental folks</a:t>
            </a:r>
          </a:p>
          <a:p>
            <a:endParaRPr lang="en-US" sz="9600" dirty="0"/>
          </a:p>
          <a:p>
            <a:r>
              <a:rPr lang="en-US" sz="9600" dirty="0"/>
              <a:t>You cannot expand time</a:t>
            </a:r>
          </a:p>
          <a:p>
            <a:r>
              <a:rPr lang="en-US" sz="9600" dirty="0"/>
              <a:t>But only expand your presence in it.</a:t>
            </a:r>
          </a:p>
          <a:p>
            <a:endParaRPr lang="en-US" sz="9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5557E-A932-0E66-23A0-A7CD0DB266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68CA65-A871-48DA-87AE-B3F6FAF72CF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693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74ED2-538C-44F8-F0E4-B637E0281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0BDC8-F337-1E9E-6400-EFBA3DB5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B646B-6B29-782E-490B-17855EFE8A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9600" dirty="0"/>
          </a:p>
          <a:p>
            <a:r>
              <a:rPr lang="en-US" sz="9600" dirty="0"/>
              <a:t>In the next lecture, we are going to see how to get more time with two components of time.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FFF5E-7CCA-4097-BAD0-6768BAA9F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68CA65-A871-48DA-87AE-B3F6FAF72CFE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210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4CF05-39BE-C02E-11FE-EDFE7778C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A150D6-8D89-CCB9-A0A0-EF6EFFC2A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308702-3D3A-F6C3-B88F-9069C750C7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14400" lvl="2" indent="0">
              <a:buFont typeface="Arial"/>
              <a:buNone/>
            </a:pPr>
            <a:r>
              <a:rPr lang="en-IN" dirty="0"/>
              <a:t>Time is governed by two factors: Attention &amp; Energy</a:t>
            </a:r>
            <a:endParaRPr lang="en-US" dirty="0"/>
          </a:p>
          <a:p>
            <a:pPr marL="2057400" lvl="2" indent="-1143000">
              <a:buFont typeface="Arial"/>
              <a:buChar char="•"/>
            </a:pPr>
            <a:r>
              <a:rPr lang="en-IN" dirty="0"/>
              <a:t>Breakdown attention and energy</a:t>
            </a:r>
            <a:endParaRPr lang="en-US" dirty="0"/>
          </a:p>
          <a:p>
            <a:endParaRPr lang="en-US" sz="9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5BA526-EE70-8163-C31F-69CFDF089D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68CA65-A871-48DA-87AE-B3F6FAF72CF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725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BEB09-05A3-034A-B271-A069D84B06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FF230-51AE-FA6F-F303-22CB58695F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578991-8B52-111B-277C-D2BC39A70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6222A-48C6-4D0D-B7B2-FFF718F16799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D93D9B-DABA-1B5A-7D77-6373EBAE9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3635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351D-BFC9-2927-643D-1AD0944D8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C0F91-1D21-AB05-32BF-1391A6F2E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2DA2AC-4153-420B-625A-0FDA5CC8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1973B-11E6-4DFC-8A22-E60677D6D019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C816C-B2A1-7C64-1017-92EC6CEF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3373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D5CBE-D462-7A7B-2B28-331B97053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A47CAB-CAF4-9D4B-E984-68AD8072CB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82323-E92A-8DFC-FB3B-76F8647F2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A2F3-6AD9-4378-9414-A5F06E30E7BC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FE2975-2D9F-47FA-C46B-52701AC19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7578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AD068-C8B1-BC18-5FAB-F454E38E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E2E0C-A4A0-E522-654A-F6212634A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A8E5E-D5BB-9BED-36E3-20C7B71F21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38B536-C43D-7C3B-B0EB-BB8712F04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BCDEE-42D3-473E-B8FD-F8FBB5D631A2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4669F7-9ED3-3584-F2DA-E31B2AA78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48666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16D1B-93C4-945D-313E-7950DA257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E43528-E9B3-FCE8-C2A7-4CD88C1E2A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2654F9-5049-AAD5-B244-00DB11815F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E82221-7439-4A84-AA24-AB9221424F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759D3B-47F7-ACC7-D444-706CC655D3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D9A234-BB6E-1DE8-AFD8-6CEB04C37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94D2A-8BC7-4640-A9CD-7E50DA72B340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6D9279-D352-3404-1743-C3010F5B8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3DB91F-787B-E81E-E7AB-83FB99E18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5754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38D42-CB9D-17BA-93B5-55EBC43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DF1555-995D-5B07-F6B0-3E40E4F58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E8222-6C7D-4F0B-8203-15AF990A2274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5E551C-87E2-A682-D4AA-51AF51CAE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BCDE40-3AD8-E10F-447D-7FC6CF7E7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63365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9F3C52-5CCC-718A-BDE9-F533B1460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6049-DA79-447D-B33E-1D891B54E06C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493893-BD13-E920-6D71-EC06A1A4E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IN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9BC39-0F9F-4B50-8518-64FC531E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7432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BACBA-A321-401B-AF16-1726978C7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641110-1A0A-A71F-B8C6-7CA74420B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B62BB8-346A-2107-93E8-396A76055E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C8CA44-9BA2-19C9-916D-26A795661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91A9F-F06D-4B8D-84CC-05A86606CA9D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4F881-9CF5-2C10-DE46-C12E9F611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8F6898-A4B6-DB27-0A5B-673293C20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78961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37918-6C4F-E7C4-26A3-7631B02A5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79848E-5DF7-FD34-5CB1-A7C185EB13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E07A05-3225-C693-AE14-DA5F676BDE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8D3ABA-A2EB-0A66-34B6-8D2CCA154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4E782-38F4-45B7-A1FB-327CB9E7AA9A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3D4B9-A814-E91F-C0AE-F92106B0F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BE72-8D1C-BD33-1530-6FEAF8817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8671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D7365-C493-C691-DB33-C77A66E1C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03638B-DEA4-B265-A377-ADA8014A87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A7FF7-8C8C-4FEE-4AEF-CD3F244C6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854E7-3783-4EFB-9B82-F262DAF07930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96E31-614C-561B-A1FA-7D5DA7AD5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5FC96D-3C0C-6AA8-654E-D5DAEE172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95912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5421C4-B89A-3AED-B55D-ECF1F360AC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16E098-5D8D-AE53-C81F-20CB7DCC67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D643C-04EE-CB09-A8C8-143C99A6B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3853C-8CCD-48DE-8C9B-8373371CCD52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5DB40-F34C-9760-97CD-3DAE49C7C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873402-330A-004B-68BD-8B6F191FA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92837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A0980E-7B34-0A4B-28F3-1D1F1A045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73898E-2938-DFF2-B38A-246103091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F23D1-4543-1D06-E718-4473A9E95D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4A644-609C-4D91-A02A-915090FAC2F1}" type="datetime1">
              <a:rPr lang="en-IN" smtClean="0"/>
              <a:t>29-09-2026</a:t>
            </a:fld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45D57-1E4C-76B7-617A-31D2DACE5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8211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70829-0AE2-B011-A2CF-0EDC00B63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D14729-F30E-8048-7AD7-066F3D47A6F3}"/>
              </a:ext>
            </a:extLst>
          </p:cNvPr>
          <p:cNvSpPr txBox="1"/>
          <p:nvPr/>
        </p:nvSpPr>
        <p:spPr>
          <a:xfrm>
            <a:off x="2371167" y="2136338"/>
            <a:ext cx="78771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>
                <a:solidFill>
                  <a:srgbClr val="33CC33"/>
                </a:solidFill>
                <a:latin typeface="Saira Medium" pitchFamily="2" charset="0"/>
                <a:cs typeface="Kanit" pitchFamily="2" charset="-34"/>
              </a:defRPr>
            </a:lvl1pPr>
          </a:lstStyle>
          <a:p>
            <a:r>
              <a:rPr lang="en-IN" sz="5400" dirty="0"/>
              <a:t>Time Management and Deep Work</a:t>
            </a:r>
          </a:p>
        </p:txBody>
      </p:sp>
    </p:spTree>
    <p:extLst>
      <p:ext uri="{BB962C8B-B14F-4D97-AF65-F5344CB8AC3E}">
        <p14:creationId xmlns:p14="http://schemas.microsoft.com/office/powerpoint/2010/main" val="40942901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8EC81D3-2A6B-7F69-2051-8E66913F637E}"/>
              </a:ext>
            </a:extLst>
          </p:cNvPr>
          <p:cNvGrpSpPr/>
          <p:nvPr/>
        </p:nvGrpSpPr>
        <p:grpSpPr>
          <a:xfrm>
            <a:off x="7495881" y="3631860"/>
            <a:ext cx="820132" cy="2325880"/>
            <a:chOff x="5789964" y="3624143"/>
            <a:chExt cx="820132" cy="232588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F67D2A40-51F9-0B8D-8937-E9EC6E2DDA4A}"/>
                </a:ext>
              </a:extLst>
            </p:cNvPr>
            <p:cNvSpPr/>
            <p:nvPr/>
          </p:nvSpPr>
          <p:spPr>
            <a:xfrm>
              <a:off x="5789964" y="3624143"/>
              <a:ext cx="810705" cy="2325880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42419C8-2827-DA9F-6D1B-6869CBC816A7}"/>
                </a:ext>
              </a:extLst>
            </p:cNvPr>
            <p:cNvSpPr/>
            <p:nvPr/>
          </p:nvSpPr>
          <p:spPr>
            <a:xfrm>
              <a:off x="5799392" y="3624143"/>
              <a:ext cx="810704" cy="73354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9F27AD58-EF1E-E23D-5BB1-1F050709B8C1}"/>
              </a:ext>
            </a:extLst>
          </p:cNvPr>
          <p:cNvSpPr/>
          <p:nvPr/>
        </p:nvSpPr>
        <p:spPr>
          <a:xfrm>
            <a:off x="1243887" y="602939"/>
            <a:ext cx="4132209" cy="734873"/>
          </a:xfrm>
          <a:prstGeom prst="round2DiagRect">
            <a:avLst>
              <a:gd name="adj1" fmla="val 33731"/>
              <a:gd name="adj2" fmla="val 0"/>
            </a:avLst>
          </a:prstGeom>
          <a:solidFill>
            <a:schemeClr val="tx1">
              <a:lumMod val="95000"/>
              <a:lumOff val="5000"/>
            </a:schemeClr>
          </a:solidFill>
          <a:ln w="28575">
            <a:solidFill>
              <a:srgbClr val="3B82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/>
              <a:t>PRE AI</a:t>
            </a:r>
          </a:p>
        </p:txBody>
      </p:sp>
      <p:sp>
        <p:nvSpPr>
          <p:cNvPr id="9" name="Rectangle: Diagonal Corners Rounded 8">
            <a:extLst>
              <a:ext uri="{FF2B5EF4-FFF2-40B4-BE49-F238E27FC236}">
                <a16:creationId xmlns:a16="http://schemas.microsoft.com/office/drawing/2014/main" id="{EC3B5C99-AD1C-8938-8C91-1970C264CEB2}"/>
              </a:ext>
            </a:extLst>
          </p:cNvPr>
          <p:cNvSpPr/>
          <p:nvPr/>
        </p:nvSpPr>
        <p:spPr>
          <a:xfrm>
            <a:off x="6804455" y="575453"/>
            <a:ext cx="4132209" cy="734873"/>
          </a:xfrm>
          <a:prstGeom prst="round2DiagRect">
            <a:avLst>
              <a:gd name="adj1" fmla="val 33731"/>
              <a:gd name="adj2" fmla="val 0"/>
            </a:avLst>
          </a:prstGeom>
          <a:solidFill>
            <a:schemeClr val="tx1">
              <a:lumMod val="95000"/>
              <a:lumOff val="5000"/>
            </a:schemeClr>
          </a:solidFill>
          <a:ln w="28575">
            <a:solidFill>
              <a:srgbClr val="3B82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/>
              <a:t>Post AI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9191D0-6846-674B-3863-E7EFCF1094FE}"/>
              </a:ext>
            </a:extLst>
          </p:cNvPr>
          <p:cNvSpPr/>
          <p:nvPr/>
        </p:nvSpPr>
        <p:spPr>
          <a:xfrm>
            <a:off x="1675948" y="2073103"/>
            <a:ext cx="810705" cy="391212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9957C7D-C082-F587-E191-27E8B8E18AA6}"/>
              </a:ext>
            </a:extLst>
          </p:cNvPr>
          <p:cNvSpPr/>
          <p:nvPr/>
        </p:nvSpPr>
        <p:spPr>
          <a:xfrm>
            <a:off x="2797737" y="2162658"/>
            <a:ext cx="480767" cy="373301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61403A-DECA-1BB6-A52B-6A3534B105B3}"/>
              </a:ext>
            </a:extLst>
          </p:cNvPr>
          <p:cNvSpPr txBox="1"/>
          <p:nvPr/>
        </p:nvSpPr>
        <p:spPr>
          <a:xfrm>
            <a:off x="3278504" y="3429000"/>
            <a:ext cx="20903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>
                <a:solidFill>
                  <a:srgbClr val="92D050"/>
                </a:solidFill>
              </a:rPr>
              <a:t>Task oriented technical work 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D1E52D7-B3EB-5285-B099-11ECF7F29125}"/>
              </a:ext>
            </a:extLst>
          </p:cNvPr>
          <p:cNvSpPr/>
          <p:nvPr/>
        </p:nvSpPr>
        <p:spPr>
          <a:xfrm>
            <a:off x="7505308" y="2045616"/>
            <a:ext cx="810705" cy="167065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0E25A06B-903A-2448-028C-1AC81C3FE0D4}"/>
              </a:ext>
            </a:extLst>
          </p:cNvPr>
          <p:cNvSpPr/>
          <p:nvPr/>
        </p:nvSpPr>
        <p:spPr>
          <a:xfrm>
            <a:off x="8402426" y="2145097"/>
            <a:ext cx="480767" cy="140484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F32BBA-990C-3A53-8DE0-95C9ED50A7A3}"/>
              </a:ext>
            </a:extLst>
          </p:cNvPr>
          <p:cNvSpPr txBox="1"/>
          <p:nvPr/>
        </p:nvSpPr>
        <p:spPr>
          <a:xfrm>
            <a:off x="8870559" y="2501963"/>
            <a:ext cx="2493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>
                <a:solidFill>
                  <a:srgbClr val="92D050"/>
                </a:solidFill>
              </a:rPr>
              <a:t>Smart AI Assisted tech work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C4D0C0E-9E26-F2D6-7231-84890A4D7069}"/>
              </a:ext>
            </a:extLst>
          </p:cNvPr>
          <p:cNvSpPr/>
          <p:nvPr/>
        </p:nvSpPr>
        <p:spPr>
          <a:xfrm>
            <a:off x="8402426" y="3645585"/>
            <a:ext cx="480767" cy="68131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86A9AD-CFDF-45E8-FBC3-7DF9A69FEA94}"/>
              </a:ext>
            </a:extLst>
          </p:cNvPr>
          <p:cNvSpPr/>
          <p:nvPr/>
        </p:nvSpPr>
        <p:spPr>
          <a:xfrm>
            <a:off x="7505308" y="3649921"/>
            <a:ext cx="810704" cy="73354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D9D08E-84DB-3A10-1759-A1029B016951}"/>
              </a:ext>
            </a:extLst>
          </p:cNvPr>
          <p:cNvSpPr txBox="1"/>
          <p:nvPr/>
        </p:nvSpPr>
        <p:spPr>
          <a:xfrm>
            <a:off x="8969606" y="3552468"/>
            <a:ext cx="29136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>
                <a:solidFill>
                  <a:srgbClr val="92D050"/>
                </a:solidFill>
              </a:rPr>
              <a:t>Business and product contribution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70D29E-3D5F-8554-67E2-C0749687E913}"/>
              </a:ext>
            </a:extLst>
          </p:cNvPr>
          <p:cNvSpPr/>
          <p:nvPr/>
        </p:nvSpPr>
        <p:spPr>
          <a:xfrm>
            <a:off x="7505308" y="4385211"/>
            <a:ext cx="810704" cy="73354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8D395B82-6B4A-3B7C-CE1F-BCD429ECBE1A}"/>
              </a:ext>
            </a:extLst>
          </p:cNvPr>
          <p:cNvSpPr/>
          <p:nvPr/>
        </p:nvSpPr>
        <p:spPr>
          <a:xfrm>
            <a:off x="8381412" y="4409156"/>
            <a:ext cx="480767" cy="68131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5E8ECF-C486-723E-64F0-786C09649AE3}"/>
              </a:ext>
            </a:extLst>
          </p:cNvPr>
          <p:cNvSpPr txBox="1"/>
          <p:nvPr/>
        </p:nvSpPr>
        <p:spPr>
          <a:xfrm>
            <a:off x="8890460" y="4547263"/>
            <a:ext cx="20609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>
                <a:solidFill>
                  <a:srgbClr val="92D050"/>
                </a:solidFill>
              </a:rPr>
              <a:t>Creative work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A39441-1471-04CC-3E6A-52F75F52D6A3}"/>
              </a:ext>
            </a:extLst>
          </p:cNvPr>
          <p:cNvSpPr/>
          <p:nvPr/>
        </p:nvSpPr>
        <p:spPr>
          <a:xfrm>
            <a:off x="7495881" y="5115787"/>
            <a:ext cx="810704" cy="73354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6DD0BE23-A4AD-802B-4F4B-FB3F527AA795}"/>
              </a:ext>
            </a:extLst>
          </p:cNvPr>
          <p:cNvSpPr/>
          <p:nvPr/>
        </p:nvSpPr>
        <p:spPr>
          <a:xfrm>
            <a:off x="8382982" y="5155445"/>
            <a:ext cx="480767" cy="68131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499C4D-9669-2FCC-AD34-95AD1E132F92}"/>
              </a:ext>
            </a:extLst>
          </p:cNvPr>
          <p:cNvSpPr txBox="1"/>
          <p:nvPr/>
        </p:nvSpPr>
        <p:spPr>
          <a:xfrm>
            <a:off x="8737080" y="5115787"/>
            <a:ext cx="221431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>
                <a:solidFill>
                  <a:srgbClr val="92D050"/>
                </a:solidFill>
              </a:rPr>
              <a:t>Strategic collaboration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51EDFF-87A8-3D4A-51DE-FEDD05BC378A}"/>
              </a:ext>
            </a:extLst>
          </p:cNvPr>
          <p:cNvSpPr txBox="1"/>
          <p:nvPr/>
        </p:nvSpPr>
        <p:spPr>
          <a:xfrm>
            <a:off x="561828" y="3716266"/>
            <a:ext cx="10737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</a:rPr>
              <a:t>8 hours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B416C89-B808-FB6C-D4FA-E5EC2796303F}"/>
              </a:ext>
            </a:extLst>
          </p:cNvPr>
          <p:cNvSpPr/>
          <p:nvPr/>
        </p:nvSpPr>
        <p:spPr>
          <a:xfrm>
            <a:off x="1683147" y="2064280"/>
            <a:ext cx="810705" cy="391212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DFF6421C-B375-AA5A-318C-6E9E68DB875B}"/>
              </a:ext>
            </a:extLst>
          </p:cNvPr>
          <p:cNvSpPr/>
          <p:nvPr/>
        </p:nvSpPr>
        <p:spPr>
          <a:xfrm>
            <a:off x="2804936" y="2153835"/>
            <a:ext cx="480767" cy="373301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5256B6-252C-4F4E-5782-3CE02050B846}"/>
              </a:ext>
            </a:extLst>
          </p:cNvPr>
          <p:cNvSpPr txBox="1"/>
          <p:nvPr/>
        </p:nvSpPr>
        <p:spPr>
          <a:xfrm>
            <a:off x="3285703" y="3420177"/>
            <a:ext cx="20903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>
                <a:solidFill>
                  <a:srgbClr val="92D050"/>
                </a:solidFill>
              </a:rPr>
              <a:t>Task oriented technical work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E919E0-4C99-C15C-3A88-ED1DE5BA2B5D}"/>
              </a:ext>
            </a:extLst>
          </p:cNvPr>
          <p:cNvSpPr txBox="1"/>
          <p:nvPr/>
        </p:nvSpPr>
        <p:spPr>
          <a:xfrm>
            <a:off x="569027" y="3707443"/>
            <a:ext cx="10737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</a:rPr>
              <a:t>8 hours</a:t>
            </a:r>
          </a:p>
        </p:txBody>
      </p:sp>
    </p:spTree>
    <p:extLst>
      <p:ext uri="{BB962C8B-B14F-4D97-AF65-F5344CB8AC3E}">
        <p14:creationId xmlns:p14="http://schemas.microsoft.com/office/powerpoint/2010/main" val="1646990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/>
      <p:bldP spid="16" grpId="0" animBg="1"/>
      <p:bldP spid="17" grpId="0" animBg="1"/>
      <p:bldP spid="18" grpId="0"/>
      <p:bldP spid="19" grpId="0" animBg="1"/>
      <p:bldP spid="20" grpId="0" animBg="1"/>
      <p:bldP spid="21" grpId="0"/>
      <p:bldP spid="22" grpId="0" animBg="1"/>
      <p:bldP spid="23" grpId="0" animBg="1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DD6E4C-B999-3BDF-6688-5549997C533C}"/>
              </a:ext>
            </a:extLst>
          </p:cNvPr>
          <p:cNvSpPr txBox="1"/>
          <p:nvPr/>
        </p:nvSpPr>
        <p:spPr>
          <a:xfrm>
            <a:off x="2371167" y="2136338"/>
            <a:ext cx="78771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>
                <a:solidFill>
                  <a:srgbClr val="33CC33"/>
                </a:solidFill>
                <a:latin typeface="Saira Medium" pitchFamily="2" charset="0"/>
                <a:cs typeface="Kanit" pitchFamily="2" charset="-34"/>
              </a:defRPr>
            </a:lvl1pPr>
          </a:lstStyle>
          <a:p>
            <a:r>
              <a:rPr lang="en-IN" sz="5400" dirty="0"/>
              <a:t>Understanding Psychology of Time</a:t>
            </a:r>
          </a:p>
        </p:txBody>
      </p:sp>
    </p:spTree>
    <p:extLst>
      <p:ext uri="{BB962C8B-B14F-4D97-AF65-F5344CB8AC3E}">
        <p14:creationId xmlns:p14="http://schemas.microsoft.com/office/powerpoint/2010/main" val="1906597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6AD99-0BBD-0C9E-249D-C2596CDFD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447AED8B-C440-F449-3EF0-082F46E187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094BCAE4-CBFC-E0EB-6D8B-52FB8833AA5D}"/>
              </a:ext>
            </a:extLst>
          </p:cNvPr>
          <p:cNvGrpSpPr/>
          <p:nvPr/>
        </p:nvGrpSpPr>
        <p:grpSpPr>
          <a:xfrm>
            <a:off x="350195" y="393967"/>
            <a:ext cx="11527820" cy="12928061"/>
            <a:chOff x="350195" y="393967"/>
            <a:chExt cx="11527820" cy="12928061"/>
          </a:xfrm>
        </p:grpSpPr>
        <p:pic>
          <p:nvPicPr>
            <p:cNvPr id="17" name="Picture 16" descr="A cartoon of a person lying on a lounge chair&#10;&#10;AI-generated content may be incorrect.">
              <a:extLst>
                <a:ext uri="{FF2B5EF4-FFF2-40B4-BE49-F238E27FC236}">
                  <a16:creationId xmlns:a16="http://schemas.microsoft.com/office/drawing/2014/main" id="{B732866F-D8EC-5B84-9AAB-90FAFED53B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405" y="393967"/>
              <a:ext cx="11491610" cy="6464031"/>
            </a:xfrm>
            <a:prstGeom prst="rect">
              <a:avLst/>
            </a:prstGeom>
          </p:spPr>
        </p:pic>
        <p:pic>
          <p:nvPicPr>
            <p:cNvPr id="18" name="Picture 17" descr="Cartoon of a person sitting in a chair&#10;&#10;AI-generated content may be incorrect.">
              <a:extLst>
                <a:ext uri="{FF2B5EF4-FFF2-40B4-BE49-F238E27FC236}">
                  <a16:creationId xmlns:a16="http://schemas.microsoft.com/office/drawing/2014/main" id="{5AF936AF-7A9C-24FD-AE68-CC88B282253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350195" y="6857998"/>
              <a:ext cx="11491609" cy="646403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669F313-C250-B809-9D6E-4AF07A1B4DB8}"/>
              </a:ext>
            </a:extLst>
          </p:cNvPr>
          <p:cNvSpPr txBox="1"/>
          <p:nvPr/>
        </p:nvSpPr>
        <p:spPr>
          <a:xfrm>
            <a:off x="887104" y="545011"/>
            <a:ext cx="17742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tx2"/>
                </a:solidFill>
              </a:rPr>
              <a:t>Day 1</a:t>
            </a:r>
            <a:endParaRPr lang="en-IN" sz="40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507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45069-9E46-1CC0-F830-092F42D2E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8C8B857F-1410-5EB2-5DAE-AF7FA46164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0"/>
            <a:ext cx="12192000" cy="6857999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9FC75A72-738E-6D41-5238-CCEB374C9171}"/>
              </a:ext>
            </a:extLst>
          </p:cNvPr>
          <p:cNvGrpSpPr/>
          <p:nvPr/>
        </p:nvGrpSpPr>
        <p:grpSpPr>
          <a:xfrm rot="10800000">
            <a:off x="350195" y="393967"/>
            <a:ext cx="11527820" cy="12928061"/>
            <a:chOff x="350195" y="393967"/>
            <a:chExt cx="11527820" cy="12928061"/>
          </a:xfrm>
        </p:grpSpPr>
        <p:pic>
          <p:nvPicPr>
            <p:cNvPr id="17" name="Picture 16" descr="A cartoon of a person lying on a lounge chair&#10;&#10;AI-generated content may be incorrect.">
              <a:extLst>
                <a:ext uri="{FF2B5EF4-FFF2-40B4-BE49-F238E27FC236}">
                  <a16:creationId xmlns:a16="http://schemas.microsoft.com/office/drawing/2014/main" id="{0A3D0731-42C5-E21D-CDC7-C28155A687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405" y="393967"/>
              <a:ext cx="11491610" cy="6464031"/>
            </a:xfrm>
            <a:prstGeom prst="rect">
              <a:avLst/>
            </a:prstGeom>
          </p:spPr>
        </p:pic>
        <p:pic>
          <p:nvPicPr>
            <p:cNvPr id="18" name="Picture 17" descr="Cartoon of a person sitting in a chair&#10;&#10;AI-generated content may be incorrect.">
              <a:extLst>
                <a:ext uri="{FF2B5EF4-FFF2-40B4-BE49-F238E27FC236}">
                  <a16:creationId xmlns:a16="http://schemas.microsoft.com/office/drawing/2014/main" id="{37CA65B7-5312-EADD-D57D-9D8EA7D5D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350195" y="6857998"/>
              <a:ext cx="11491609" cy="6464030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CBCADCE-CF37-45E6-E366-69F40415D399}"/>
              </a:ext>
            </a:extLst>
          </p:cNvPr>
          <p:cNvSpPr txBox="1"/>
          <p:nvPr/>
        </p:nvSpPr>
        <p:spPr>
          <a:xfrm>
            <a:off x="887104" y="545011"/>
            <a:ext cx="17742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Day 7</a:t>
            </a:r>
            <a:endParaRPr lang="en-IN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8717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81132-A401-6572-76FD-83E536AE3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artoon of a person wearing headphones&#10;&#10;AI-generated content may be incorrect.">
            <a:extLst>
              <a:ext uri="{FF2B5EF4-FFF2-40B4-BE49-F238E27FC236}">
                <a16:creationId xmlns:a16="http://schemas.microsoft.com/office/drawing/2014/main" id="{C4CC5649-7056-06BE-4AF8-1096EC89E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BD8939E-BD10-86A3-43E4-93A97464B9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10311" y="856034"/>
            <a:ext cx="2623538" cy="1721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647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26C0-57E9-93AD-4479-CEBFD5271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artoon of a person holding a clock&#10;&#10;AI-generated content may be incorrect.">
            <a:extLst>
              <a:ext uri="{FF2B5EF4-FFF2-40B4-BE49-F238E27FC236}">
                <a16:creationId xmlns:a16="http://schemas.microsoft.com/office/drawing/2014/main" id="{26246E48-5953-A15F-94A1-14AB3B11D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75" y="1547779"/>
            <a:ext cx="5643664" cy="3762442"/>
          </a:xfrm>
          <a:prstGeom prst="rect">
            <a:avLst/>
          </a:prstGeom>
          <a:effectLst>
            <a:softEdge rad="1270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3AB427-8A52-72A3-33A3-FA12538317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22462" y="1547779"/>
            <a:ext cx="5643662" cy="3762442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902153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3AA38-3068-5DE9-B102-E52164783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4D512BF-B20F-A12A-47E8-3E3C655476E4}"/>
              </a:ext>
            </a:extLst>
          </p:cNvPr>
          <p:cNvSpPr txBox="1"/>
          <p:nvPr/>
        </p:nvSpPr>
        <p:spPr>
          <a:xfrm>
            <a:off x="1531015" y="2548916"/>
            <a:ext cx="912997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You cannot expand time</a:t>
            </a:r>
          </a:p>
          <a:p>
            <a:pPr algn="ctr"/>
            <a:r>
              <a:rPr lang="en-US" sz="4400" dirty="0">
                <a:solidFill>
                  <a:schemeClr val="bg1"/>
                </a:solidFill>
              </a:rPr>
              <a:t>But only expand your presence in it.</a:t>
            </a:r>
          </a:p>
        </p:txBody>
      </p:sp>
      <p:pic>
        <p:nvPicPr>
          <p:cNvPr id="6" name="Picture 5" descr="A yellow quote symbol on a black background&#10;&#10;AI-generated content may be incorrect.">
            <a:extLst>
              <a:ext uri="{FF2B5EF4-FFF2-40B4-BE49-F238E27FC236}">
                <a16:creationId xmlns:a16="http://schemas.microsoft.com/office/drawing/2014/main" id="{8F2AAA23-634B-7CC6-8BE0-0F656C5BC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698" y="1454253"/>
            <a:ext cx="742604" cy="544400"/>
          </a:xfrm>
          <a:prstGeom prst="rect">
            <a:avLst/>
          </a:prstGeom>
        </p:spPr>
      </p:pic>
      <p:pic>
        <p:nvPicPr>
          <p:cNvPr id="7" name="Picture 6" descr="A yellow quote symbol on a black background&#10;&#10;AI-generated content may be incorrect.">
            <a:extLst>
              <a:ext uri="{FF2B5EF4-FFF2-40B4-BE49-F238E27FC236}">
                <a16:creationId xmlns:a16="http://schemas.microsoft.com/office/drawing/2014/main" id="{DD7D86BD-B9C2-3ABD-1E36-47D376A8B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012862">
            <a:off x="5724698" y="4779790"/>
            <a:ext cx="742604" cy="54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294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23974-F10C-05CD-6565-13DB9F8A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EF2368-FC65-F21B-CF33-C1815CA4F680}"/>
              </a:ext>
            </a:extLst>
          </p:cNvPr>
          <p:cNvSpPr txBox="1"/>
          <p:nvPr/>
        </p:nvSpPr>
        <p:spPr>
          <a:xfrm>
            <a:off x="1733665" y="2551837"/>
            <a:ext cx="872466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5400">
                <a:solidFill>
                  <a:srgbClr val="33CC33"/>
                </a:solidFill>
                <a:latin typeface="Saira Medium" pitchFamily="2" charset="0"/>
                <a:cs typeface="Kanit" pitchFamily="2" charset="-34"/>
              </a:defRPr>
            </a:lvl1pPr>
          </a:lstStyle>
          <a:p>
            <a:r>
              <a:rPr lang="en-IN" dirty="0"/>
              <a:t>Art of getting more time : Attention and Energy</a:t>
            </a:r>
          </a:p>
        </p:txBody>
      </p:sp>
    </p:spTree>
    <p:extLst>
      <p:ext uri="{BB962C8B-B14F-4D97-AF65-F5344CB8AC3E}">
        <p14:creationId xmlns:p14="http://schemas.microsoft.com/office/powerpoint/2010/main" val="2880560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PT Design.pptx" id="{D9F28F51-CB74-4F1C-9C09-54F1F0D7627F}" vid="{C1347C5B-2E4E-4924-9724-D6019BAC94F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B4783CF63E7D41B69B4E41169D380C" ma:contentTypeVersion="16" ma:contentTypeDescription="Create a new document." ma:contentTypeScope="" ma:versionID="11c21a630705b749e32ac74b3ca127b1">
  <xsd:schema xmlns:xsd="http://www.w3.org/2001/XMLSchema" xmlns:xs="http://www.w3.org/2001/XMLSchema" xmlns:p="http://schemas.microsoft.com/office/2006/metadata/properties" xmlns:ns2="b8a4b99c-9b0e-4f59-aa2a-8b6a3de16c94" xmlns:ns3="eb6d4c3c-27e6-40f7-a5be-c2d429b5cb83" targetNamespace="http://schemas.microsoft.com/office/2006/metadata/properties" ma:root="true" ma:fieldsID="c7c0439d998ea6ee45f099d0eaaecabb" ns2:_="" ns3:_="">
    <xsd:import namespace="b8a4b99c-9b0e-4f59-aa2a-8b6a3de16c94"/>
    <xsd:import namespace="eb6d4c3c-27e6-40f7-a5be-c2d429b5cb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uska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a4b99c-9b0e-4f59-aa2a-8b6a3de16c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afd9a293-139f-4208-837f-2845fada89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uskan" ma:index="23" nillable="true" ma:displayName="Muskan" ma:format="Thumbnail" ma:internalName="Muskan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6d4c3c-27e6-40f7-a5be-c2d429b5cb83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2fa157d-dbc5-475c-98c6-31cf1364f70c}" ma:internalName="TaxCatchAll" ma:showField="CatchAllData" ma:web="eb6d4c3c-27e6-40f7-a5be-c2d429b5cb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8a4b99c-9b0e-4f59-aa2a-8b6a3de16c94">
      <Terms xmlns="http://schemas.microsoft.com/office/infopath/2007/PartnerControls"/>
    </lcf76f155ced4ddcb4097134ff3c332f>
    <Muskan xmlns="b8a4b99c-9b0e-4f59-aa2a-8b6a3de16c94" xsi:nil="true"/>
    <TaxCatchAll xmlns="eb6d4c3c-27e6-40f7-a5be-c2d429b5cb8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28B2C28-4BF2-4561-99C9-DBC2B44C2CAE}">
  <ds:schemaRefs>
    <ds:schemaRef ds:uri="b8a4b99c-9b0e-4f59-aa2a-8b6a3de16c94"/>
    <ds:schemaRef ds:uri="eb6d4c3c-27e6-40f7-a5be-c2d429b5cb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75DA88A9-AE17-4A12-B026-CC80894F6591}">
  <ds:schemaRefs>
    <ds:schemaRef ds:uri="http://purl.org/dc/dcmitype/"/>
    <ds:schemaRef ds:uri="http://schemas.microsoft.com/office/2006/documentManagement/types"/>
    <ds:schemaRef ds:uri="http://schemas.microsoft.com/office/2006/metadata/properties"/>
    <ds:schemaRef ds:uri="b8a4b99c-9b0e-4f59-aa2a-8b6a3de16c94"/>
    <ds:schemaRef ds:uri="eb6d4c3c-27e6-40f7-a5be-c2d429b5cb83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C944192-84AC-452C-856B-180F90F0F78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 Design</Template>
  <TotalTime>3</TotalTime>
  <Words>211</Words>
  <Application>Microsoft Office PowerPoint</Application>
  <PresentationFormat>Widescreen</PresentationFormat>
  <Paragraphs>43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Dhaval Patel</dc:creator>
  <cp:lastModifiedBy>Arnab Chakraborty</cp:lastModifiedBy>
  <cp:revision>4</cp:revision>
  <dcterms:created xsi:type="dcterms:W3CDTF">2024-08-15T17:12:46Z</dcterms:created>
  <dcterms:modified xsi:type="dcterms:W3CDTF">2026-09-29T04:01:53Z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0x010100E9B4783CF63E7D41B69B4E41169D380C</vt:lpwstr>
  </property>
</Properties>
</file>