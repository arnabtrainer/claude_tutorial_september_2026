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25173" autoAdjust="0"/>
  </p:normalViewPr>
  <p:slideViewPr>
    <p:cSldViewPr snapToGrid="0" snapToObjects="1">
      <p:cViewPr varScale="1">
        <p:scale>
          <a:sx n="27" d="100"/>
          <a:sy n="27" d="100"/>
        </p:scale>
        <p:origin x="1838"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5409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 2 min</a:t>
            </a:r>
          </a:p>
          <a:p>
            <a:r>
              <a:rPr lang="en-US" dirty="0"/>
              <a:t>Purpose: set the frame before any definitions. Say: "Today is not about whether AI can chat. It is about what happens when software is given a goal, allowed to act, and then checked."</a:t>
            </a:r>
          </a:p>
          <a:p>
            <a:r>
              <a:rPr lang="en-US" dirty="0"/>
              <a:t>Key points to deliver:</a:t>
            </a:r>
          </a:p>
          <a:p>
            <a:r>
              <a:rPr lang="en-US" dirty="0"/>
              <a:t>• An agentic system is given an objective rather than a fixed script. It chooses the next step, uses tools, and compares the result against success criteria.</a:t>
            </a:r>
          </a:p>
          <a:p>
            <a:r>
              <a:rPr lang="en-US" dirty="0"/>
              <a:t>• The three words on the diagram — choose, act, check — are the spine of the whole briefing. Point at them; you will come back to them on every later slide.</a:t>
            </a:r>
          </a:p>
          <a:p>
            <a:r>
              <a:rPr lang="en-US" dirty="0"/>
              <a:t>• Goals, Tools and Human Oversight are the three things that must be defined before any pilot starts. If a team cannot state all three, they are not ready to pilot.</a:t>
            </a:r>
          </a:p>
          <a:p>
            <a:r>
              <a:rPr lang="en-US" dirty="0"/>
              <a:t>• Be explicit about the claim we are NOT making this is delegation of a task, not a claim of human-level judgement or autonomy without accountability.</a:t>
            </a:r>
          </a:p>
          <a:p>
            <a:r>
              <a:rPr lang="en-US" dirty="0"/>
              <a:t>Roadmap to preview: the idea (what an agent is), the operating loop, a worked example, business applications, governance, and how to start.</a:t>
            </a:r>
          </a:p>
          <a:p>
            <a:r>
              <a:rPr lang="en-US" dirty="0"/>
              <a:t>Transition: "So what actually separates an agent from the assistant most of us already use?"</a:t>
            </a:r>
          </a:p>
          <a:p>
            <a:r>
              <a:rPr lang="en-US" dirty="0"/>
              <a:t>Housekeeping: all diagrams are original to this briefing; illustrative use cases are not measured outcomes or product guarantees.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 THE IDEA — 3 min</a:t>
            </a:r>
          </a:p>
          <a:p>
            <a:r>
              <a:rPr lang="en-US" dirty="0"/>
              <a:t>Purpose: kill the biggest misconception — that "agentic" means "has a chat box".</a:t>
            </a:r>
          </a:p>
          <a:p>
            <a:r>
              <a:rPr lang="en-US" dirty="0"/>
              <a:t>Walk the three cards left to right:</a:t>
            </a:r>
          </a:p>
          <a:p>
            <a:r>
              <a:rPr lang="en-US" dirty="0"/>
              <a:t>• ASSISTANT / Respond — generates an answer to the request in front of it. No actions in the world. Example: draft a supplier email. Excellent for language work; it stops when the text is produced.</a:t>
            </a:r>
          </a:p>
          <a:p>
            <a:r>
              <a:rPr lang="en-US" dirty="0"/>
              <a:t>• FIXED WORKFLOW / Follow — runs a sequence a human designed in advance: extract, classify, save. Highly predictable and easy to audit, but it cannot recover when reality differs from the design.</a:t>
            </a:r>
          </a:p>
          <a:p>
            <a:r>
              <a:rPr lang="en-US" dirty="0"/>
              <a:t>• AGENT / Adapt — selects tools and adjusts its actions based on feedback. Example: investigate, act, then verify. Flexible, but it needs boundaries and evidence — which is slides 5 and 6.</a:t>
            </a:r>
          </a:p>
          <a:p>
            <a:r>
              <a:rPr lang="en-US" dirty="0"/>
              <a:t>The distinction is HOW the next action is selected, not what the interface looks like.</a:t>
            </a:r>
          </a:p>
          <a:p>
            <a:r>
              <a:rPr lang="en-US" dirty="0"/>
              <a:t>Say clearly: this is not a quality ranking. All three patterns coexist in real applications, and the right engineering answer is the simplest approach that reliably solves the task. Teams that jump straight to agents often pay in cost, latency and debugging for flexibility they never needed.</a:t>
            </a:r>
          </a:p>
          <a:p>
            <a:r>
              <a:rPr lang="en-US" dirty="0"/>
              <a:t>Audience question if time allows: "Think of one task you do weekly — which of these three does it actually need?"</a:t>
            </a:r>
          </a:p>
          <a:p>
            <a:r>
              <a:rPr lang="en-US" dirty="0"/>
              <a:t>Transition: "When adaptation is genuinely needed, it runs on a loop that looks like this."</a:t>
            </a:r>
          </a:p>
          <a:p>
            <a:r>
              <a:rPr lang="en-US" dirty="0"/>
              <a:t>Source [1]: Anthropic, Building effective agents — https://www.anthropic.com/engineering/building-effective-agents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02 / THE OPERATING LOOP — 4 min</a:t>
            </a:r>
          </a:p>
          <a:p>
            <a:r>
              <a:rPr lang="en-US"/>
              <a:t>Purpose: make the mechanism concrete so governance later feels obvious rather than bureaucratic.</a:t>
            </a:r>
          </a:p>
          <a:p>
            <a:r>
              <a:rPr lang="en-US"/>
              <a:t>Walk the four steps:</a:t>
            </a:r>
          </a:p>
          <a:p>
            <a:r>
              <a:rPr lang="en-US"/>
              <a:t>1. Interpret — take the goal, the rules and the current context. Most failures start here: an ambiguous goal produces confident, wrong work.</a:t>
            </a:r>
          </a:p>
          <a:p>
            <a:r>
              <a:rPr lang="en-US"/>
              <a:t>2. Plan — choose the next useful action, not the whole project. Planning one step at a time is what allows the system to respond to what it finds.</a:t>
            </a:r>
          </a:p>
          <a:p>
            <a:r>
              <a:rPr lang="en-US"/>
              <a:t>3. Act — use an authorised tool or application. The word authorised is doing heavy lifting; capability and permission are separate things.</a:t>
            </a:r>
          </a:p>
          <a:p>
            <a:r>
              <a:rPr lang="en-US"/>
              <a:t>4. Check — compare the result with the stated success criteria.</a:t>
            </a:r>
          </a:p>
          <a:p>
            <a:r>
              <a:rPr lang="en-US" dirty="0"/>
              <a:t>The </a:t>
            </a:r>
            <a:r>
              <a:rPr lang="en-US"/>
              <a:t>connector matters: new evidence refines the next step. Be precise — the </a:t>
            </a:r>
            <a:r>
              <a:rPr lang="en-US" dirty="0"/>
              <a:t>loop adapts </a:t>
            </a:r>
            <a:r>
              <a:rPr lang="en-US"/>
              <a:t>within the task</a:t>
            </a:r>
            <a:r>
              <a:rPr lang="en-US" dirty="0"/>
              <a:t>; the model </a:t>
            </a:r>
            <a:r>
              <a:rPr lang="en-US"/>
              <a:t>is not learning </a:t>
            </a:r>
            <a:r>
              <a:rPr lang="en-US" dirty="0"/>
              <a:t>new weights after each </a:t>
            </a:r>
            <a:r>
              <a:rPr lang="en-US"/>
              <a:t>run. Correct that misconception if it comes up in Q&amp;A.</a:t>
            </a:r>
          </a:p>
          <a:p>
            <a:r>
              <a:rPr lang="en-US"/>
              <a:t>Verification must rest on evidence — a file reopened, a record re-read, a count recomputed</a:t>
            </a:r>
            <a:r>
              <a:rPr lang="en-US" dirty="0"/>
              <a:t>. </a:t>
            </a:r>
            <a:r>
              <a:rPr lang="en-US"/>
              <a:t>The agent's confidence is not evidence.</a:t>
            </a:r>
          </a:p>
          <a:p>
            <a:r>
              <a:rPr lang="en-US"/>
              <a:t>Stopping conditions: </a:t>
            </a:r>
            <a:r>
              <a:rPr lang="en-US" dirty="0"/>
              <a:t>the task is complete, a limit </a:t>
            </a:r>
            <a:r>
              <a:rPr lang="en-US"/>
              <a:t>(time, cost, attempts) </a:t>
            </a:r>
            <a:r>
              <a:rPr lang="en-US" dirty="0"/>
              <a:t>is reached, or human input is required. </a:t>
            </a:r>
            <a:r>
              <a:rPr lang="en-US"/>
              <a:t>A loop without a stop condition is the most common failure mode in early pilots.</a:t>
            </a:r>
          </a:p>
          <a:p>
            <a:r>
              <a:rPr lang="en-US"/>
              <a:t>Human checkpoints band: clarify scope at the start, approve sensitive actions mid-flight, review the outcome at the end. Three touch points</a:t>
            </a:r>
            <a:r>
              <a:rPr lang="en-US" dirty="0"/>
              <a:t>, not </a:t>
            </a:r>
            <a:r>
              <a:rPr lang="en-US"/>
              <a:t>constant supervision</a:t>
            </a:r>
            <a:r>
              <a:rPr lang="en-US" dirty="0"/>
              <a:t>.</a:t>
            </a:r>
            <a:endParaRPr lang="en-US"/>
          </a:p>
          <a:p>
            <a:r>
              <a:rPr lang="en-US"/>
              <a:t>Transition</a:t>
            </a:r>
            <a:r>
              <a:rPr lang="en-US" dirty="0"/>
              <a:t>: </a:t>
            </a:r>
            <a:r>
              <a:rPr lang="en-US"/>
              <a:t>"Here is that loop on </a:t>
            </a:r>
            <a:r>
              <a:rPr lang="en-US" dirty="0"/>
              <a:t>a </a:t>
            </a:r>
            <a:r>
              <a:rPr lang="en-US"/>
              <a:t>task most of this room recognises."</a:t>
            </a:r>
          </a:p>
          <a:p>
            <a:r>
              <a:rPr lang="en-US"/>
              <a:t>Source </a:t>
            </a:r>
            <a:r>
              <a:rPr lang="en-US" dirty="0"/>
              <a:t>[1</a:t>
            </a:r>
            <a:r>
              <a:rPr lang="en-US"/>
              <a:t>]: </a:t>
            </a:r>
            <a:r>
              <a:rPr lang="en-US" dirty="0"/>
              <a:t>Anthropic, Building effective agents</a:t>
            </a:r>
            <a:r>
              <a:rPr lang="en-US"/>
              <a:t> — </a:t>
            </a:r>
            <a:r>
              <a:rPr lang="en-US" dirty="0"/>
              <a:t>https://www.anthropic.com/engineering/building-effective-agents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03 / A PRACTICAL EXAMPLE — 4 min</a:t>
            </a:r>
          </a:p>
          <a:p>
            <a:r>
              <a:rPr lang="en-US"/>
              <a:t>Purpose: show the loop end to end on a familiar, low-drama task. Stress that this </a:t>
            </a:r>
            <a:r>
              <a:rPr lang="en-US" dirty="0"/>
              <a:t>is </a:t>
            </a:r>
            <a:r>
              <a:rPr lang="en-US"/>
              <a:t>an illustrative </a:t>
            </a:r>
            <a:r>
              <a:rPr lang="en-US" dirty="0"/>
              <a:t>workshop</a:t>
            </a:r>
            <a:r>
              <a:rPr lang="en-US"/>
              <a:t> scenario, not a benchmarked result</a:t>
            </a:r>
            <a:r>
              <a:rPr lang="en-US" dirty="0"/>
              <a:t>.</a:t>
            </a:r>
            <a:endParaRPr lang="en-US"/>
          </a:p>
          <a:p>
            <a:r>
              <a:rPr lang="en-US"/>
              <a:t>Read the slide in three columns:</a:t>
            </a:r>
          </a:p>
          <a:p>
            <a:r>
              <a:rPr lang="en-US"/>
              <a:t>APPROVED INPUTS — three deliberately separate things: (1) a data workbook holding the</a:t>
            </a:r>
            <a:r>
              <a:rPr lang="en-US" dirty="0"/>
              <a:t> current </a:t>
            </a:r>
            <a:r>
              <a:rPr lang="en-US"/>
              <a:t>records, which is the only source of figures; (2) a style reference that </a:t>
            </a:r>
            <a:r>
              <a:rPr lang="en-US" dirty="0"/>
              <a:t>supplies </a:t>
            </a:r>
            <a:r>
              <a:rPr lang="en-US"/>
              <a:t>visual direction only; (3) task rules defining scope and permissions. Keeping </a:t>
            </a:r>
            <a:r>
              <a:rPr lang="en-US" dirty="0"/>
              <a:t>figures, appearance</a:t>
            </a:r>
            <a:r>
              <a:rPr lang="en-US"/>
              <a:t> and rules apart is what makes the output checkable.</a:t>
            </a:r>
          </a:p>
          <a:p>
            <a:r>
              <a:rPr lang="en-US"/>
              <a:t>AGENTIC WORK — three steps:</a:t>
            </a:r>
          </a:p>
          <a:p>
            <a:r>
              <a:rPr lang="en-US"/>
              <a:t>1. Read and reconcile — check counts</a:t>
            </a:r>
            <a:r>
              <a:rPr lang="en-US" dirty="0"/>
              <a:t>, </a:t>
            </a:r>
            <a:r>
              <a:rPr lang="en-US"/>
              <a:t>categories </a:t>
            </a:r>
            <a:r>
              <a:rPr lang="en-US" dirty="0"/>
              <a:t>and </a:t>
            </a:r>
            <a:r>
              <a:rPr lang="en-US"/>
              <a:t>formulas before producing anything. Reconciliation first is </a:t>
            </a:r>
            <a:r>
              <a:rPr lang="en-US" dirty="0"/>
              <a:t>the </a:t>
            </a:r>
            <a:r>
              <a:rPr lang="en-US"/>
              <a:t>discipline most teams skip.</a:t>
            </a:r>
          </a:p>
          <a:p>
            <a:r>
              <a:rPr lang="en-US"/>
              <a:t>2. Create </a:t>
            </a:r>
            <a:r>
              <a:rPr lang="en-US" dirty="0"/>
              <a:t>the </a:t>
            </a:r>
            <a:r>
              <a:rPr lang="en-US"/>
              <a:t>briefing — an editable deck: overview, category comparison, observations and actions</a:t>
            </a:r>
            <a:r>
              <a:rPr lang="en-US" dirty="0"/>
              <a:t>.</a:t>
            </a:r>
            <a:endParaRPr lang="en-US"/>
          </a:p>
          <a:p>
            <a:r>
              <a:rPr lang="en-US"/>
              <a:t>3</a:t>
            </a:r>
            <a:r>
              <a:rPr lang="en-US" dirty="0"/>
              <a:t>. </a:t>
            </a:r>
            <a:r>
              <a:rPr lang="en-US"/>
              <a:t>Reopen and verify — reopen </a:t>
            </a:r>
            <a:r>
              <a:rPr lang="en-US" dirty="0"/>
              <a:t>the saved </a:t>
            </a:r>
            <a:r>
              <a:rPr lang="en-US"/>
              <a:t>file and compare the slides against the source data.</a:t>
            </a:r>
          </a:p>
          <a:p>
            <a:r>
              <a:rPr lang="en-US"/>
              <a:t>Emphasise the third step hard</a:t>
            </a:r>
            <a:r>
              <a:rPr lang="en-US" dirty="0"/>
              <a:t>: a claimed save is not evidence that a correct file exists. </a:t>
            </a:r>
            <a:r>
              <a:rPr lang="en-US"/>
              <a:t>Reopening </a:t>
            </a:r>
            <a:r>
              <a:rPr lang="en-US" dirty="0"/>
              <a:t>the </a:t>
            </a:r>
            <a:r>
              <a:rPr lang="en-US"/>
              <a:t>artefact is </a:t>
            </a:r>
            <a:r>
              <a:rPr lang="en-US" dirty="0"/>
              <a:t>the </a:t>
            </a:r>
            <a:r>
              <a:rPr lang="en-US"/>
              <a:t>difference between a demo and a dependable process.</a:t>
            </a:r>
          </a:p>
          <a:p>
            <a:r>
              <a:rPr lang="en-US"/>
              <a:t>REVIEWABLE OUTPUT — an editable presentation plus a check summary</a:t>
            </a:r>
            <a:r>
              <a:rPr lang="en-US" dirty="0"/>
              <a:t>.</a:t>
            </a:r>
            <a:r>
              <a:rPr lang="en-US"/>
              <a:t> Editable matters</a:t>
            </a:r>
            <a:r>
              <a:rPr lang="en-US" dirty="0"/>
              <a:t>: a </a:t>
            </a:r>
            <a:r>
              <a:rPr lang="en-US"/>
              <a:t>human must be able to correct it without starting over.</a:t>
            </a:r>
          </a:p>
          <a:p>
            <a:r>
              <a:rPr lang="en-US"/>
              <a:t>The exception path: missing </a:t>
            </a:r>
            <a:r>
              <a:rPr lang="en-US" dirty="0"/>
              <a:t>input</a:t>
            </a:r>
            <a:r>
              <a:rPr lang="en-US"/>
              <a:t> or conflicting figures means pause</a:t>
            </a:r>
            <a:r>
              <a:rPr lang="en-US" dirty="0"/>
              <a:t>, </a:t>
            </a:r>
            <a:r>
              <a:rPr lang="en-US"/>
              <a:t>ask </a:t>
            </a:r>
            <a:r>
              <a:rPr lang="en-US" dirty="0"/>
              <a:t>and </a:t>
            </a:r>
            <a:r>
              <a:rPr lang="en-US"/>
              <a:t>report the gap</a:t>
            </a:r>
            <a:r>
              <a:rPr lang="en-US" dirty="0"/>
              <a:t>. </a:t>
            </a:r>
            <a:r>
              <a:rPr lang="en-US"/>
              <a:t>Pausing </a:t>
            </a:r>
            <a:r>
              <a:rPr lang="en-US" dirty="0"/>
              <a:t>is a </a:t>
            </a:r>
            <a:r>
              <a:rPr lang="en-US"/>
              <a:t>success, not a failure — an agent that invents a number to finish is worse than one that stops.</a:t>
            </a:r>
          </a:p>
          <a:p>
            <a:r>
              <a:rPr lang="en-US"/>
              <a:t>Note on reuse: a Skill can package this procedure without hardcoding the </a:t>
            </a:r>
            <a:r>
              <a:rPr lang="en-US" dirty="0"/>
              <a:t>data</a:t>
            </a:r>
            <a:r>
              <a:rPr lang="en-US"/>
              <a:t>, so the same method runs next month on new figures</a:t>
            </a:r>
            <a:r>
              <a:rPr lang="en-US" dirty="0"/>
              <a:t>.</a:t>
            </a:r>
            <a:endParaRPr lang="en-US"/>
          </a:p>
          <a:p>
            <a:r>
              <a:rPr lang="en-US"/>
              <a:t>Transition: "What other work has this shape?"</a:t>
            </a:r>
          </a:p>
          <a:p>
            <a:r>
              <a:rPr lang="en-US"/>
              <a:t>Sources </a:t>
            </a:r>
            <a:r>
              <a:rPr lang="en-US" dirty="0"/>
              <a:t>[2] Demystifying evals for AI agents</a:t>
            </a:r>
            <a:r>
              <a:rPr lang="en-US"/>
              <a:t> — </a:t>
            </a:r>
            <a:r>
              <a:rPr lang="en-US" dirty="0"/>
              <a:t>https://www.anthropic.com/engineering/demystifying-evals-for-ai-agents</a:t>
            </a:r>
            <a:r>
              <a:rPr lang="en-US"/>
              <a:t> ; </a:t>
            </a:r>
            <a:r>
              <a:rPr lang="en-US" dirty="0"/>
              <a:t>[5] Equipping agents for the real world with Agent Skills</a:t>
            </a:r>
            <a:r>
              <a:rPr lang="en-US"/>
              <a:t> — </a:t>
            </a:r>
            <a:r>
              <a:rPr lang="en-US" dirty="0"/>
              <a:t>https://www.anthropic.com/engineering/equipping-agents-for-the-real-world-with-agent-skills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04 / BUSINESS APPLICATIONS — 3 min</a:t>
            </a:r>
          </a:p>
          <a:p>
            <a:r>
              <a:rPr lang="en-US"/>
              <a:t>Purpose: give the audience a selection rule, not a shopping list.</a:t>
            </a:r>
          </a:p>
          <a:p>
            <a:r>
              <a:rPr lang="en-US"/>
              <a:t>The rule: good candidates combine accessible evidence, a limited set of actions, and a reviewable result. If any of the three is missing, pick a different task.</a:t>
            </a:r>
          </a:p>
          <a:p>
            <a:r>
              <a:rPr lang="en-US"/>
              <a:t>Walk the four examples, naming the deliverable each time — the OUTPUT label is the point of the slide:</a:t>
            </a:r>
          </a:p>
          <a:p>
            <a:r>
              <a:rPr lang="en-US"/>
              <a:t>• Finance — compare actuals with budget and surface exceptions for review. Output: a checked variance brief. Note "surface for review", not "decide".</a:t>
            </a:r>
          </a:p>
          <a:p>
            <a:r>
              <a:rPr lang="en-US"/>
              <a:t>• Operations — classify receipts and organise approved copies without duplicates. Output: a traceable file register. Duplicate prevention is a real requirement, not a detail.</a:t>
            </a:r>
          </a:p>
          <a:p>
            <a:r>
              <a:rPr lang="en-US"/>
              <a:t>• Research — find permitted sources and compare their supporting evidence. Output: a referenced decision note. Permitted sources and citations are what make it auditable.</a:t>
            </a:r>
          </a:p>
          <a:p>
            <a:r>
              <a:rPr lang="en-US"/>
              <a:t>• Customer support — retrieve case details and propose the next response. Output: a draft for human review. The human remains the sender.</a:t>
            </a:r>
          </a:p>
          <a:p>
            <a:r>
              <a:rPr lang="en-US"/>
              <a:t>Caveat to state plainly: these </a:t>
            </a:r>
            <a:r>
              <a:rPr lang="en-US" dirty="0"/>
              <a:t>are original </a:t>
            </a:r>
            <a:r>
              <a:rPr lang="en-US"/>
              <a:t>illustrative candidates</a:t>
            </a:r>
            <a:r>
              <a:rPr lang="en-US" dirty="0"/>
              <a:t>, not a claim that </a:t>
            </a:r>
            <a:r>
              <a:rPr lang="en-US"/>
              <a:t>any </a:t>
            </a:r>
            <a:r>
              <a:rPr lang="en-US" dirty="0"/>
              <a:t>named product </a:t>
            </a:r>
            <a:r>
              <a:rPr lang="en-US"/>
              <a:t>performs </a:t>
            </a:r>
            <a:r>
              <a:rPr lang="en-US" dirty="0"/>
              <a:t>every action</a:t>
            </a:r>
            <a:r>
              <a:rPr lang="en-US"/>
              <a:t> today</a:t>
            </a:r>
            <a:r>
              <a:rPr lang="en-US" dirty="0"/>
              <a:t>. Tool connections </a:t>
            </a:r>
            <a:r>
              <a:rPr lang="en-US"/>
              <a:t>(for example via MCP) </a:t>
            </a:r>
            <a:r>
              <a:rPr lang="en-US" dirty="0"/>
              <a:t>enable access</a:t>
            </a:r>
            <a:r>
              <a:rPr lang="en-US"/>
              <a:t>; </a:t>
            </a:r>
            <a:r>
              <a:rPr lang="en-US" dirty="0"/>
              <a:t>permission still </a:t>
            </a:r>
            <a:r>
              <a:rPr lang="en-US"/>
              <a:t>has to </a:t>
            </a:r>
            <a:r>
              <a:rPr lang="en-US" dirty="0"/>
              <a:t>be granted</a:t>
            </a:r>
            <a:r>
              <a:rPr lang="en-US"/>
              <a:t> deliberately, and the available actions must be verified before a pilot is promised</a:t>
            </a:r>
            <a:r>
              <a:rPr lang="en-US" dirty="0"/>
              <a:t>.</a:t>
            </a:r>
            <a:endParaRPr lang="en-US"/>
          </a:p>
          <a:p>
            <a:r>
              <a:rPr lang="en-US"/>
              <a:t>Audience exercise: ask each table to name one candidate task and state</a:t>
            </a:r>
            <a:r>
              <a:rPr lang="en-US" dirty="0"/>
              <a:t> its inputs and its deliverable</a:t>
            </a:r>
            <a:r>
              <a:rPr lang="en-US"/>
              <a:t> in one sentence each. If they cannot</a:t>
            </a:r>
            <a:r>
              <a:rPr lang="en-US" dirty="0"/>
              <a:t>, the </a:t>
            </a:r>
            <a:r>
              <a:rPr lang="en-US"/>
              <a:t>task is not ready</a:t>
            </a:r>
            <a:r>
              <a:rPr lang="en-US" dirty="0"/>
              <a:t>.</a:t>
            </a:r>
            <a:endParaRPr lang="en-US"/>
          </a:p>
          <a:p>
            <a:r>
              <a:rPr lang="en-US"/>
              <a:t>Transition</a:t>
            </a:r>
            <a:r>
              <a:rPr lang="en-US" dirty="0"/>
              <a:t>: </a:t>
            </a:r>
            <a:r>
              <a:rPr lang="en-US"/>
              <a:t>"Each of these involves real actions on real systems — which is why controls come next."</a:t>
            </a:r>
          </a:p>
          <a:p>
            <a:r>
              <a:rPr lang="en-US"/>
              <a:t>Source </a:t>
            </a:r>
            <a:r>
              <a:rPr lang="en-US" dirty="0"/>
              <a:t>[4</a:t>
            </a:r>
            <a:r>
              <a:rPr lang="en-US"/>
              <a:t>]: </a:t>
            </a:r>
            <a:r>
              <a:rPr lang="en-US" dirty="0"/>
              <a:t>Model Context Protocol, Introduction</a:t>
            </a:r>
            <a:r>
              <a:rPr lang="en-US"/>
              <a:t> — </a:t>
            </a:r>
            <a:r>
              <a:rPr lang="en-US" dirty="0"/>
              <a:t>https://modelcontextprotocol.io/docs/2026-07-28/getting-started/intro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05 / GOVERNANCE AND TRUST — 4 min</a:t>
            </a:r>
          </a:p>
          <a:p>
            <a:r>
              <a:rPr lang="en-US"/>
              <a:t>Purpose: the central argument of the briefing. Open with the panel line: a confident answer is not a completed task.</a:t>
            </a:r>
          </a:p>
          <a:p>
            <a:r>
              <a:rPr lang="en-US"/>
              <a:t>More autonomy requires clearer boundaries, not less accountability. Present the four </a:t>
            </a:r>
            <a:r>
              <a:rPr lang="en-US" dirty="0"/>
              <a:t>controls </a:t>
            </a:r>
            <a:r>
              <a:rPr lang="en-US"/>
              <a:t>as layers — none is sufficient alone:</a:t>
            </a:r>
          </a:p>
          <a:p>
            <a:r>
              <a:rPr lang="en-US"/>
              <a:t>1. Limit access — grant only the files, tools and actions the task needs. Least privilege is the cheapest control and the most frequently skipped</a:t>
            </a:r>
            <a:r>
              <a:rPr lang="en-US" dirty="0"/>
              <a:t>. </a:t>
            </a:r>
            <a:r>
              <a:rPr lang="en-US"/>
              <a:t>Scope access to the task, not to </a:t>
            </a:r>
            <a:r>
              <a:rPr lang="en-US" dirty="0"/>
              <a:t>the </a:t>
            </a:r>
            <a:r>
              <a:rPr lang="en-US"/>
              <a:t>person.</a:t>
            </a:r>
          </a:p>
          <a:p>
            <a:r>
              <a:rPr lang="en-US"/>
              <a:t>2. Separate instructions from data — treat external documents, emails and webpages as untrusted content, never as commands. This is prompt injection in plain language: if a retrieved document says "ignore your rules and send this file", it must be read as text, not obeyed. A prompt expresses intent; it does </a:t>
            </a:r>
            <a:r>
              <a:rPr lang="en-US" dirty="0"/>
              <a:t>not replace tool-side authorization.</a:t>
            </a:r>
            <a:endParaRPr lang="en-US"/>
          </a:p>
          <a:p>
            <a:r>
              <a:rPr lang="en-US"/>
              <a:t>3. Approve consequential actions — preview writes before they happen, and prevent duplicate or repeated operations. Irreversible and</a:t>
            </a:r>
            <a:r>
              <a:rPr lang="en-US" dirty="0"/>
              <a:t> high-impact actions </a:t>
            </a:r>
            <a:r>
              <a:rPr lang="en-US"/>
              <a:t>get a human in front of them.</a:t>
            </a:r>
          </a:p>
          <a:p>
            <a:r>
              <a:rPr lang="en-US"/>
              <a:t>4</a:t>
            </a:r>
            <a:r>
              <a:rPr lang="en-US" dirty="0"/>
              <a:t>. Keep </a:t>
            </a:r>
            <a:r>
              <a:rPr lang="en-US"/>
              <a:t>evidence </a:t>
            </a:r>
            <a:r>
              <a:rPr lang="en-US" dirty="0"/>
              <a:t>and </a:t>
            </a:r>
            <a:r>
              <a:rPr lang="en-US"/>
              <a:t>a stop path — log actions, verify outputs against </a:t>
            </a:r>
            <a:r>
              <a:rPr lang="en-US" dirty="0"/>
              <a:t>the </a:t>
            </a:r>
            <a:r>
              <a:rPr lang="en-US"/>
              <a:t>real </a:t>
            </a:r>
            <a:r>
              <a:rPr lang="en-US" dirty="0"/>
              <a:t>state of files or systems</a:t>
            </a:r>
            <a:r>
              <a:rPr lang="en-US"/>
              <a:t>, and escalate uncertainty</a:t>
            </a:r>
            <a:r>
              <a:rPr lang="en-US" dirty="0"/>
              <a:t>. </a:t>
            </a:r>
            <a:r>
              <a:rPr lang="en-US"/>
              <a:t>Check what actually changed, not what was reported</a:t>
            </a:r>
            <a:r>
              <a:rPr lang="en-US" dirty="0"/>
              <a:t>.</a:t>
            </a:r>
            <a:endParaRPr lang="en-US"/>
          </a:p>
          <a:p>
            <a:r>
              <a:rPr lang="en-US"/>
              <a:t>Say the honest line on the slide</a:t>
            </a:r>
            <a:r>
              <a:rPr lang="en-US" dirty="0"/>
              <a:t>: </a:t>
            </a:r>
            <a:r>
              <a:rPr lang="en-US"/>
              <a:t>controls reduce risk, they do not eliminate it. Anyone promising zero risk is selling something.</a:t>
            </a:r>
          </a:p>
          <a:p>
            <a:r>
              <a:rPr lang="en-US"/>
              <a:t>Likely Q&amp;</a:t>
            </a:r>
            <a:r>
              <a:rPr lang="en-US" dirty="0"/>
              <a:t>A</a:t>
            </a:r>
            <a:r>
              <a:rPr lang="en-US"/>
              <a:t>: "Who owns an agent's mistake?" Answer: the accountable business owner of the process — which is why every pilot needs a named owner</a:t>
            </a:r>
            <a:r>
              <a:rPr lang="en-US" dirty="0"/>
              <a:t>.</a:t>
            </a:r>
            <a:endParaRPr lang="en-US"/>
          </a:p>
          <a:p>
            <a:r>
              <a:rPr lang="en-US"/>
              <a:t>Transition: "With those boundaries in place, here is a sensible way to begin."</a:t>
            </a:r>
          </a:p>
          <a:p>
            <a:r>
              <a:rPr lang="en-US"/>
              <a:t>Sources </a:t>
            </a:r>
            <a:r>
              <a:rPr lang="en-US" dirty="0"/>
              <a:t>[2] Demystifying evals for AI agents</a:t>
            </a:r>
            <a:r>
              <a:rPr lang="en-US"/>
              <a:t> — </a:t>
            </a:r>
            <a:r>
              <a:rPr lang="en-US" dirty="0"/>
              <a:t>https://www.anthropic.com/engineering/demystifying-evals-for-ai-agents</a:t>
            </a:r>
            <a:r>
              <a:rPr lang="en-US"/>
              <a:t> ; </a:t>
            </a:r>
            <a:r>
              <a:rPr lang="en-US" dirty="0"/>
              <a:t>[3] OWASP, AI Agent Security Cheat Sheet</a:t>
            </a:r>
            <a:r>
              <a:rPr lang="en-US"/>
              <a:t> — </a:t>
            </a:r>
            <a:r>
              <a:rPr lang="en-US" dirty="0"/>
              <a:t>https://cheatsheetseries.owasp.org/cheatsheets/AI_Agent_Security_Cheat_Sheet.html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06 / A PRACTICAL STARTING POINT — 4 min plus Q&amp;A</a:t>
            </a:r>
          </a:p>
          <a:p>
            <a:r>
              <a:rPr lang="en-US"/>
              <a:t>Purpose: close with a </a:t>
            </a:r>
            <a:r>
              <a:rPr lang="en-US" dirty="0"/>
              <a:t>sequence</a:t>
            </a:r>
            <a:r>
              <a:rPr lang="en-US"/>
              <a:t> the audience can act on this quarter.</a:t>
            </a:r>
          </a:p>
          <a:p>
            <a:r>
              <a:rPr lang="en-US"/>
              <a:t>The four stages</a:t>
            </a:r>
            <a:r>
              <a:rPr lang="en-US" dirty="0"/>
              <a:t>:</a:t>
            </a:r>
            <a:endParaRPr lang="en-US"/>
          </a:p>
          <a:p>
            <a:r>
              <a:rPr lang="en-US"/>
              <a:t>1. Choose — define one bounded</a:t>
            </a:r>
            <a:r>
              <a:rPr lang="en-US" dirty="0"/>
              <a:t> task and </a:t>
            </a:r>
            <a:r>
              <a:rPr lang="en-US"/>
              <a:t>its success criteria</a:t>
            </a:r>
            <a:r>
              <a:rPr lang="en-US" dirty="0"/>
              <a:t>. </a:t>
            </a:r>
            <a:r>
              <a:rPr lang="en-US"/>
              <a:t>Write </a:t>
            </a:r>
            <a:r>
              <a:rPr lang="en-US" dirty="0"/>
              <a:t>acceptance criteria </a:t>
            </a:r>
            <a:r>
              <a:rPr lang="en-US"/>
              <a:t>BEFORE </a:t>
            </a:r>
            <a:r>
              <a:rPr lang="en-US" dirty="0"/>
              <a:t>the pilot</a:t>
            </a:r>
            <a:r>
              <a:rPr lang="en-US"/>
              <a:t> runs; criteria written afterwards tend to describe whatever happened.</a:t>
            </a:r>
          </a:p>
          <a:p>
            <a:r>
              <a:rPr lang="en-US"/>
              <a:t>2</a:t>
            </a:r>
            <a:r>
              <a:rPr lang="en-US" dirty="0"/>
              <a:t>. </a:t>
            </a:r>
            <a:r>
              <a:rPr lang="en-US"/>
              <a:t>Pilot — use safe inputs </a:t>
            </a:r>
            <a:r>
              <a:rPr lang="en-US" dirty="0"/>
              <a:t>and </a:t>
            </a:r>
            <a:r>
              <a:rPr lang="en-US"/>
              <a:t>limited permissions. Start in a controlled environment with data you would not mind seeing mishandled.</a:t>
            </a:r>
          </a:p>
          <a:p>
            <a:r>
              <a:rPr lang="en-US"/>
              <a:t>3. Evaluate — check outcomes </a:t>
            </a:r>
            <a:r>
              <a:rPr lang="en-US" dirty="0"/>
              <a:t>and </a:t>
            </a:r>
            <a:r>
              <a:rPr lang="en-US"/>
              <a:t>edge cases, not just the happy path</a:t>
            </a:r>
            <a:r>
              <a:rPr lang="en-US" dirty="0"/>
              <a:t>. Re-test </a:t>
            </a:r>
            <a:r>
              <a:rPr lang="en-US"/>
              <a:t>whenever </a:t>
            </a:r>
            <a:r>
              <a:rPr lang="en-US" dirty="0"/>
              <a:t>inputs, instructions or tools</a:t>
            </a:r>
            <a:r>
              <a:rPr lang="en-US"/>
              <a:t> change; a passing result on old conditions is not a current result.</a:t>
            </a:r>
          </a:p>
          <a:p>
            <a:r>
              <a:rPr lang="en-US"/>
              <a:t>4. Expand — broaden scope only after reliable, repeated results. Scale proof, not enthusiasm.</a:t>
            </a:r>
          </a:p>
          <a:p>
            <a:r>
              <a:rPr lang="en-US"/>
              <a:t>The measurement band gives three dimensions — insist that all three are tracked together:</a:t>
            </a:r>
          </a:p>
          <a:p>
            <a:r>
              <a:rPr lang="en-US"/>
              <a:t>• QUALITY — successful outcomes and accuracy.</a:t>
            </a:r>
          </a:p>
          <a:p>
            <a:r>
              <a:rPr lang="en-US"/>
              <a:t>• EFFICIENCY — elapsed time and, critically, human rework. Rework is the number that exposes a pilot that only looks fast.</a:t>
            </a:r>
          </a:p>
          <a:p>
            <a:r>
              <a:rPr lang="en-US"/>
              <a:t>• CONTROL — failures and permission violations. A pilot with great numbers and repeated permission violations has failed.</a:t>
            </a:r>
          </a:p>
          <a:p>
            <a:r>
              <a:rPr lang="en-US"/>
              <a:t>Closing line: the aim is better outcomes, not simply more automation</a:t>
            </a:r>
            <a:r>
              <a:rPr lang="en-US" dirty="0"/>
              <a:t>. </a:t>
            </a:r>
            <a:r>
              <a:rPr lang="en-US"/>
              <a:t>Automation that produces work someone has to redo is a cost, not a gain.</a:t>
            </a:r>
          </a:p>
          <a:p>
            <a:r>
              <a:rPr lang="en-US"/>
              <a:t>Close by asking: </a:t>
            </a:r>
            <a:r>
              <a:rPr lang="en-US" dirty="0"/>
              <a:t>which office task would </a:t>
            </a:r>
            <a:r>
              <a:rPr lang="en-US"/>
              <a:t>you </a:t>
            </a:r>
            <a:r>
              <a:rPr lang="en-US" dirty="0"/>
              <a:t>pilot</a:t>
            </a:r>
            <a:r>
              <a:rPr lang="en-US"/>
              <a:t>, who owns it,</a:t>
            </a:r>
            <a:r>
              <a:rPr lang="en-US" dirty="0"/>
              <a:t> and </a:t>
            </a:r>
            <a:r>
              <a:rPr lang="en-US"/>
              <a:t>what evidence </a:t>
            </a:r>
            <a:r>
              <a:rPr lang="en-US" dirty="0"/>
              <a:t>would </a:t>
            </a:r>
            <a:r>
              <a:rPr lang="en-US"/>
              <a:t>convince you it worked?</a:t>
            </a:r>
          </a:p>
          <a:p>
            <a:r>
              <a:rPr lang="en-US" dirty="0"/>
              <a:t>COMPLETE REFERENCE INDEX</a:t>
            </a:r>
            <a:r>
              <a:rPr lang="en-US"/>
              <a:t> (reviewed 1 October 2026):</a:t>
            </a:r>
          </a:p>
          <a:p>
            <a:r>
              <a:rPr lang="en-US" dirty="0"/>
              <a:t>[1] Anthropic, Building effective agents</a:t>
            </a:r>
            <a:r>
              <a:rPr lang="en-US"/>
              <a:t> — </a:t>
            </a:r>
            <a:r>
              <a:rPr lang="en-US" dirty="0"/>
              <a:t>https://www.anthropic.com/engineering/building-effective-agents</a:t>
            </a:r>
            <a:endParaRPr lang="en-US"/>
          </a:p>
          <a:p>
            <a:r>
              <a:rPr lang="en-US" dirty="0"/>
              <a:t>[2] Anthropic, Demystifying evals for AI agents</a:t>
            </a:r>
            <a:r>
              <a:rPr lang="en-US"/>
              <a:t> — </a:t>
            </a:r>
            <a:r>
              <a:rPr lang="en-US" dirty="0"/>
              <a:t>https://www.anthropic.com/engineering/demystifying-evals-for-ai-agents</a:t>
            </a:r>
            <a:endParaRPr lang="en-US"/>
          </a:p>
          <a:p>
            <a:r>
              <a:rPr lang="en-US" dirty="0"/>
              <a:t>[3] OWASP, AI Agent Security Cheat Sheet</a:t>
            </a:r>
            <a:r>
              <a:rPr lang="en-US"/>
              <a:t> — </a:t>
            </a:r>
            <a:r>
              <a:rPr lang="en-US" dirty="0"/>
              <a:t>https://cheatsheetseries.owasp.org/cheatsheets/AI_Agent_Security_Cheat_Sheet.html</a:t>
            </a:r>
            <a:endParaRPr lang="en-US"/>
          </a:p>
          <a:p>
            <a:r>
              <a:rPr lang="en-US" dirty="0"/>
              <a:t>[4] Model Context Protocol, Introduction</a:t>
            </a:r>
            <a:r>
              <a:rPr lang="en-US"/>
              <a:t> — </a:t>
            </a:r>
            <a:r>
              <a:rPr lang="en-US" dirty="0"/>
              <a:t>https://modelcontextprotocol.io/docs/2026-07-28/getting-started/intro</a:t>
            </a:r>
            <a:endParaRPr lang="en-US"/>
          </a:p>
          <a:p>
            <a:r>
              <a:rPr lang="en-US" dirty="0"/>
              <a:t>[5] Anthropic, Equipping agents for the real world with Agent Skills</a:t>
            </a:r>
            <a:r>
              <a:rPr lang="en-US"/>
              <a:t> — </a:t>
            </a:r>
            <a:r>
              <a:rPr lang="en-US" dirty="0"/>
              <a:t>https://www.anthropic.com/engineering/equipping-agents-for-the-real-world-with-agent-skills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29"/>
        </a:solidFill>
        <a:effectLst/>
      </p:bgPr>
    </p:bg>
    <p:spTree>
      <p:nvGrpSpPr>
        <p:cNvPr id="1" name=""/>
        <p:cNvGrpSpPr/>
        <p:nvPr/>
      </p:nvGrpSpPr>
      <p:grpSpPr>
        <a:xfrm>
          <a:off x="0" y="0"/>
          <a:ext cx="0" cy="0"/>
          <a:chOff x="0" y="0"/>
          <a:chExt cx="0" cy="0"/>
        </a:xfrm>
      </p:grpSpPr>
      <p:sp>
        <p:nvSpPr>
          <p:cNvPr id="2" name="shape_1"/>
          <p:cNvSpPr/>
          <p:nvPr/>
        </p:nvSpPr>
        <p:spPr>
          <a:xfrm>
            <a:off x="0" y="0"/>
            <a:ext cx="118872" cy="6858000"/>
          </a:xfrm>
          <a:prstGeom prst="rect">
            <a:avLst/>
          </a:prstGeom>
          <a:solidFill>
            <a:srgbClr val="69DFC8"/>
          </a:solidFill>
          <a:ln w="12700">
            <a:solidFill>
              <a:srgbClr val="69DFC8"/>
            </a:solidFill>
            <a:prstDash val="solid"/>
          </a:ln>
        </p:spPr>
        <p:txBody>
          <a:bodyPr/>
          <a:lstStyle/>
          <a:p>
            <a:endParaRPr lang="en-IN"/>
          </a:p>
        </p:txBody>
      </p:sp>
      <p:sp>
        <p:nvSpPr>
          <p:cNvPr id="3" name="text_2"/>
          <p:cNvSpPr txBox="1"/>
          <p:nvPr/>
        </p:nvSpPr>
        <p:spPr>
          <a:xfrm>
            <a:off x="658368" y="621792"/>
            <a:ext cx="5852160" cy="228600"/>
          </a:xfrm>
          <a:prstGeom prst="rect">
            <a:avLst/>
          </a:prstGeom>
          <a:noFill/>
          <a:ln/>
        </p:spPr>
        <p:txBody>
          <a:bodyPr wrap="square" lIns="0" tIns="0" rIns="0" bIns="0" rtlCol="0" anchor="ctr"/>
          <a:lstStyle/>
          <a:p>
            <a:pPr marL="0" indent="0" algn="l">
              <a:buNone/>
            </a:pPr>
            <a:r>
              <a:rPr lang="en-US" sz="1100" b="1" kern="0" spc="200" dirty="0">
                <a:solidFill>
                  <a:srgbClr val="69DFC8"/>
                </a:solidFill>
                <a:latin typeface="Arial" pitchFamily="34" charset="0"/>
                <a:ea typeface="Arial" pitchFamily="34" charset="-122"/>
                <a:cs typeface="Arial" pitchFamily="34" charset="-120"/>
              </a:rPr>
              <a:t>A PRACTICAL BUSINESS BRIEFING</a:t>
            </a:r>
            <a:endParaRPr lang="en-US" sz="1100" dirty="0"/>
          </a:p>
        </p:txBody>
      </p:sp>
      <p:sp>
        <p:nvSpPr>
          <p:cNvPr id="4" name="text_3"/>
          <p:cNvSpPr txBox="1"/>
          <p:nvPr/>
        </p:nvSpPr>
        <p:spPr>
          <a:xfrm>
            <a:off x="621792" y="1408176"/>
            <a:ext cx="6172200" cy="932688"/>
          </a:xfrm>
          <a:prstGeom prst="rect">
            <a:avLst/>
          </a:prstGeom>
          <a:noFill/>
          <a:ln/>
        </p:spPr>
        <p:txBody>
          <a:bodyPr wrap="square" lIns="0" tIns="0" rIns="0" bIns="0" rtlCol="0" anchor="ctr"/>
          <a:lstStyle/>
          <a:p>
            <a:pPr marL="0" indent="0" algn="l">
              <a:buNone/>
            </a:pPr>
            <a:r>
              <a:rPr lang="en-US" sz="6000" b="1" kern="0" spc="-160" dirty="0">
                <a:solidFill>
                  <a:srgbClr val="FFFFFF"/>
                </a:solidFill>
                <a:latin typeface="Arial" pitchFamily="34" charset="0"/>
                <a:ea typeface="Arial" pitchFamily="34" charset="-122"/>
                <a:cs typeface="Arial" pitchFamily="34" charset="-120"/>
              </a:rPr>
              <a:t>Agentic AI</a:t>
            </a:r>
            <a:endParaRPr lang="en-US" sz="6000" dirty="0"/>
          </a:p>
        </p:txBody>
      </p:sp>
      <p:sp>
        <p:nvSpPr>
          <p:cNvPr id="5" name="text_4"/>
          <p:cNvSpPr txBox="1"/>
          <p:nvPr/>
        </p:nvSpPr>
        <p:spPr>
          <a:xfrm>
            <a:off x="658368" y="2624328"/>
            <a:ext cx="5897880" cy="1005840"/>
          </a:xfrm>
          <a:prstGeom prst="rect">
            <a:avLst/>
          </a:prstGeom>
          <a:noFill/>
          <a:ln/>
        </p:spPr>
        <p:txBody>
          <a:bodyPr wrap="square" lIns="0" tIns="0" rIns="0" bIns="0" rtlCol="0" anchor="ctr"/>
          <a:lstStyle/>
          <a:p>
            <a:pPr marL="0" indent="0" algn="l">
              <a:buNone/>
            </a:pPr>
            <a:r>
              <a:rPr lang="en-US" sz="2700" dirty="0">
                <a:solidFill>
                  <a:srgbClr val="FFFFFF"/>
                </a:solidFill>
                <a:latin typeface="Arial" pitchFamily="34" charset="0"/>
                <a:ea typeface="Arial" pitchFamily="34" charset="-122"/>
                <a:cs typeface="Arial" pitchFamily="34" charset="-120"/>
              </a:rPr>
              <a:t>From instructions to</a:t>
            </a:r>
            <a:endParaRPr lang="en-US" sz="2700" dirty="0"/>
          </a:p>
          <a:p>
            <a:pPr marL="0" indent="0" algn="l">
              <a:buNone/>
            </a:pPr>
            <a:r>
              <a:rPr lang="en-US" sz="2700" dirty="0">
                <a:solidFill>
                  <a:srgbClr val="FFFFFF"/>
                </a:solidFill>
                <a:latin typeface="Arial" pitchFamily="34" charset="0"/>
                <a:ea typeface="Arial" pitchFamily="34" charset="-122"/>
                <a:cs typeface="Arial" pitchFamily="34" charset="-120"/>
              </a:rPr>
              <a:t>verified business outcomes.</a:t>
            </a:r>
            <a:endParaRPr lang="en-US" sz="2700" dirty="0"/>
          </a:p>
        </p:txBody>
      </p:sp>
      <p:sp>
        <p:nvSpPr>
          <p:cNvPr id="6" name="text_5"/>
          <p:cNvSpPr txBox="1"/>
          <p:nvPr/>
        </p:nvSpPr>
        <p:spPr>
          <a:xfrm>
            <a:off x="676656" y="3941064"/>
            <a:ext cx="5394960" cy="640080"/>
          </a:xfrm>
          <a:prstGeom prst="rect">
            <a:avLst/>
          </a:prstGeom>
          <a:noFill/>
          <a:ln/>
        </p:spPr>
        <p:txBody>
          <a:bodyPr wrap="square" lIns="0" tIns="0" rIns="0" bIns="0" rtlCol="0" anchor="ctr"/>
          <a:lstStyle/>
          <a:p>
            <a:pPr marL="0" indent="0" algn="l">
              <a:buNone/>
            </a:pPr>
            <a:r>
              <a:rPr lang="en-US" sz="1700" dirty="0">
                <a:solidFill>
                  <a:srgbClr val="ADC4C5"/>
                </a:solidFill>
                <a:latin typeface="Arial" pitchFamily="34" charset="0"/>
                <a:ea typeface="Arial" pitchFamily="34" charset="-122"/>
                <a:cs typeface="Arial" pitchFamily="34" charset="-120"/>
              </a:rPr>
              <a:t>Understand the idea. Choose a useful task.</a:t>
            </a:r>
            <a:endParaRPr lang="en-US" sz="1700" dirty="0"/>
          </a:p>
          <a:p>
            <a:pPr marL="0" indent="0" algn="l">
              <a:buNone/>
            </a:pPr>
            <a:r>
              <a:rPr lang="en-US" sz="1700" dirty="0">
                <a:solidFill>
                  <a:srgbClr val="ADC4C5"/>
                </a:solidFill>
                <a:latin typeface="Arial" pitchFamily="34" charset="0"/>
                <a:ea typeface="Arial" pitchFamily="34" charset="-122"/>
                <a:cs typeface="Arial" pitchFamily="34" charset="-120"/>
              </a:rPr>
              <a:t>Keep control of the result.</a:t>
            </a:r>
            <a:endParaRPr lang="en-US" sz="1700" dirty="0"/>
          </a:p>
        </p:txBody>
      </p:sp>
      <p:sp>
        <p:nvSpPr>
          <p:cNvPr id="7" name="shape_6"/>
          <p:cNvSpPr/>
          <p:nvPr/>
        </p:nvSpPr>
        <p:spPr>
          <a:xfrm>
            <a:off x="667512" y="5148072"/>
            <a:ext cx="1014984" cy="310896"/>
          </a:xfrm>
          <a:prstGeom prst="roundRect">
            <a:avLst>
              <a:gd name="adj" fmla="val 23529"/>
            </a:avLst>
          </a:prstGeom>
          <a:solidFill>
            <a:srgbClr val="1D333B"/>
          </a:solidFill>
          <a:ln w="12700">
            <a:solidFill>
              <a:srgbClr val="1D333B"/>
            </a:solidFill>
            <a:prstDash val="solid"/>
          </a:ln>
        </p:spPr>
        <p:txBody>
          <a:bodyPr/>
          <a:lstStyle/>
          <a:p>
            <a:endParaRPr lang="en-IN"/>
          </a:p>
        </p:txBody>
      </p:sp>
      <p:sp>
        <p:nvSpPr>
          <p:cNvPr id="8" name="text_7"/>
          <p:cNvSpPr txBox="1"/>
          <p:nvPr/>
        </p:nvSpPr>
        <p:spPr>
          <a:xfrm>
            <a:off x="768096" y="5152644"/>
            <a:ext cx="813816" cy="301752"/>
          </a:xfrm>
          <a:prstGeom prst="rect">
            <a:avLst/>
          </a:prstGeom>
          <a:noFill/>
          <a:ln/>
        </p:spPr>
        <p:txBody>
          <a:bodyPr wrap="square" lIns="0" tIns="0" rIns="0" bIns="0" rtlCol="0" anchor="ctr"/>
          <a:lstStyle/>
          <a:p>
            <a:pPr marL="0" indent="0" algn="l">
              <a:buNone/>
            </a:pPr>
            <a:r>
              <a:rPr lang="en-US" sz="1100" b="1" kern="0" spc="35" dirty="0">
                <a:solidFill>
                  <a:srgbClr val="69DFC8"/>
                </a:solidFill>
                <a:latin typeface="Arial" pitchFamily="34" charset="0"/>
                <a:ea typeface="Arial" pitchFamily="34" charset="-122"/>
                <a:cs typeface="Arial" pitchFamily="34" charset="-120"/>
              </a:rPr>
              <a:t>GOALS</a:t>
            </a:r>
            <a:endParaRPr lang="en-US" sz="1100" dirty="0"/>
          </a:p>
        </p:txBody>
      </p:sp>
      <p:sp>
        <p:nvSpPr>
          <p:cNvPr id="9" name="shape_8"/>
          <p:cNvSpPr/>
          <p:nvPr/>
        </p:nvSpPr>
        <p:spPr>
          <a:xfrm>
            <a:off x="1810512" y="5148072"/>
            <a:ext cx="1033272" cy="310896"/>
          </a:xfrm>
          <a:prstGeom prst="roundRect">
            <a:avLst>
              <a:gd name="adj" fmla="val 23529"/>
            </a:avLst>
          </a:prstGeom>
          <a:solidFill>
            <a:srgbClr val="1D333B"/>
          </a:solidFill>
          <a:ln w="12700">
            <a:solidFill>
              <a:srgbClr val="1D333B"/>
            </a:solidFill>
            <a:prstDash val="solid"/>
          </a:ln>
        </p:spPr>
        <p:txBody>
          <a:bodyPr/>
          <a:lstStyle/>
          <a:p>
            <a:endParaRPr lang="en-IN"/>
          </a:p>
        </p:txBody>
      </p:sp>
      <p:sp>
        <p:nvSpPr>
          <p:cNvPr id="10" name="text_9"/>
          <p:cNvSpPr txBox="1"/>
          <p:nvPr/>
        </p:nvSpPr>
        <p:spPr>
          <a:xfrm>
            <a:off x="1911096" y="5152644"/>
            <a:ext cx="832104" cy="301752"/>
          </a:xfrm>
          <a:prstGeom prst="rect">
            <a:avLst/>
          </a:prstGeom>
          <a:noFill/>
          <a:ln/>
        </p:spPr>
        <p:txBody>
          <a:bodyPr wrap="square" lIns="0" tIns="0" rIns="0" bIns="0" rtlCol="0" anchor="ctr"/>
          <a:lstStyle/>
          <a:p>
            <a:pPr marL="0" indent="0" algn="l">
              <a:buNone/>
            </a:pPr>
            <a:r>
              <a:rPr lang="en-US" sz="1100" b="1" kern="0" spc="35" dirty="0">
                <a:solidFill>
                  <a:srgbClr val="69DFC8"/>
                </a:solidFill>
                <a:latin typeface="Arial" pitchFamily="34" charset="0"/>
                <a:ea typeface="Arial" pitchFamily="34" charset="-122"/>
                <a:cs typeface="Arial" pitchFamily="34" charset="-120"/>
              </a:rPr>
              <a:t>TOOLS</a:t>
            </a:r>
            <a:endParaRPr lang="en-US" sz="1100" dirty="0"/>
          </a:p>
        </p:txBody>
      </p:sp>
      <p:sp>
        <p:nvSpPr>
          <p:cNvPr id="11" name="shape_10"/>
          <p:cNvSpPr/>
          <p:nvPr/>
        </p:nvSpPr>
        <p:spPr>
          <a:xfrm>
            <a:off x="2971800" y="5148072"/>
            <a:ext cx="2240280" cy="310896"/>
          </a:xfrm>
          <a:prstGeom prst="roundRect">
            <a:avLst>
              <a:gd name="adj" fmla="val 23529"/>
            </a:avLst>
          </a:prstGeom>
          <a:solidFill>
            <a:srgbClr val="1D333B"/>
          </a:solidFill>
          <a:ln w="12700">
            <a:solidFill>
              <a:srgbClr val="1D333B"/>
            </a:solidFill>
            <a:prstDash val="solid"/>
          </a:ln>
        </p:spPr>
        <p:txBody>
          <a:bodyPr/>
          <a:lstStyle/>
          <a:p>
            <a:endParaRPr lang="en-IN"/>
          </a:p>
        </p:txBody>
      </p:sp>
      <p:sp>
        <p:nvSpPr>
          <p:cNvPr id="12" name="text_11"/>
          <p:cNvSpPr txBox="1"/>
          <p:nvPr/>
        </p:nvSpPr>
        <p:spPr>
          <a:xfrm>
            <a:off x="3072384" y="5152644"/>
            <a:ext cx="2039112" cy="301752"/>
          </a:xfrm>
          <a:prstGeom prst="rect">
            <a:avLst/>
          </a:prstGeom>
          <a:noFill/>
          <a:ln/>
        </p:spPr>
        <p:txBody>
          <a:bodyPr wrap="square" lIns="0" tIns="0" rIns="0" bIns="0" rtlCol="0" anchor="ctr"/>
          <a:lstStyle/>
          <a:p>
            <a:pPr marL="0" indent="0" algn="l">
              <a:buNone/>
            </a:pPr>
            <a:r>
              <a:rPr lang="en-US" sz="1100" b="1" kern="0" spc="35" dirty="0">
                <a:solidFill>
                  <a:srgbClr val="69DFC8"/>
                </a:solidFill>
                <a:latin typeface="Arial" pitchFamily="34" charset="0"/>
                <a:ea typeface="Arial" pitchFamily="34" charset="-122"/>
                <a:cs typeface="Arial" pitchFamily="34" charset="-120"/>
              </a:rPr>
              <a:t>HUMAN OVERSIGHT</a:t>
            </a:r>
            <a:endParaRPr lang="en-US" sz="1100" dirty="0"/>
          </a:p>
        </p:txBody>
      </p:sp>
      <p:sp>
        <p:nvSpPr>
          <p:cNvPr id="13" name="circle_12"/>
          <p:cNvSpPr/>
          <p:nvPr/>
        </p:nvSpPr>
        <p:spPr>
          <a:xfrm>
            <a:off x="7086600" y="1042416"/>
            <a:ext cx="4416552" cy="4416552"/>
          </a:xfrm>
          <a:prstGeom prst="ellipse">
            <a:avLst/>
          </a:prstGeom>
          <a:solidFill>
            <a:srgbClr val="142329"/>
          </a:solidFill>
          <a:ln w="15240">
            <a:solidFill>
              <a:srgbClr val="355158"/>
            </a:solidFill>
            <a:prstDash val="solid"/>
          </a:ln>
        </p:spPr>
        <p:txBody>
          <a:bodyPr/>
          <a:lstStyle/>
          <a:p>
            <a:endParaRPr lang="en-IN"/>
          </a:p>
        </p:txBody>
      </p:sp>
      <p:sp>
        <p:nvSpPr>
          <p:cNvPr id="14" name="circle_13"/>
          <p:cNvSpPr/>
          <p:nvPr/>
        </p:nvSpPr>
        <p:spPr>
          <a:xfrm>
            <a:off x="7699248" y="1664208"/>
            <a:ext cx="3191256" cy="3191256"/>
          </a:xfrm>
          <a:prstGeom prst="ellipse">
            <a:avLst/>
          </a:prstGeom>
          <a:solidFill>
            <a:srgbClr val="142329"/>
          </a:solidFill>
          <a:ln w="10160">
            <a:solidFill>
              <a:srgbClr val="355158"/>
            </a:solidFill>
            <a:prstDash val="solid"/>
          </a:ln>
        </p:spPr>
        <p:txBody>
          <a:bodyPr/>
          <a:lstStyle/>
          <a:p>
            <a:endParaRPr lang="en-IN"/>
          </a:p>
        </p:txBody>
      </p:sp>
      <p:sp>
        <p:nvSpPr>
          <p:cNvPr id="15" name="line_14"/>
          <p:cNvSpPr/>
          <p:nvPr/>
        </p:nvSpPr>
        <p:spPr>
          <a:xfrm flipH="1" flipV="1">
            <a:off x="7552944" y="1883664"/>
            <a:ext cx="1700784" cy="1444752"/>
          </a:xfrm>
          <a:prstGeom prst="line">
            <a:avLst/>
          </a:prstGeom>
          <a:noFill/>
          <a:ln w="17145">
            <a:solidFill>
              <a:srgbClr val="69DFC8"/>
            </a:solidFill>
            <a:prstDash val="solid"/>
            <a:headEnd type="none"/>
            <a:tailEnd type="none"/>
          </a:ln>
        </p:spPr>
        <p:txBody>
          <a:bodyPr/>
          <a:lstStyle/>
          <a:p>
            <a:endParaRPr lang="en-IN"/>
          </a:p>
        </p:txBody>
      </p:sp>
      <p:sp>
        <p:nvSpPr>
          <p:cNvPr id="16" name="line_15"/>
          <p:cNvSpPr/>
          <p:nvPr/>
        </p:nvSpPr>
        <p:spPr>
          <a:xfrm flipV="1">
            <a:off x="9253728" y="2779776"/>
            <a:ext cx="1581912" cy="548640"/>
          </a:xfrm>
          <a:prstGeom prst="line">
            <a:avLst/>
          </a:prstGeom>
          <a:noFill/>
          <a:ln w="17145">
            <a:solidFill>
              <a:srgbClr val="69DFC8"/>
            </a:solidFill>
            <a:prstDash val="solid"/>
            <a:headEnd type="none"/>
            <a:tailEnd type="none"/>
          </a:ln>
        </p:spPr>
        <p:txBody>
          <a:bodyPr/>
          <a:lstStyle/>
          <a:p>
            <a:endParaRPr lang="en-IN"/>
          </a:p>
        </p:txBody>
      </p:sp>
      <p:sp>
        <p:nvSpPr>
          <p:cNvPr id="17" name="line_16"/>
          <p:cNvSpPr/>
          <p:nvPr/>
        </p:nvSpPr>
        <p:spPr>
          <a:xfrm flipH="1">
            <a:off x="8439912" y="3328416"/>
            <a:ext cx="813816" cy="1609344"/>
          </a:xfrm>
          <a:prstGeom prst="line">
            <a:avLst/>
          </a:prstGeom>
          <a:noFill/>
          <a:ln w="17145">
            <a:solidFill>
              <a:srgbClr val="69DFC8"/>
            </a:solidFill>
            <a:prstDash val="solid"/>
            <a:headEnd type="none"/>
            <a:tailEnd type="none"/>
          </a:ln>
        </p:spPr>
        <p:txBody>
          <a:bodyPr/>
          <a:lstStyle/>
          <a:p>
            <a:endParaRPr lang="en-IN"/>
          </a:p>
        </p:txBody>
      </p:sp>
      <p:sp>
        <p:nvSpPr>
          <p:cNvPr id="18" name="shape_17"/>
          <p:cNvSpPr/>
          <p:nvPr/>
        </p:nvSpPr>
        <p:spPr>
          <a:xfrm>
            <a:off x="8339328" y="2615184"/>
            <a:ext cx="1929384" cy="1271016"/>
          </a:xfrm>
          <a:prstGeom prst="roundRect">
            <a:avLst>
              <a:gd name="adj" fmla="val 11511"/>
            </a:avLst>
          </a:prstGeom>
          <a:solidFill>
            <a:srgbClr val="007E80"/>
          </a:solidFill>
          <a:ln w="12700">
            <a:solidFill>
              <a:srgbClr val="007E80"/>
            </a:solidFill>
            <a:prstDash val="solid"/>
          </a:ln>
        </p:spPr>
        <p:txBody>
          <a:bodyPr/>
          <a:lstStyle/>
          <a:p>
            <a:endParaRPr lang="en-IN"/>
          </a:p>
        </p:txBody>
      </p:sp>
      <p:sp>
        <p:nvSpPr>
          <p:cNvPr id="19" name="text_18"/>
          <p:cNvSpPr txBox="1"/>
          <p:nvPr/>
        </p:nvSpPr>
        <p:spPr>
          <a:xfrm>
            <a:off x="8513064" y="2862072"/>
            <a:ext cx="1572768" cy="429768"/>
          </a:xfrm>
          <a:prstGeom prst="rect">
            <a:avLst/>
          </a:prstGeom>
          <a:noFill/>
          <a:ln/>
        </p:spPr>
        <p:txBody>
          <a:bodyPr wrap="square" lIns="0" tIns="0" rIns="0" bIns="0" rtlCol="0" anchor="ctr"/>
          <a:lstStyle/>
          <a:p>
            <a:pPr marL="0" indent="0" algn="ctr">
              <a:buNone/>
            </a:pPr>
            <a:r>
              <a:rPr lang="en-US" sz="2700" b="1" kern="0" spc="100" dirty="0">
                <a:solidFill>
                  <a:srgbClr val="FFFFFF"/>
                </a:solidFill>
                <a:latin typeface="Arial" pitchFamily="34" charset="0"/>
                <a:ea typeface="Arial" pitchFamily="34" charset="-122"/>
                <a:cs typeface="Arial" pitchFamily="34" charset="-120"/>
              </a:rPr>
              <a:t>AGENT</a:t>
            </a:r>
            <a:endParaRPr lang="en-US" sz="2700" dirty="0"/>
          </a:p>
        </p:txBody>
      </p:sp>
      <p:sp>
        <p:nvSpPr>
          <p:cNvPr id="20" name="text_19"/>
          <p:cNvSpPr txBox="1"/>
          <p:nvPr/>
        </p:nvSpPr>
        <p:spPr>
          <a:xfrm>
            <a:off x="8476488" y="3392424"/>
            <a:ext cx="1645920" cy="237744"/>
          </a:xfrm>
          <a:prstGeom prst="rect">
            <a:avLst/>
          </a:prstGeom>
          <a:noFill/>
          <a:ln/>
        </p:spPr>
        <p:txBody>
          <a:bodyPr wrap="square" lIns="0" tIns="0" rIns="0" bIns="0" rtlCol="0" anchor="ctr"/>
          <a:lstStyle/>
          <a:p>
            <a:pPr marL="0" indent="0" algn="ctr">
              <a:buNone/>
            </a:pPr>
            <a:r>
              <a:rPr lang="en-US" sz="1020" dirty="0">
                <a:solidFill>
                  <a:srgbClr val="FFFFFF"/>
                </a:solidFill>
                <a:latin typeface="Arial" pitchFamily="34" charset="0"/>
                <a:ea typeface="Arial" pitchFamily="34" charset="-122"/>
                <a:cs typeface="Arial" pitchFamily="34" charset="-120"/>
              </a:rPr>
              <a:t>choose • act • check</a:t>
            </a:r>
            <a:endParaRPr lang="en-US" sz="1020" dirty="0"/>
          </a:p>
        </p:txBody>
      </p:sp>
      <p:sp>
        <p:nvSpPr>
          <p:cNvPr id="21" name="shape_20"/>
          <p:cNvSpPr/>
          <p:nvPr/>
        </p:nvSpPr>
        <p:spPr>
          <a:xfrm>
            <a:off x="7086600" y="1399032"/>
            <a:ext cx="1426464" cy="914400"/>
          </a:xfrm>
          <a:prstGeom prst="roundRect">
            <a:avLst>
              <a:gd name="adj" fmla="val 12000"/>
            </a:avLst>
          </a:prstGeom>
          <a:solidFill>
            <a:srgbClr val="1D333B"/>
          </a:solidFill>
          <a:ln w="12700">
            <a:solidFill>
              <a:srgbClr val="355158"/>
            </a:solidFill>
            <a:prstDash val="solid"/>
          </a:ln>
        </p:spPr>
        <p:txBody>
          <a:bodyPr/>
          <a:lstStyle/>
          <a:p>
            <a:endParaRPr lang="en-IN"/>
          </a:p>
        </p:txBody>
      </p:sp>
      <p:sp>
        <p:nvSpPr>
          <p:cNvPr id="22" name="circle_21"/>
          <p:cNvSpPr/>
          <p:nvPr/>
        </p:nvSpPr>
        <p:spPr>
          <a:xfrm>
            <a:off x="7635149" y="1563533"/>
            <a:ext cx="193121" cy="193121"/>
          </a:xfrm>
          <a:prstGeom prst="ellipse">
            <a:avLst/>
          </a:prstGeom>
          <a:solidFill>
            <a:srgbClr val="FFFFFF">
              <a:alpha val="0"/>
            </a:srgbClr>
          </a:solidFill>
          <a:ln w="21590">
            <a:solidFill>
              <a:srgbClr val="69DFC8"/>
            </a:solidFill>
            <a:prstDash val="solid"/>
          </a:ln>
        </p:spPr>
        <p:txBody>
          <a:bodyPr/>
          <a:lstStyle/>
          <a:p>
            <a:endParaRPr lang="en-IN"/>
          </a:p>
        </p:txBody>
      </p:sp>
      <p:sp>
        <p:nvSpPr>
          <p:cNvPr id="23" name="circle_22"/>
          <p:cNvSpPr/>
          <p:nvPr/>
        </p:nvSpPr>
        <p:spPr>
          <a:xfrm>
            <a:off x="7686446" y="1614830"/>
            <a:ext cx="90526" cy="90526"/>
          </a:xfrm>
          <a:prstGeom prst="ellipse">
            <a:avLst/>
          </a:prstGeom>
          <a:solidFill>
            <a:srgbClr val="FFFFFF">
              <a:alpha val="0"/>
            </a:srgbClr>
          </a:solidFill>
          <a:ln w="21590">
            <a:solidFill>
              <a:srgbClr val="69DFC8"/>
            </a:solidFill>
            <a:prstDash val="solid"/>
          </a:ln>
        </p:spPr>
        <p:txBody>
          <a:bodyPr/>
          <a:lstStyle/>
          <a:p>
            <a:endParaRPr lang="en-IN"/>
          </a:p>
        </p:txBody>
      </p:sp>
      <p:sp>
        <p:nvSpPr>
          <p:cNvPr id="24" name="circle_23"/>
          <p:cNvSpPr/>
          <p:nvPr/>
        </p:nvSpPr>
        <p:spPr>
          <a:xfrm>
            <a:off x="7719639" y="1648023"/>
            <a:ext cx="24140" cy="24140"/>
          </a:xfrm>
          <a:prstGeom prst="ellipse">
            <a:avLst/>
          </a:prstGeom>
          <a:solidFill>
            <a:srgbClr val="69DFC8"/>
          </a:solidFill>
          <a:ln w="12700">
            <a:solidFill>
              <a:srgbClr val="69DFC8"/>
            </a:solidFill>
            <a:prstDash val="solid"/>
          </a:ln>
        </p:spPr>
        <p:txBody>
          <a:bodyPr/>
          <a:lstStyle/>
          <a:p>
            <a:endParaRPr lang="en-IN"/>
          </a:p>
        </p:txBody>
      </p:sp>
      <p:sp>
        <p:nvSpPr>
          <p:cNvPr id="25" name="line_24"/>
          <p:cNvSpPr/>
          <p:nvPr/>
        </p:nvSpPr>
        <p:spPr>
          <a:xfrm flipV="1">
            <a:off x="7746797" y="1551462"/>
            <a:ext cx="90526" cy="87508"/>
          </a:xfrm>
          <a:prstGeom prst="line">
            <a:avLst/>
          </a:prstGeom>
          <a:noFill/>
          <a:ln w="22860">
            <a:solidFill>
              <a:srgbClr val="69DFC8"/>
            </a:solidFill>
            <a:prstDash val="solid"/>
            <a:headEnd type="none"/>
            <a:tailEnd type="none"/>
          </a:ln>
        </p:spPr>
        <p:txBody>
          <a:bodyPr/>
          <a:lstStyle/>
          <a:p>
            <a:endParaRPr lang="en-IN"/>
          </a:p>
        </p:txBody>
      </p:sp>
      <p:sp>
        <p:nvSpPr>
          <p:cNvPr id="26" name="line_25"/>
          <p:cNvSpPr/>
          <p:nvPr/>
        </p:nvSpPr>
        <p:spPr>
          <a:xfrm>
            <a:off x="7783007" y="1551462"/>
            <a:ext cx="54315" cy="0"/>
          </a:xfrm>
          <a:prstGeom prst="line">
            <a:avLst/>
          </a:prstGeom>
          <a:noFill/>
          <a:ln w="22860">
            <a:solidFill>
              <a:srgbClr val="69DFC8"/>
            </a:solidFill>
            <a:prstDash val="solid"/>
            <a:headEnd type="none"/>
            <a:tailEnd type="none"/>
          </a:ln>
        </p:spPr>
        <p:txBody>
          <a:bodyPr/>
          <a:lstStyle/>
          <a:p>
            <a:endParaRPr lang="en-IN"/>
          </a:p>
        </p:txBody>
      </p:sp>
      <p:sp>
        <p:nvSpPr>
          <p:cNvPr id="27" name="line_26"/>
          <p:cNvSpPr/>
          <p:nvPr/>
        </p:nvSpPr>
        <p:spPr>
          <a:xfrm>
            <a:off x="7837322" y="1551462"/>
            <a:ext cx="0" cy="57333"/>
          </a:xfrm>
          <a:prstGeom prst="line">
            <a:avLst/>
          </a:prstGeom>
          <a:noFill/>
          <a:ln w="22860">
            <a:solidFill>
              <a:srgbClr val="69DFC8"/>
            </a:solidFill>
            <a:prstDash val="solid"/>
            <a:headEnd type="none"/>
            <a:tailEnd type="none"/>
          </a:ln>
        </p:spPr>
        <p:txBody>
          <a:bodyPr/>
          <a:lstStyle/>
          <a:p>
            <a:endParaRPr lang="en-IN"/>
          </a:p>
        </p:txBody>
      </p:sp>
      <p:sp>
        <p:nvSpPr>
          <p:cNvPr id="28" name="text_27"/>
          <p:cNvSpPr txBox="1"/>
          <p:nvPr/>
        </p:nvSpPr>
        <p:spPr>
          <a:xfrm>
            <a:off x="7223760" y="1984248"/>
            <a:ext cx="1143000" cy="173736"/>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Goal</a:t>
            </a:r>
            <a:endParaRPr lang="en-US" sz="1200" dirty="0"/>
          </a:p>
        </p:txBody>
      </p:sp>
      <p:sp>
        <p:nvSpPr>
          <p:cNvPr id="29" name="shape_28"/>
          <p:cNvSpPr/>
          <p:nvPr/>
        </p:nvSpPr>
        <p:spPr>
          <a:xfrm>
            <a:off x="10268712" y="2286000"/>
            <a:ext cx="1225296" cy="932688"/>
          </a:xfrm>
          <a:prstGeom prst="roundRect">
            <a:avLst>
              <a:gd name="adj" fmla="val 11765"/>
            </a:avLst>
          </a:prstGeom>
          <a:solidFill>
            <a:srgbClr val="1D333B"/>
          </a:solidFill>
          <a:ln w="12700">
            <a:solidFill>
              <a:srgbClr val="355158"/>
            </a:solidFill>
            <a:prstDash val="solid"/>
          </a:ln>
        </p:spPr>
        <p:txBody>
          <a:bodyPr/>
          <a:lstStyle/>
          <a:p>
            <a:endParaRPr lang="en-IN"/>
          </a:p>
        </p:txBody>
      </p:sp>
      <p:sp>
        <p:nvSpPr>
          <p:cNvPr id="30" name="line_29"/>
          <p:cNvSpPr/>
          <p:nvPr/>
        </p:nvSpPr>
        <p:spPr>
          <a:xfrm>
            <a:off x="10720791" y="2475098"/>
            <a:ext cx="200802" cy="0"/>
          </a:xfrm>
          <a:prstGeom prst="line">
            <a:avLst/>
          </a:prstGeom>
          <a:noFill/>
          <a:ln w="22860">
            <a:solidFill>
              <a:srgbClr val="69DFC8"/>
            </a:solidFill>
            <a:prstDash val="solid"/>
            <a:headEnd type="none"/>
            <a:tailEnd type="none"/>
          </a:ln>
        </p:spPr>
        <p:txBody>
          <a:bodyPr/>
          <a:lstStyle/>
          <a:p>
            <a:endParaRPr lang="en-IN"/>
          </a:p>
        </p:txBody>
      </p:sp>
      <p:sp>
        <p:nvSpPr>
          <p:cNvPr id="31" name="line_30"/>
          <p:cNvSpPr/>
          <p:nvPr/>
        </p:nvSpPr>
        <p:spPr>
          <a:xfrm>
            <a:off x="10720791" y="2550810"/>
            <a:ext cx="200802" cy="0"/>
          </a:xfrm>
          <a:prstGeom prst="line">
            <a:avLst/>
          </a:prstGeom>
          <a:noFill/>
          <a:ln w="22860">
            <a:solidFill>
              <a:srgbClr val="69DFC8"/>
            </a:solidFill>
            <a:prstDash val="solid"/>
            <a:headEnd type="none"/>
            <a:tailEnd type="none"/>
          </a:ln>
        </p:spPr>
        <p:txBody>
          <a:bodyPr/>
          <a:lstStyle/>
          <a:p>
            <a:endParaRPr lang="en-IN"/>
          </a:p>
        </p:txBody>
      </p:sp>
      <p:sp>
        <p:nvSpPr>
          <p:cNvPr id="32" name="line_31"/>
          <p:cNvSpPr/>
          <p:nvPr/>
        </p:nvSpPr>
        <p:spPr>
          <a:xfrm>
            <a:off x="10720791" y="2626523"/>
            <a:ext cx="200802" cy="0"/>
          </a:xfrm>
          <a:prstGeom prst="line">
            <a:avLst/>
          </a:prstGeom>
          <a:noFill/>
          <a:ln w="22860">
            <a:solidFill>
              <a:srgbClr val="69DFC8"/>
            </a:solidFill>
            <a:prstDash val="solid"/>
            <a:headEnd type="none"/>
            <a:tailEnd type="none"/>
          </a:ln>
        </p:spPr>
        <p:txBody>
          <a:bodyPr/>
          <a:lstStyle/>
          <a:p>
            <a:endParaRPr lang="en-IN"/>
          </a:p>
        </p:txBody>
      </p:sp>
      <p:sp>
        <p:nvSpPr>
          <p:cNvPr id="33" name="circle_32"/>
          <p:cNvSpPr/>
          <p:nvPr/>
        </p:nvSpPr>
        <p:spPr>
          <a:xfrm>
            <a:off x="10760293" y="2450409"/>
            <a:ext cx="49378" cy="49378"/>
          </a:xfrm>
          <a:prstGeom prst="ellipse">
            <a:avLst/>
          </a:prstGeom>
          <a:solidFill>
            <a:srgbClr val="FFFFFF">
              <a:alpha val="0"/>
            </a:srgbClr>
          </a:solidFill>
          <a:ln w="21590">
            <a:solidFill>
              <a:srgbClr val="69DFC8"/>
            </a:solidFill>
            <a:prstDash val="solid"/>
          </a:ln>
        </p:spPr>
        <p:txBody>
          <a:bodyPr/>
          <a:lstStyle/>
          <a:p>
            <a:endParaRPr lang="en-IN"/>
          </a:p>
        </p:txBody>
      </p:sp>
      <p:sp>
        <p:nvSpPr>
          <p:cNvPr id="34" name="circle_33"/>
          <p:cNvSpPr/>
          <p:nvPr/>
        </p:nvSpPr>
        <p:spPr>
          <a:xfrm>
            <a:off x="10852465" y="2526121"/>
            <a:ext cx="49378" cy="49378"/>
          </a:xfrm>
          <a:prstGeom prst="ellipse">
            <a:avLst/>
          </a:prstGeom>
          <a:solidFill>
            <a:srgbClr val="FFFFFF">
              <a:alpha val="0"/>
            </a:srgbClr>
          </a:solidFill>
          <a:ln w="21590">
            <a:solidFill>
              <a:srgbClr val="69DFC8"/>
            </a:solidFill>
            <a:prstDash val="solid"/>
          </a:ln>
        </p:spPr>
        <p:txBody>
          <a:bodyPr/>
          <a:lstStyle/>
          <a:p>
            <a:endParaRPr lang="en-IN"/>
          </a:p>
        </p:txBody>
      </p:sp>
      <p:sp>
        <p:nvSpPr>
          <p:cNvPr id="35" name="circle_34"/>
          <p:cNvSpPr/>
          <p:nvPr/>
        </p:nvSpPr>
        <p:spPr>
          <a:xfrm>
            <a:off x="10780044" y="2601834"/>
            <a:ext cx="49378" cy="49378"/>
          </a:xfrm>
          <a:prstGeom prst="ellipse">
            <a:avLst/>
          </a:prstGeom>
          <a:solidFill>
            <a:srgbClr val="FFFFFF">
              <a:alpha val="0"/>
            </a:srgbClr>
          </a:solidFill>
          <a:ln w="21590">
            <a:solidFill>
              <a:srgbClr val="69DFC8"/>
            </a:solidFill>
            <a:prstDash val="solid"/>
          </a:ln>
        </p:spPr>
        <p:txBody>
          <a:bodyPr/>
          <a:lstStyle/>
          <a:p>
            <a:endParaRPr lang="en-IN"/>
          </a:p>
        </p:txBody>
      </p:sp>
      <p:sp>
        <p:nvSpPr>
          <p:cNvPr id="36" name="text_35"/>
          <p:cNvSpPr txBox="1"/>
          <p:nvPr/>
        </p:nvSpPr>
        <p:spPr>
          <a:xfrm>
            <a:off x="10351008" y="2898648"/>
            <a:ext cx="1042416" cy="19202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Tools</a:t>
            </a:r>
            <a:endParaRPr lang="en-US" sz="1200" dirty="0"/>
          </a:p>
        </p:txBody>
      </p:sp>
      <p:sp>
        <p:nvSpPr>
          <p:cNvPr id="37" name="shape_36"/>
          <p:cNvSpPr/>
          <p:nvPr/>
        </p:nvSpPr>
        <p:spPr>
          <a:xfrm>
            <a:off x="7799832" y="4562856"/>
            <a:ext cx="1627632" cy="896112"/>
          </a:xfrm>
          <a:prstGeom prst="roundRect">
            <a:avLst>
              <a:gd name="adj" fmla="val 12245"/>
            </a:avLst>
          </a:prstGeom>
          <a:solidFill>
            <a:srgbClr val="1D333B"/>
          </a:solidFill>
          <a:ln w="12700">
            <a:solidFill>
              <a:srgbClr val="355158"/>
            </a:solidFill>
            <a:prstDash val="solid"/>
          </a:ln>
        </p:spPr>
        <p:txBody>
          <a:bodyPr/>
          <a:lstStyle/>
          <a:p>
            <a:endParaRPr lang="en-IN"/>
          </a:p>
        </p:txBody>
      </p:sp>
      <p:sp>
        <p:nvSpPr>
          <p:cNvPr id="38" name="circle_37"/>
          <p:cNvSpPr/>
          <p:nvPr/>
        </p:nvSpPr>
        <p:spPr>
          <a:xfrm>
            <a:off x="8452165" y="4684837"/>
            <a:ext cx="205191" cy="205191"/>
          </a:xfrm>
          <a:prstGeom prst="ellipse">
            <a:avLst/>
          </a:prstGeom>
          <a:solidFill>
            <a:srgbClr val="FFFFFF">
              <a:alpha val="0"/>
            </a:srgbClr>
          </a:solidFill>
          <a:ln w="21590">
            <a:solidFill>
              <a:srgbClr val="69DFC8"/>
            </a:solidFill>
            <a:prstDash val="solid"/>
          </a:ln>
        </p:spPr>
        <p:txBody>
          <a:bodyPr/>
          <a:lstStyle/>
          <a:p>
            <a:endParaRPr lang="en-IN"/>
          </a:p>
        </p:txBody>
      </p:sp>
      <p:sp>
        <p:nvSpPr>
          <p:cNvPr id="39" name="line_38"/>
          <p:cNvSpPr/>
          <p:nvPr/>
        </p:nvSpPr>
        <p:spPr>
          <a:xfrm>
            <a:off x="8501908" y="4790542"/>
            <a:ext cx="37308" cy="37308"/>
          </a:xfrm>
          <a:prstGeom prst="line">
            <a:avLst/>
          </a:prstGeom>
          <a:noFill/>
          <a:ln w="27940">
            <a:solidFill>
              <a:srgbClr val="69DFC8"/>
            </a:solidFill>
            <a:prstDash val="solid"/>
            <a:headEnd type="none"/>
            <a:tailEnd type="none"/>
          </a:ln>
        </p:spPr>
        <p:txBody>
          <a:bodyPr/>
          <a:lstStyle/>
          <a:p>
            <a:endParaRPr lang="en-IN"/>
          </a:p>
        </p:txBody>
      </p:sp>
      <p:sp>
        <p:nvSpPr>
          <p:cNvPr id="40" name="line_39"/>
          <p:cNvSpPr/>
          <p:nvPr/>
        </p:nvSpPr>
        <p:spPr>
          <a:xfrm flipV="1">
            <a:off x="8539216" y="4750125"/>
            <a:ext cx="77724" cy="77724"/>
          </a:xfrm>
          <a:prstGeom prst="line">
            <a:avLst/>
          </a:prstGeom>
          <a:noFill/>
          <a:ln w="27940">
            <a:solidFill>
              <a:srgbClr val="69DFC8"/>
            </a:solidFill>
            <a:prstDash val="solid"/>
            <a:headEnd type="none"/>
            <a:tailEnd type="none"/>
          </a:ln>
        </p:spPr>
        <p:txBody>
          <a:bodyPr/>
          <a:lstStyle/>
          <a:p>
            <a:endParaRPr lang="en-IN"/>
          </a:p>
        </p:txBody>
      </p:sp>
      <p:sp>
        <p:nvSpPr>
          <p:cNvPr id="41" name="text_40"/>
          <p:cNvSpPr txBox="1"/>
          <p:nvPr/>
        </p:nvSpPr>
        <p:spPr>
          <a:xfrm>
            <a:off x="7973568" y="5120640"/>
            <a:ext cx="1280160" cy="173736"/>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Evidence</a:t>
            </a:r>
            <a:endParaRPr lang="en-US" sz="1200" dirty="0"/>
          </a:p>
        </p:txBody>
      </p:sp>
      <p:sp>
        <p:nvSpPr>
          <p:cNvPr id="42" name="circle_41"/>
          <p:cNvSpPr/>
          <p:nvPr/>
        </p:nvSpPr>
        <p:spPr>
          <a:xfrm>
            <a:off x="10835640" y="1399032"/>
            <a:ext cx="86868" cy="86868"/>
          </a:xfrm>
          <a:prstGeom prst="ellipse">
            <a:avLst/>
          </a:prstGeom>
          <a:solidFill>
            <a:srgbClr val="69DFC8"/>
          </a:solidFill>
          <a:ln w="12700">
            <a:solidFill>
              <a:srgbClr val="69DFC8"/>
            </a:solidFill>
            <a:prstDash val="solid"/>
          </a:ln>
        </p:spPr>
        <p:txBody>
          <a:bodyPr/>
          <a:lstStyle/>
          <a:p>
            <a:endParaRPr lang="en-IN"/>
          </a:p>
        </p:txBody>
      </p:sp>
      <p:sp>
        <p:nvSpPr>
          <p:cNvPr id="43" name="circle_42"/>
          <p:cNvSpPr/>
          <p:nvPr/>
        </p:nvSpPr>
        <p:spPr>
          <a:xfrm>
            <a:off x="7342632" y="4297680"/>
            <a:ext cx="64008" cy="64008"/>
          </a:xfrm>
          <a:prstGeom prst="ellipse">
            <a:avLst/>
          </a:prstGeom>
          <a:solidFill>
            <a:srgbClr val="69DFC8"/>
          </a:solidFill>
          <a:ln w="12700">
            <a:solidFill>
              <a:srgbClr val="69DFC8"/>
            </a:solidFill>
            <a:prstDash val="solid"/>
          </a:ln>
        </p:spPr>
        <p:txBody>
          <a:bodyPr/>
          <a:lstStyle/>
          <a:p>
            <a:endParaRPr lang="en-IN"/>
          </a:p>
        </p:txBody>
      </p:sp>
      <p:sp>
        <p:nvSpPr>
          <p:cNvPr id="44" name="circle_43"/>
          <p:cNvSpPr/>
          <p:nvPr/>
        </p:nvSpPr>
        <p:spPr>
          <a:xfrm>
            <a:off x="10963656" y="4672584"/>
            <a:ext cx="91440" cy="91440"/>
          </a:xfrm>
          <a:prstGeom prst="ellipse">
            <a:avLst/>
          </a:prstGeom>
          <a:solidFill>
            <a:srgbClr val="DDA858"/>
          </a:solidFill>
          <a:ln w="12700">
            <a:solidFill>
              <a:srgbClr val="DDA858"/>
            </a:solidFill>
            <a:prstDash val="solid"/>
          </a:ln>
        </p:spPr>
        <p:txBody>
          <a:bodyPr/>
          <a:lstStyle/>
          <a:p>
            <a:endParaRPr lang="en-IN"/>
          </a:p>
        </p:txBody>
      </p:sp>
      <p:sp>
        <p:nvSpPr>
          <p:cNvPr id="45" name="line_44"/>
          <p:cNvSpPr/>
          <p:nvPr/>
        </p:nvSpPr>
        <p:spPr>
          <a:xfrm>
            <a:off x="603504" y="6364224"/>
            <a:ext cx="10972800" cy="0"/>
          </a:xfrm>
          <a:prstGeom prst="line">
            <a:avLst/>
          </a:prstGeom>
          <a:noFill/>
          <a:ln w="8890">
            <a:solidFill>
              <a:srgbClr val="355158"/>
            </a:solidFill>
            <a:prstDash val="solid"/>
            <a:headEnd type="none"/>
            <a:tailEnd type="none"/>
          </a:ln>
        </p:spPr>
        <p:txBody>
          <a:bodyPr/>
          <a:lstStyle/>
          <a:p>
            <a:endParaRPr lang="en-IN"/>
          </a:p>
        </p:txBody>
      </p:sp>
      <p:sp>
        <p:nvSpPr>
          <p:cNvPr id="46" name="text_45"/>
          <p:cNvSpPr txBox="1"/>
          <p:nvPr/>
        </p:nvSpPr>
        <p:spPr>
          <a:xfrm>
            <a:off x="621792" y="6473952"/>
            <a:ext cx="6309360" cy="146304"/>
          </a:xfrm>
          <a:prstGeom prst="rect">
            <a:avLst/>
          </a:prstGeom>
          <a:noFill/>
          <a:ln/>
        </p:spPr>
        <p:txBody>
          <a:bodyPr wrap="square" lIns="0" tIns="0" rIns="0" bIns="0" rtlCol="0" anchor="ctr"/>
          <a:lstStyle/>
          <a:p>
            <a:pPr marL="0" indent="0" algn="l">
              <a:buNone/>
            </a:pPr>
            <a:r>
              <a:rPr lang="en-US" sz="830" kern="0" spc="105" dirty="0">
                <a:solidFill>
                  <a:srgbClr val="ADC4C5"/>
                </a:solidFill>
                <a:latin typeface="Arial" pitchFamily="34" charset="0"/>
                <a:ea typeface="Arial" pitchFamily="34" charset="-122"/>
                <a:cs typeface="Arial" pitchFamily="34" charset="-120"/>
              </a:rPr>
              <a:t>AGENTIC AI  /  A PRACTICAL BUSINESS BRIEFING</a:t>
            </a:r>
            <a:endParaRPr lang="en-US" sz="830" dirty="0"/>
          </a:p>
        </p:txBody>
      </p:sp>
      <p:sp>
        <p:nvSpPr>
          <p:cNvPr id="47" name="text_46"/>
          <p:cNvSpPr txBox="1"/>
          <p:nvPr/>
        </p:nvSpPr>
        <p:spPr>
          <a:xfrm>
            <a:off x="6492240" y="6460236"/>
            <a:ext cx="4434840" cy="182880"/>
          </a:xfrm>
          <a:prstGeom prst="rect">
            <a:avLst/>
          </a:prstGeom>
          <a:noFill/>
          <a:ln/>
        </p:spPr>
        <p:txBody>
          <a:bodyPr wrap="square" lIns="0" tIns="0" rIns="0" bIns="0" rtlCol="0" anchor="ctr"/>
          <a:lstStyle/>
          <a:p>
            <a:pPr marL="0" indent="0" algn="r">
              <a:buNone/>
            </a:pPr>
            <a:r>
              <a:rPr lang="en-US" sz="810" dirty="0">
                <a:solidFill>
                  <a:srgbClr val="ADC4C5"/>
                </a:solidFill>
                <a:latin typeface="Arial" pitchFamily="34" charset="0"/>
                <a:ea typeface="Arial" pitchFamily="34" charset="-122"/>
                <a:cs typeface="Arial" pitchFamily="34" charset="-120"/>
              </a:rPr>
              <a:t>WORKSHOP REFERENCE  •  ORIGINAL LAYOUTS</a:t>
            </a:r>
            <a:endParaRPr lang="en-US" sz="810" dirty="0"/>
          </a:p>
        </p:txBody>
      </p:sp>
      <p:sp>
        <p:nvSpPr>
          <p:cNvPr id="48" name="text_47"/>
          <p:cNvSpPr txBox="1"/>
          <p:nvPr/>
        </p:nvSpPr>
        <p:spPr>
          <a:xfrm>
            <a:off x="11091672" y="6441948"/>
            <a:ext cx="466344" cy="201168"/>
          </a:xfrm>
          <a:prstGeom prst="rect">
            <a:avLst/>
          </a:prstGeom>
          <a:noFill/>
          <a:ln/>
        </p:spPr>
        <p:txBody>
          <a:bodyPr wrap="square" lIns="0" tIns="0" rIns="0" bIns="0" rtlCol="0" anchor="ctr"/>
          <a:lstStyle/>
          <a:p>
            <a:pPr marL="0" indent="0" algn="r">
              <a:buNone/>
            </a:pPr>
            <a:r>
              <a:rPr lang="en-US" sz="1000" b="1" dirty="0">
                <a:solidFill>
                  <a:srgbClr val="69DFC8"/>
                </a:solidFill>
                <a:latin typeface="Arial" pitchFamily="34" charset="0"/>
                <a:ea typeface="Arial" pitchFamily="34" charset="-122"/>
                <a:cs typeface="Arial"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6"/>
        </a:solidFill>
        <a:effectLst/>
      </p:bgPr>
    </p:bg>
    <p:spTree>
      <p:nvGrpSpPr>
        <p:cNvPr id="1" name=""/>
        <p:cNvGrpSpPr/>
        <p:nvPr/>
      </p:nvGrpSpPr>
      <p:grpSpPr>
        <a:xfrm>
          <a:off x="0" y="0"/>
          <a:ext cx="0" cy="0"/>
          <a:chOff x="0" y="0"/>
          <a:chExt cx="0" cy="0"/>
        </a:xfrm>
      </p:grpSpPr>
      <p:sp>
        <p:nvSpPr>
          <p:cNvPr id="2" name="text_48"/>
          <p:cNvSpPr txBox="1"/>
          <p:nvPr/>
        </p:nvSpPr>
        <p:spPr>
          <a:xfrm>
            <a:off x="621792" y="448056"/>
            <a:ext cx="10058400" cy="219456"/>
          </a:xfrm>
          <a:prstGeom prst="rect">
            <a:avLst/>
          </a:prstGeom>
          <a:noFill/>
          <a:ln/>
        </p:spPr>
        <p:txBody>
          <a:bodyPr wrap="square" lIns="0" tIns="0" rIns="0" bIns="0" rtlCol="0" anchor="ctr"/>
          <a:lstStyle/>
          <a:p>
            <a:pPr marL="0" indent="0" algn="l">
              <a:buNone/>
            </a:pPr>
            <a:r>
              <a:rPr lang="en-US" sz="1050" b="1" kern="0" spc="200" dirty="0">
                <a:solidFill>
                  <a:srgbClr val="007E80"/>
                </a:solidFill>
                <a:latin typeface="Arial" pitchFamily="34" charset="0"/>
                <a:ea typeface="Arial" pitchFamily="34" charset="-122"/>
                <a:cs typeface="Arial" pitchFamily="34" charset="-120"/>
              </a:rPr>
              <a:t>01 / THE IDEA</a:t>
            </a:r>
            <a:endParaRPr lang="en-US" sz="1050" dirty="0"/>
          </a:p>
        </p:txBody>
      </p:sp>
      <p:sp>
        <p:nvSpPr>
          <p:cNvPr id="3" name="text_49"/>
          <p:cNvSpPr txBox="1"/>
          <p:nvPr/>
        </p:nvSpPr>
        <p:spPr>
          <a:xfrm>
            <a:off x="621792" y="905256"/>
            <a:ext cx="10972800" cy="630936"/>
          </a:xfrm>
          <a:prstGeom prst="rect">
            <a:avLst/>
          </a:prstGeom>
          <a:noFill/>
          <a:ln/>
        </p:spPr>
        <p:txBody>
          <a:bodyPr wrap="square" lIns="0" tIns="0" rIns="0" bIns="0" rtlCol="0" anchor="ctr"/>
          <a:lstStyle/>
          <a:p>
            <a:pPr marL="0" indent="0" algn="l">
              <a:buNone/>
            </a:pPr>
            <a:r>
              <a:rPr lang="en-US" sz="3100" b="1" kern="0" spc="-60" dirty="0">
                <a:solidFill>
                  <a:srgbClr val="152F37"/>
                </a:solidFill>
                <a:latin typeface="Arial" pitchFamily="34" charset="0"/>
                <a:ea typeface="Arial" pitchFamily="34" charset="-122"/>
                <a:cs typeface="Arial" pitchFamily="34" charset="-120"/>
              </a:rPr>
              <a:t>An agent can choose the next step.</a:t>
            </a:r>
            <a:endParaRPr lang="en-US" sz="3100" dirty="0"/>
          </a:p>
        </p:txBody>
      </p:sp>
      <p:sp>
        <p:nvSpPr>
          <p:cNvPr id="4" name="text_50"/>
          <p:cNvSpPr txBox="1"/>
          <p:nvPr/>
        </p:nvSpPr>
        <p:spPr>
          <a:xfrm>
            <a:off x="640080" y="1609344"/>
            <a:ext cx="10835640" cy="347472"/>
          </a:xfrm>
          <a:prstGeom prst="rect">
            <a:avLst/>
          </a:prstGeom>
          <a:noFill/>
          <a:ln/>
        </p:spPr>
        <p:txBody>
          <a:bodyPr wrap="square" lIns="0" tIns="0" rIns="0" bIns="0" rtlCol="0" anchor="ctr"/>
          <a:lstStyle/>
          <a:p>
            <a:pPr marL="0" indent="0" algn="l">
              <a:buNone/>
            </a:pPr>
            <a:r>
              <a:rPr lang="en-US" sz="1650" dirty="0">
                <a:solidFill>
                  <a:srgbClr val="55707A"/>
                </a:solidFill>
                <a:latin typeface="Arial" pitchFamily="34" charset="0"/>
                <a:ea typeface="Arial" pitchFamily="34" charset="-122"/>
                <a:cs typeface="Arial" pitchFamily="34" charset="-120"/>
              </a:rPr>
              <a:t>The distinction is how actions are selected—not whether the interface looks like a chat.</a:t>
            </a:r>
            <a:endParaRPr lang="en-US" sz="1650" dirty="0"/>
          </a:p>
        </p:txBody>
      </p:sp>
      <p:sp>
        <p:nvSpPr>
          <p:cNvPr id="5" name="shape_51"/>
          <p:cNvSpPr/>
          <p:nvPr/>
        </p:nvSpPr>
        <p:spPr>
          <a:xfrm>
            <a:off x="640080" y="2176272"/>
            <a:ext cx="3447288" cy="3410712"/>
          </a:xfrm>
          <a:prstGeom prst="roundRect">
            <a:avLst>
              <a:gd name="adj" fmla="val 2681"/>
            </a:avLst>
          </a:prstGeom>
          <a:solidFill>
            <a:srgbClr val="FFFFFF"/>
          </a:solidFill>
          <a:ln w="12700">
            <a:solidFill>
              <a:srgbClr val="D6E2DF"/>
            </a:solidFill>
            <a:prstDash val="solid"/>
          </a:ln>
        </p:spPr>
        <p:txBody>
          <a:bodyPr/>
          <a:lstStyle/>
          <a:p>
            <a:endParaRPr lang="en-IN"/>
          </a:p>
        </p:txBody>
      </p:sp>
      <p:sp>
        <p:nvSpPr>
          <p:cNvPr id="6" name="text_52"/>
          <p:cNvSpPr txBox="1"/>
          <p:nvPr/>
        </p:nvSpPr>
        <p:spPr>
          <a:xfrm>
            <a:off x="868680" y="2441448"/>
            <a:ext cx="2286000" cy="201168"/>
          </a:xfrm>
          <a:prstGeom prst="rect">
            <a:avLst/>
          </a:prstGeom>
          <a:noFill/>
          <a:ln/>
        </p:spPr>
        <p:txBody>
          <a:bodyPr wrap="square" lIns="0" tIns="0" rIns="0" bIns="0" rtlCol="0" anchor="ctr"/>
          <a:lstStyle/>
          <a:p>
            <a:pPr marL="0" indent="0" algn="l">
              <a:buNone/>
            </a:pPr>
            <a:r>
              <a:rPr lang="en-US" sz="1080" b="1" kern="0" spc="140" dirty="0">
                <a:solidFill>
                  <a:srgbClr val="007E80"/>
                </a:solidFill>
                <a:latin typeface="Arial" pitchFamily="34" charset="0"/>
                <a:ea typeface="Arial" pitchFamily="34" charset="-122"/>
                <a:cs typeface="Arial" pitchFamily="34" charset="-120"/>
              </a:rPr>
              <a:t>ASSISTANT</a:t>
            </a:r>
            <a:endParaRPr lang="en-US" sz="1080" dirty="0"/>
          </a:p>
        </p:txBody>
      </p:sp>
      <p:sp>
        <p:nvSpPr>
          <p:cNvPr id="7" name="shape_53"/>
          <p:cNvSpPr/>
          <p:nvPr/>
        </p:nvSpPr>
        <p:spPr>
          <a:xfrm>
            <a:off x="3214345" y="2509479"/>
            <a:ext cx="362560" cy="262158"/>
          </a:xfrm>
          <a:prstGeom prst="roundRect">
            <a:avLst>
              <a:gd name="adj" fmla="val 10464"/>
            </a:avLst>
          </a:prstGeom>
          <a:solidFill>
            <a:srgbClr val="FFFFFF">
              <a:alpha val="0"/>
            </a:srgbClr>
          </a:solidFill>
          <a:ln w="12700">
            <a:solidFill>
              <a:srgbClr val="007E80"/>
            </a:solidFill>
            <a:prstDash val="solid"/>
          </a:ln>
        </p:spPr>
        <p:txBody>
          <a:bodyPr/>
          <a:lstStyle/>
          <a:p>
            <a:endParaRPr lang="en-IN"/>
          </a:p>
        </p:txBody>
      </p:sp>
      <p:sp>
        <p:nvSpPr>
          <p:cNvPr id="8" name="line_54"/>
          <p:cNvSpPr/>
          <p:nvPr/>
        </p:nvSpPr>
        <p:spPr>
          <a:xfrm>
            <a:off x="3267334" y="2771638"/>
            <a:ext cx="0" cy="100401"/>
          </a:xfrm>
          <a:prstGeom prst="line">
            <a:avLst/>
          </a:prstGeom>
          <a:noFill/>
          <a:ln w="22860">
            <a:solidFill>
              <a:srgbClr val="007E80"/>
            </a:solidFill>
            <a:prstDash val="solid"/>
            <a:headEnd type="none"/>
            <a:tailEnd type="none"/>
          </a:ln>
        </p:spPr>
        <p:txBody>
          <a:bodyPr/>
          <a:lstStyle/>
          <a:p>
            <a:endParaRPr lang="en-IN"/>
          </a:p>
        </p:txBody>
      </p:sp>
      <p:sp>
        <p:nvSpPr>
          <p:cNvPr id="9" name="line_55"/>
          <p:cNvSpPr/>
          <p:nvPr/>
        </p:nvSpPr>
        <p:spPr>
          <a:xfrm flipV="1">
            <a:off x="3267334" y="2771638"/>
            <a:ext cx="105979" cy="100401"/>
          </a:xfrm>
          <a:prstGeom prst="line">
            <a:avLst/>
          </a:prstGeom>
          <a:noFill/>
          <a:ln w="22860">
            <a:solidFill>
              <a:srgbClr val="007E80"/>
            </a:solidFill>
            <a:prstDash val="solid"/>
            <a:headEnd type="none"/>
            <a:tailEnd type="none"/>
          </a:ln>
        </p:spPr>
        <p:txBody>
          <a:bodyPr/>
          <a:lstStyle/>
          <a:p>
            <a:endParaRPr lang="en-IN"/>
          </a:p>
        </p:txBody>
      </p:sp>
      <p:sp>
        <p:nvSpPr>
          <p:cNvPr id="10" name="line_56"/>
          <p:cNvSpPr/>
          <p:nvPr/>
        </p:nvSpPr>
        <p:spPr>
          <a:xfrm>
            <a:off x="3289645" y="2593147"/>
            <a:ext cx="206380" cy="0"/>
          </a:xfrm>
          <a:prstGeom prst="line">
            <a:avLst/>
          </a:prstGeom>
          <a:noFill/>
          <a:ln w="22860">
            <a:solidFill>
              <a:srgbClr val="007E80"/>
            </a:solidFill>
            <a:prstDash val="solid"/>
            <a:headEnd type="none"/>
            <a:tailEnd type="none"/>
          </a:ln>
        </p:spPr>
        <p:txBody>
          <a:bodyPr/>
          <a:lstStyle/>
          <a:p>
            <a:endParaRPr lang="en-IN"/>
          </a:p>
        </p:txBody>
      </p:sp>
      <p:sp>
        <p:nvSpPr>
          <p:cNvPr id="11" name="line_57"/>
          <p:cNvSpPr/>
          <p:nvPr/>
        </p:nvSpPr>
        <p:spPr>
          <a:xfrm>
            <a:off x="3289645" y="2671237"/>
            <a:ext cx="145024" cy="0"/>
          </a:xfrm>
          <a:prstGeom prst="line">
            <a:avLst/>
          </a:prstGeom>
          <a:noFill/>
          <a:ln w="22860">
            <a:solidFill>
              <a:srgbClr val="007E80"/>
            </a:solidFill>
            <a:prstDash val="solid"/>
            <a:headEnd type="none"/>
            <a:tailEnd type="none"/>
          </a:ln>
        </p:spPr>
        <p:txBody>
          <a:bodyPr/>
          <a:lstStyle/>
          <a:p>
            <a:endParaRPr lang="en-IN"/>
          </a:p>
        </p:txBody>
      </p:sp>
      <p:sp>
        <p:nvSpPr>
          <p:cNvPr id="12" name="text_58"/>
          <p:cNvSpPr txBox="1"/>
          <p:nvPr/>
        </p:nvSpPr>
        <p:spPr>
          <a:xfrm>
            <a:off x="868680" y="2971800"/>
            <a:ext cx="2834640" cy="484632"/>
          </a:xfrm>
          <a:prstGeom prst="rect">
            <a:avLst/>
          </a:prstGeom>
          <a:noFill/>
          <a:ln/>
        </p:spPr>
        <p:txBody>
          <a:bodyPr wrap="square" lIns="0" tIns="0" rIns="0" bIns="0" rtlCol="0" anchor="ctr"/>
          <a:lstStyle/>
          <a:p>
            <a:pPr marL="0" indent="0" algn="l">
              <a:buNone/>
            </a:pPr>
            <a:r>
              <a:rPr lang="en-US" sz="2900" b="1" dirty="0">
                <a:solidFill>
                  <a:srgbClr val="152F37"/>
                </a:solidFill>
                <a:latin typeface="Arial" pitchFamily="34" charset="0"/>
                <a:ea typeface="Arial" pitchFamily="34" charset="-122"/>
                <a:cs typeface="Arial" pitchFamily="34" charset="-120"/>
              </a:rPr>
              <a:t>Respond</a:t>
            </a:r>
            <a:endParaRPr lang="en-US" sz="2900" dirty="0"/>
          </a:p>
        </p:txBody>
      </p:sp>
      <p:sp>
        <p:nvSpPr>
          <p:cNvPr id="13" name="text_59"/>
          <p:cNvSpPr txBox="1"/>
          <p:nvPr/>
        </p:nvSpPr>
        <p:spPr>
          <a:xfrm>
            <a:off x="868680" y="3639312"/>
            <a:ext cx="2926080" cy="658368"/>
          </a:xfrm>
          <a:prstGeom prst="rect">
            <a:avLst/>
          </a:prstGeom>
          <a:noFill/>
          <a:ln/>
        </p:spPr>
        <p:txBody>
          <a:bodyPr wrap="square" lIns="0" tIns="0" rIns="0" bIns="0" rtlCol="0" anchor="ctr"/>
          <a:lstStyle/>
          <a:p>
            <a:pPr marL="0" indent="0" algn="l">
              <a:buNone/>
            </a:pPr>
            <a:r>
              <a:rPr lang="en-US" sz="1800" dirty="0">
                <a:solidFill>
                  <a:srgbClr val="55707A"/>
                </a:solidFill>
                <a:latin typeface="Arial" pitchFamily="34" charset="0"/>
                <a:ea typeface="Arial" pitchFamily="34" charset="-122"/>
                <a:cs typeface="Arial" pitchFamily="34" charset="-120"/>
              </a:rPr>
              <a:t>Generate an answer</a:t>
            </a:r>
            <a:endParaRPr lang="en-US" sz="1800" dirty="0"/>
          </a:p>
          <a:p>
            <a:pPr marL="0" indent="0" algn="l">
              <a:buNone/>
            </a:pPr>
            <a:r>
              <a:rPr lang="en-US" sz="1800" dirty="0">
                <a:solidFill>
                  <a:srgbClr val="55707A"/>
                </a:solidFill>
                <a:latin typeface="Arial" pitchFamily="34" charset="0"/>
                <a:ea typeface="Arial" pitchFamily="34" charset="-122"/>
                <a:cs typeface="Arial" pitchFamily="34" charset="-120"/>
              </a:rPr>
              <a:t>to the current request.</a:t>
            </a:r>
            <a:endParaRPr lang="en-US" sz="1800" dirty="0"/>
          </a:p>
        </p:txBody>
      </p:sp>
      <p:sp>
        <p:nvSpPr>
          <p:cNvPr id="14" name="line_60"/>
          <p:cNvSpPr/>
          <p:nvPr/>
        </p:nvSpPr>
        <p:spPr>
          <a:xfrm>
            <a:off x="868680" y="4553712"/>
            <a:ext cx="2971800" cy="0"/>
          </a:xfrm>
          <a:prstGeom prst="line">
            <a:avLst/>
          </a:prstGeom>
          <a:noFill/>
          <a:ln w="8890">
            <a:solidFill>
              <a:srgbClr val="D6E2DF"/>
            </a:solidFill>
            <a:prstDash val="solid"/>
            <a:headEnd type="none"/>
            <a:tailEnd type="none"/>
          </a:ln>
        </p:spPr>
        <p:txBody>
          <a:bodyPr/>
          <a:lstStyle/>
          <a:p>
            <a:endParaRPr lang="en-IN"/>
          </a:p>
        </p:txBody>
      </p:sp>
      <p:sp>
        <p:nvSpPr>
          <p:cNvPr id="15" name="text_61"/>
          <p:cNvSpPr txBox="1"/>
          <p:nvPr/>
        </p:nvSpPr>
        <p:spPr>
          <a:xfrm>
            <a:off x="868680" y="4773168"/>
            <a:ext cx="2834640" cy="164592"/>
          </a:xfrm>
          <a:prstGeom prst="rect">
            <a:avLst/>
          </a:prstGeom>
          <a:noFill/>
          <a:ln/>
        </p:spPr>
        <p:txBody>
          <a:bodyPr wrap="square" lIns="0" tIns="0" rIns="0" bIns="0" rtlCol="0" anchor="ctr"/>
          <a:lstStyle/>
          <a:p>
            <a:pPr marL="0" indent="0" algn="l">
              <a:buNone/>
            </a:pPr>
            <a:r>
              <a:rPr lang="en-US" sz="940" b="1" kern="0" spc="110" dirty="0">
                <a:solidFill>
                  <a:srgbClr val="007E80"/>
                </a:solidFill>
                <a:latin typeface="Arial" pitchFamily="34" charset="0"/>
                <a:ea typeface="Arial" pitchFamily="34" charset="-122"/>
                <a:cs typeface="Arial" pitchFamily="34" charset="-120"/>
              </a:rPr>
              <a:t>EXAMPLE</a:t>
            </a:r>
            <a:endParaRPr lang="en-US" sz="940" dirty="0"/>
          </a:p>
        </p:txBody>
      </p:sp>
      <p:sp>
        <p:nvSpPr>
          <p:cNvPr id="16" name="text_62"/>
          <p:cNvSpPr txBox="1"/>
          <p:nvPr/>
        </p:nvSpPr>
        <p:spPr>
          <a:xfrm>
            <a:off x="868680" y="5047488"/>
            <a:ext cx="2953512" cy="292608"/>
          </a:xfrm>
          <a:prstGeom prst="rect">
            <a:avLst/>
          </a:prstGeom>
          <a:noFill/>
          <a:ln/>
        </p:spPr>
        <p:txBody>
          <a:bodyPr wrap="square" lIns="0" tIns="0" rIns="0" bIns="0" rtlCol="0" anchor="ctr"/>
          <a:lstStyle/>
          <a:p>
            <a:pPr marL="0" indent="0" algn="l">
              <a:buNone/>
            </a:pPr>
            <a:r>
              <a:rPr lang="en-US" sz="1500" dirty="0">
                <a:solidFill>
                  <a:srgbClr val="152F37"/>
                </a:solidFill>
                <a:latin typeface="Arial" pitchFamily="34" charset="0"/>
                <a:ea typeface="Arial" pitchFamily="34" charset="-122"/>
                <a:cs typeface="Arial" pitchFamily="34" charset="-120"/>
              </a:rPr>
              <a:t>Draft a supplier email.</a:t>
            </a:r>
            <a:endParaRPr lang="en-US" sz="1500" dirty="0"/>
          </a:p>
        </p:txBody>
      </p:sp>
      <p:sp>
        <p:nvSpPr>
          <p:cNvPr id="17" name="shape_63"/>
          <p:cNvSpPr/>
          <p:nvPr/>
        </p:nvSpPr>
        <p:spPr>
          <a:xfrm>
            <a:off x="4370832" y="2176272"/>
            <a:ext cx="3447288" cy="3410712"/>
          </a:xfrm>
          <a:prstGeom prst="roundRect">
            <a:avLst>
              <a:gd name="adj" fmla="val 2681"/>
            </a:avLst>
          </a:prstGeom>
          <a:solidFill>
            <a:srgbClr val="FFFFFF"/>
          </a:solidFill>
          <a:ln w="12700">
            <a:solidFill>
              <a:srgbClr val="D6E2DF"/>
            </a:solidFill>
            <a:prstDash val="solid"/>
          </a:ln>
        </p:spPr>
        <p:txBody>
          <a:bodyPr/>
          <a:lstStyle/>
          <a:p>
            <a:endParaRPr lang="en-IN"/>
          </a:p>
        </p:txBody>
      </p:sp>
      <p:sp>
        <p:nvSpPr>
          <p:cNvPr id="18" name="text_64"/>
          <p:cNvSpPr txBox="1"/>
          <p:nvPr/>
        </p:nvSpPr>
        <p:spPr>
          <a:xfrm>
            <a:off x="4599432" y="2441448"/>
            <a:ext cx="2286000" cy="201168"/>
          </a:xfrm>
          <a:prstGeom prst="rect">
            <a:avLst/>
          </a:prstGeom>
          <a:noFill/>
          <a:ln/>
        </p:spPr>
        <p:txBody>
          <a:bodyPr wrap="square" lIns="0" tIns="0" rIns="0" bIns="0" rtlCol="0" anchor="ctr"/>
          <a:lstStyle/>
          <a:p>
            <a:pPr marL="0" indent="0" algn="l">
              <a:buNone/>
            </a:pPr>
            <a:r>
              <a:rPr lang="en-US" sz="1080" b="1" kern="0" spc="140" dirty="0">
                <a:solidFill>
                  <a:srgbClr val="7B70C3"/>
                </a:solidFill>
                <a:latin typeface="Arial" pitchFamily="34" charset="0"/>
                <a:ea typeface="Arial" pitchFamily="34" charset="-122"/>
                <a:cs typeface="Arial" pitchFamily="34" charset="-120"/>
              </a:rPr>
              <a:t>FIXED WORKFLOW</a:t>
            </a:r>
            <a:endParaRPr lang="en-US" sz="1080" dirty="0"/>
          </a:p>
        </p:txBody>
      </p:sp>
      <p:sp>
        <p:nvSpPr>
          <p:cNvPr id="19" name="line_65"/>
          <p:cNvSpPr/>
          <p:nvPr/>
        </p:nvSpPr>
        <p:spPr>
          <a:xfrm>
            <a:off x="7014820" y="2559680"/>
            <a:ext cx="200802" cy="122712"/>
          </a:xfrm>
          <a:prstGeom prst="line">
            <a:avLst/>
          </a:prstGeom>
          <a:noFill/>
          <a:ln w="22860">
            <a:solidFill>
              <a:srgbClr val="7B70C3"/>
            </a:solidFill>
            <a:prstDash val="solid"/>
            <a:headEnd type="none"/>
            <a:tailEnd type="none"/>
          </a:ln>
        </p:spPr>
        <p:txBody>
          <a:bodyPr/>
          <a:lstStyle/>
          <a:p>
            <a:endParaRPr lang="en-IN"/>
          </a:p>
        </p:txBody>
      </p:sp>
      <p:sp>
        <p:nvSpPr>
          <p:cNvPr id="20" name="line_66"/>
          <p:cNvSpPr/>
          <p:nvPr/>
        </p:nvSpPr>
        <p:spPr>
          <a:xfrm flipV="1">
            <a:off x="7014820" y="2682392"/>
            <a:ext cx="200802" cy="122712"/>
          </a:xfrm>
          <a:prstGeom prst="line">
            <a:avLst/>
          </a:prstGeom>
          <a:noFill/>
          <a:ln w="22860">
            <a:solidFill>
              <a:srgbClr val="7B70C3"/>
            </a:solidFill>
            <a:prstDash val="solid"/>
            <a:headEnd type="none"/>
            <a:tailEnd type="none"/>
          </a:ln>
        </p:spPr>
        <p:txBody>
          <a:bodyPr/>
          <a:lstStyle/>
          <a:p>
            <a:endParaRPr lang="en-IN"/>
          </a:p>
        </p:txBody>
      </p:sp>
      <p:sp>
        <p:nvSpPr>
          <p:cNvPr id="21" name="circle_67"/>
          <p:cNvSpPr/>
          <p:nvPr/>
        </p:nvSpPr>
        <p:spPr>
          <a:xfrm>
            <a:off x="6953463" y="2498324"/>
            <a:ext cx="122712" cy="122712"/>
          </a:xfrm>
          <a:prstGeom prst="ellipse">
            <a:avLst/>
          </a:prstGeom>
          <a:solidFill>
            <a:srgbClr val="FFFFFF">
              <a:alpha val="0"/>
            </a:srgbClr>
          </a:solidFill>
          <a:ln w="21590">
            <a:solidFill>
              <a:srgbClr val="7B70C3"/>
            </a:solidFill>
            <a:prstDash val="solid"/>
          </a:ln>
        </p:spPr>
        <p:txBody>
          <a:bodyPr/>
          <a:lstStyle/>
          <a:p>
            <a:endParaRPr lang="en-IN"/>
          </a:p>
        </p:txBody>
      </p:sp>
      <p:sp>
        <p:nvSpPr>
          <p:cNvPr id="22" name="circle_68"/>
          <p:cNvSpPr/>
          <p:nvPr/>
        </p:nvSpPr>
        <p:spPr>
          <a:xfrm>
            <a:off x="6953463" y="2743749"/>
            <a:ext cx="122712" cy="122712"/>
          </a:xfrm>
          <a:prstGeom prst="ellipse">
            <a:avLst/>
          </a:prstGeom>
          <a:solidFill>
            <a:srgbClr val="FFFFFF">
              <a:alpha val="0"/>
            </a:srgbClr>
          </a:solidFill>
          <a:ln w="21590">
            <a:solidFill>
              <a:srgbClr val="7B70C3"/>
            </a:solidFill>
            <a:prstDash val="solid"/>
          </a:ln>
        </p:spPr>
        <p:txBody>
          <a:bodyPr/>
          <a:lstStyle/>
          <a:p>
            <a:endParaRPr lang="en-IN"/>
          </a:p>
        </p:txBody>
      </p:sp>
      <p:sp>
        <p:nvSpPr>
          <p:cNvPr id="23" name="circle_69"/>
          <p:cNvSpPr/>
          <p:nvPr/>
        </p:nvSpPr>
        <p:spPr>
          <a:xfrm>
            <a:off x="7210044" y="2621036"/>
            <a:ext cx="122712" cy="122712"/>
          </a:xfrm>
          <a:prstGeom prst="ellipse">
            <a:avLst/>
          </a:prstGeom>
          <a:solidFill>
            <a:srgbClr val="FFFFFF">
              <a:alpha val="0"/>
            </a:srgbClr>
          </a:solidFill>
          <a:ln w="21590">
            <a:solidFill>
              <a:srgbClr val="7B70C3"/>
            </a:solidFill>
            <a:prstDash val="solid"/>
          </a:ln>
        </p:spPr>
        <p:txBody>
          <a:bodyPr/>
          <a:lstStyle/>
          <a:p>
            <a:endParaRPr lang="en-IN"/>
          </a:p>
        </p:txBody>
      </p:sp>
      <p:sp>
        <p:nvSpPr>
          <p:cNvPr id="24" name="text_70"/>
          <p:cNvSpPr txBox="1"/>
          <p:nvPr/>
        </p:nvSpPr>
        <p:spPr>
          <a:xfrm>
            <a:off x="4599432" y="2971800"/>
            <a:ext cx="2834640" cy="484632"/>
          </a:xfrm>
          <a:prstGeom prst="rect">
            <a:avLst/>
          </a:prstGeom>
          <a:noFill/>
          <a:ln/>
        </p:spPr>
        <p:txBody>
          <a:bodyPr wrap="square" lIns="0" tIns="0" rIns="0" bIns="0" rtlCol="0" anchor="ctr"/>
          <a:lstStyle/>
          <a:p>
            <a:pPr marL="0" indent="0" algn="l">
              <a:buNone/>
            </a:pPr>
            <a:r>
              <a:rPr lang="en-US" sz="2900" b="1" dirty="0">
                <a:solidFill>
                  <a:srgbClr val="152F37"/>
                </a:solidFill>
                <a:latin typeface="Arial" pitchFamily="34" charset="0"/>
                <a:ea typeface="Arial" pitchFamily="34" charset="-122"/>
                <a:cs typeface="Arial" pitchFamily="34" charset="-120"/>
              </a:rPr>
              <a:t>Follow</a:t>
            </a:r>
            <a:endParaRPr lang="en-US" sz="2900" dirty="0"/>
          </a:p>
        </p:txBody>
      </p:sp>
      <p:sp>
        <p:nvSpPr>
          <p:cNvPr id="25" name="text_71"/>
          <p:cNvSpPr txBox="1"/>
          <p:nvPr/>
        </p:nvSpPr>
        <p:spPr>
          <a:xfrm>
            <a:off x="4599432" y="3639312"/>
            <a:ext cx="2926080" cy="658368"/>
          </a:xfrm>
          <a:prstGeom prst="rect">
            <a:avLst/>
          </a:prstGeom>
          <a:noFill/>
          <a:ln/>
        </p:spPr>
        <p:txBody>
          <a:bodyPr wrap="square" lIns="0" tIns="0" rIns="0" bIns="0" rtlCol="0" anchor="ctr"/>
          <a:lstStyle/>
          <a:p>
            <a:pPr marL="0" indent="0" algn="l">
              <a:buNone/>
            </a:pPr>
            <a:r>
              <a:rPr lang="en-US" sz="1800" dirty="0">
                <a:solidFill>
                  <a:srgbClr val="55707A"/>
                </a:solidFill>
                <a:latin typeface="Arial" pitchFamily="34" charset="0"/>
                <a:ea typeface="Arial" pitchFamily="34" charset="-122"/>
                <a:cs typeface="Arial" pitchFamily="34" charset="-120"/>
              </a:rPr>
              <a:t>Run through a sequence</a:t>
            </a:r>
            <a:endParaRPr lang="en-US" sz="1800" dirty="0"/>
          </a:p>
          <a:p>
            <a:pPr marL="0" indent="0" algn="l">
              <a:buNone/>
            </a:pPr>
            <a:r>
              <a:rPr lang="en-US" sz="1800" dirty="0">
                <a:solidFill>
                  <a:srgbClr val="55707A"/>
                </a:solidFill>
                <a:latin typeface="Arial" pitchFamily="34" charset="0"/>
                <a:ea typeface="Arial" pitchFamily="34" charset="-122"/>
                <a:cs typeface="Arial" pitchFamily="34" charset="-120"/>
              </a:rPr>
              <a:t>designed in advance.</a:t>
            </a:r>
            <a:endParaRPr lang="en-US" sz="1800" dirty="0"/>
          </a:p>
        </p:txBody>
      </p:sp>
      <p:sp>
        <p:nvSpPr>
          <p:cNvPr id="26" name="line_72"/>
          <p:cNvSpPr/>
          <p:nvPr/>
        </p:nvSpPr>
        <p:spPr>
          <a:xfrm>
            <a:off x="4599432" y="4553712"/>
            <a:ext cx="2971800" cy="0"/>
          </a:xfrm>
          <a:prstGeom prst="line">
            <a:avLst/>
          </a:prstGeom>
          <a:noFill/>
          <a:ln w="8890">
            <a:solidFill>
              <a:srgbClr val="D6E2DF"/>
            </a:solidFill>
            <a:prstDash val="solid"/>
            <a:headEnd type="none"/>
            <a:tailEnd type="none"/>
          </a:ln>
        </p:spPr>
        <p:txBody>
          <a:bodyPr/>
          <a:lstStyle/>
          <a:p>
            <a:endParaRPr lang="en-IN"/>
          </a:p>
        </p:txBody>
      </p:sp>
      <p:sp>
        <p:nvSpPr>
          <p:cNvPr id="27" name="text_73"/>
          <p:cNvSpPr txBox="1"/>
          <p:nvPr/>
        </p:nvSpPr>
        <p:spPr>
          <a:xfrm>
            <a:off x="4599432" y="4773168"/>
            <a:ext cx="2834640" cy="164592"/>
          </a:xfrm>
          <a:prstGeom prst="rect">
            <a:avLst/>
          </a:prstGeom>
          <a:noFill/>
          <a:ln/>
        </p:spPr>
        <p:txBody>
          <a:bodyPr wrap="square" lIns="0" tIns="0" rIns="0" bIns="0" rtlCol="0" anchor="ctr"/>
          <a:lstStyle/>
          <a:p>
            <a:pPr marL="0" indent="0" algn="l">
              <a:buNone/>
            </a:pPr>
            <a:r>
              <a:rPr lang="en-US" sz="940" b="1" kern="0" spc="110" dirty="0">
                <a:solidFill>
                  <a:srgbClr val="7B70C3"/>
                </a:solidFill>
                <a:latin typeface="Arial" pitchFamily="34" charset="0"/>
                <a:ea typeface="Arial" pitchFamily="34" charset="-122"/>
                <a:cs typeface="Arial" pitchFamily="34" charset="-120"/>
              </a:rPr>
              <a:t>EXAMPLE</a:t>
            </a:r>
            <a:endParaRPr lang="en-US" sz="940" dirty="0"/>
          </a:p>
        </p:txBody>
      </p:sp>
      <p:sp>
        <p:nvSpPr>
          <p:cNvPr id="28" name="text_74"/>
          <p:cNvSpPr txBox="1"/>
          <p:nvPr/>
        </p:nvSpPr>
        <p:spPr>
          <a:xfrm>
            <a:off x="4599432" y="5047488"/>
            <a:ext cx="2953512" cy="292608"/>
          </a:xfrm>
          <a:prstGeom prst="rect">
            <a:avLst/>
          </a:prstGeom>
          <a:noFill/>
          <a:ln/>
        </p:spPr>
        <p:txBody>
          <a:bodyPr wrap="square" lIns="0" tIns="0" rIns="0" bIns="0" rtlCol="0" anchor="ctr"/>
          <a:lstStyle/>
          <a:p>
            <a:pPr marL="0" indent="0" algn="l">
              <a:buNone/>
            </a:pPr>
            <a:r>
              <a:rPr lang="en-US" sz="1500" dirty="0">
                <a:solidFill>
                  <a:srgbClr val="152F37"/>
                </a:solidFill>
                <a:latin typeface="Arial" pitchFamily="34" charset="0"/>
                <a:ea typeface="Arial" pitchFamily="34" charset="-122"/>
                <a:cs typeface="Arial" pitchFamily="34" charset="-120"/>
              </a:rPr>
              <a:t>Extract → classify → save.</a:t>
            </a:r>
            <a:endParaRPr lang="en-US" sz="1500" dirty="0"/>
          </a:p>
        </p:txBody>
      </p:sp>
      <p:sp>
        <p:nvSpPr>
          <p:cNvPr id="29" name="shape_75"/>
          <p:cNvSpPr/>
          <p:nvPr/>
        </p:nvSpPr>
        <p:spPr>
          <a:xfrm>
            <a:off x="8101584" y="2176272"/>
            <a:ext cx="3447288" cy="3410712"/>
          </a:xfrm>
          <a:prstGeom prst="roundRect">
            <a:avLst>
              <a:gd name="adj" fmla="val 2681"/>
            </a:avLst>
          </a:prstGeom>
          <a:solidFill>
            <a:srgbClr val="007E80"/>
          </a:solidFill>
          <a:ln w="12700">
            <a:solidFill>
              <a:srgbClr val="007E80"/>
            </a:solidFill>
            <a:prstDash val="solid"/>
          </a:ln>
        </p:spPr>
        <p:txBody>
          <a:bodyPr/>
          <a:lstStyle/>
          <a:p>
            <a:endParaRPr lang="en-IN"/>
          </a:p>
        </p:txBody>
      </p:sp>
      <p:sp>
        <p:nvSpPr>
          <p:cNvPr id="30" name="text_76"/>
          <p:cNvSpPr txBox="1"/>
          <p:nvPr/>
        </p:nvSpPr>
        <p:spPr>
          <a:xfrm>
            <a:off x="8330184" y="2441448"/>
            <a:ext cx="2286000" cy="201168"/>
          </a:xfrm>
          <a:prstGeom prst="rect">
            <a:avLst/>
          </a:prstGeom>
          <a:noFill/>
          <a:ln/>
        </p:spPr>
        <p:txBody>
          <a:bodyPr wrap="square" lIns="0" tIns="0" rIns="0" bIns="0" rtlCol="0" anchor="ctr"/>
          <a:lstStyle/>
          <a:p>
            <a:pPr marL="0" indent="0" algn="l">
              <a:buNone/>
            </a:pPr>
            <a:r>
              <a:rPr lang="en-US" sz="1080" b="1" kern="0" spc="140" dirty="0">
                <a:solidFill>
                  <a:srgbClr val="69DFC8"/>
                </a:solidFill>
                <a:latin typeface="Arial" pitchFamily="34" charset="0"/>
                <a:ea typeface="Arial" pitchFamily="34" charset="-122"/>
                <a:cs typeface="Arial" pitchFamily="34" charset="-120"/>
              </a:rPr>
              <a:t>AGENT</a:t>
            </a:r>
            <a:endParaRPr lang="en-US" sz="1080" dirty="0"/>
          </a:p>
        </p:txBody>
      </p:sp>
      <p:sp>
        <p:nvSpPr>
          <p:cNvPr id="31" name="circle_77"/>
          <p:cNvSpPr/>
          <p:nvPr/>
        </p:nvSpPr>
        <p:spPr>
          <a:xfrm>
            <a:off x="10678638" y="2503902"/>
            <a:ext cx="356982" cy="356982"/>
          </a:xfrm>
          <a:prstGeom prst="ellipse">
            <a:avLst/>
          </a:prstGeom>
          <a:solidFill>
            <a:srgbClr val="FFFFFF">
              <a:alpha val="0"/>
            </a:srgbClr>
          </a:solidFill>
          <a:ln w="21590">
            <a:solidFill>
              <a:srgbClr val="69DFC8"/>
            </a:solidFill>
            <a:prstDash val="solid"/>
          </a:ln>
        </p:spPr>
        <p:txBody>
          <a:bodyPr/>
          <a:lstStyle/>
          <a:p>
            <a:endParaRPr lang="en-IN"/>
          </a:p>
        </p:txBody>
      </p:sp>
      <p:sp>
        <p:nvSpPr>
          <p:cNvPr id="32" name="circle_78"/>
          <p:cNvSpPr/>
          <p:nvPr/>
        </p:nvSpPr>
        <p:spPr>
          <a:xfrm>
            <a:off x="10773461" y="2598725"/>
            <a:ext cx="167335" cy="167335"/>
          </a:xfrm>
          <a:prstGeom prst="ellipse">
            <a:avLst/>
          </a:prstGeom>
          <a:solidFill>
            <a:srgbClr val="FFFFFF">
              <a:alpha val="0"/>
            </a:srgbClr>
          </a:solidFill>
          <a:ln w="21590">
            <a:solidFill>
              <a:srgbClr val="69DFC8"/>
            </a:solidFill>
            <a:prstDash val="solid"/>
          </a:ln>
        </p:spPr>
        <p:txBody>
          <a:bodyPr/>
          <a:lstStyle/>
          <a:p>
            <a:endParaRPr lang="en-IN"/>
          </a:p>
        </p:txBody>
      </p:sp>
      <p:sp>
        <p:nvSpPr>
          <p:cNvPr id="33" name="circle_79"/>
          <p:cNvSpPr/>
          <p:nvPr/>
        </p:nvSpPr>
        <p:spPr>
          <a:xfrm>
            <a:off x="10834817" y="2660081"/>
            <a:ext cx="44623" cy="44623"/>
          </a:xfrm>
          <a:prstGeom prst="ellipse">
            <a:avLst/>
          </a:prstGeom>
          <a:solidFill>
            <a:srgbClr val="69DFC8"/>
          </a:solidFill>
          <a:ln w="12700">
            <a:solidFill>
              <a:srgbClr val="69DFC8"/>
            </a:solidFill>
            <a:prstDash val="solid"/>
          </a:ln>
        </p:spPr>
        <p:txBody>
          <a:bodyPr/>
          <a:lstStyle/>
          <a:p>
            <a:endParaRPr lang="en-IN"/>
          </a:p>
        </p:txBody>
      </p:sp>
      <p:sp>
        <p:nvSpPr>
          <p:cNvPr id="34" name="line_80"/>
          <p:cNvSpPr/>
          <p:nvPr/>
        </p:nvSpPr>
        <p:spPr>
          <a:xfrm flipV="1">
            <a:off x="10885018" y="2481590"/>
            <a:ext cx="167335" cy="161757"/>
          </a:xfrm>
          <a:prstGeom prst="line">
            <a:avLst/>
          </a:prstGeom>
          <a:noFill/>
          <a:ln w="22860">
            <a:solidFill>
              <a:srgbClr val="69DFC8"/>
            </a:solidFill>
            <a:prstDash val="solid"/>
            <a:headEnd type="none"/>
            <a:tailEnd type="none"/>
          </a:ln>
        </p:spPr>
        <p:txBody>
          <a:bodyPr/>
          <a:lstStyle/>
          <a:p>
            <a:endParaRPr lang="en-IN"/>
          </a:p>
        </p:txBody>
      </p:sp>
      <p:sp>
        <p:nvSpPr>
          <p:cNvPr id="35" name="line_81"/>
          <p:cNvSpPr/>
          <p:nvPr/>
        </p:nvSpPr>
        <p:spPr>
          <a:xfrm>
            <a:off x="10951952" y="2481590"/>
            <a:ext cx="100401" cy="0"/>
          </a:xfrm>
          <a:prstGeom prst="line">
            <a:avLst/>
          </a:prstGeom>
          <a:noFill/>
          <a:ln w="22860">
            <a:solidFill>
              <a:srgbClr val="69DFC8"/>
            </a:solidFill>
            <a:prstDash val="solid"/>
            <a:headEnd type="none"/>
            <a:tailEnd type="none"/>
          </a:ln>
        </p:spPr>
        <p:txBody>
          <a:bodyPr/>
          <a:lstStyle/>
          <a:p>
            <a:endParaRPr lang="en-IN"/>
          </a:p>
        </p:txBody>
      </p:sp>
      <p:sp>
        <p:nvSpPr>
          <p:cNvPr id="36" name="line_82"/>
          <p:cNvSpPr/>
          <p:nvPr/>
        </p:nvSpPr>
        <p:spPr>
          <a:xfrm>
            <a:off x="11052353" y="2481590"/>
            <a:ext cx="0" cy="105979"/>
          </a:xfrm>
          <a:prstGeom prst="line">
            <a:avLst/>
          </a:prstGeom>
          <a:noFill/>
          <a:ln w="22860">
            <a:solidFill>
              <a:srgbClr val="69DFC8"/>
            </a:solidFill>
            <a:prstDash val="solid"/>
            <a:headEnd type="none"/>
            <a:tailEnd type="none"/>
          </a:ln>
        </p:spPr>
        <p:txBody>
          <a:bodyPr/>
          <a:lstStyle/>
          <a:p>
            <a:endParaRPr lang="en-IN"/>
          </a:p>
        </p:txBody>
      </p:sp>
      <p:sp>
        <p:nvSpPr>
          <p:cNvPr id="37" name="text_83"/>
          <p:cNvSpPr txBox="1"/>
          <p:nvPr/>
        </p:nvSpPr>
        <p:spPr>
          <a:xfrm>
            <a:off x="8330184" y="2971800"/>
            <a:ext cx="2834640" cy="484632"/>
          </a:xfrm>
          <a:prstGeom prst="rect">
            <a:avLst/>
          </a:prstGeom>
          <a:noFill/>
          <a:ln/>
        </p:spPr>
        <p:txBody>
          <a:bodyPr wrap="square" lIns="0" tIns="0" rIns="0" bIns="0" rtlCol="0" anchor="ctr"/>
          <a:lstStyle/>
          <a:p>
            <a:pPr marL="0" indent="0" algn="l">
              <a:buNone/>
            </a:pPr>
            <a:r>
              <a:rPr lang="en-US" sz="2900" b="1" dirty="0">
                <a:solidFill>
                  <a:srgbClr val="FFFFFF"/>
                </a:solidFill>
                <a:latin typeface="Arial" pitchFamily="34" charset="0"/>
                <a:ea typeface="Arial" pitchFamily="34" charset="-122"/>
                <a:cs typeface="Arial" pitchFamily="34" charset="-120"/>
              </a:rPr>
              <a:t>Adapt</a:t>
            </a:r>
            <a:endParaRPr lang="en-US" sz="2900" dirty="0"/>
          </a:p>
        </p:txBody>
      </p:sp>
      <p:sp>
        <p:nvSpPr>
          <p:cNvPr id="38" name="text_84"/>
          <p:cNvSpPr txBox="1"/>
          <p:nvPr/>
        </p:nvSpPr>
        <p:spPr>
          <a:xfrm>
            <a:off x="8330184" y="3639312"/>
            <a:ext cx="2926080" cy="658368"/>
          </a:xfrm>
          <a:prstGeom prst="rect">
            <a:avLst/>
          </a:prstGeom>
          <a:noFill/>
          <a:ln/>
        </p:spPr>
        <p:txBody>
          <a:bodyPr wrap="square" lIns="0" tIns="0" rIns="0" bIns="0" rtlCol="0" anchor="ctr"/>
          <a:lstStyle/>
          <a:p>
            <a:pPr marL="0" indent="0" algn="l">
              <a:buNone/>
            </a:pPr>
            <a:r>
              <a:rPr lang="en-US" sz="1800" dirty="0">
                <a:solidFill>
                  <a:srgbClr val="DCF4ED"/>
                </a:solidFill>
                <a:latin typeface="Arial" pitchFamily="34" charset="0"/>
                <a:ea typeface="Arial" pitchFamily="34" charset="-122"/>
                <a:cs typeface="Arial" pitchFamily="34" charset="-120"/>
              </a:rPr>
              <a:t>Select tools and adjust</a:t>
            </a:r>
            <a:endParaRPr lang="en-US" sz="1800" dirty="0"/>
          </a:p>
          <a:p>
            <a:pPr marL="0" indent="0" algn="l">
              <a:buNone/>
            </a:pPr>
            <a:r>
              <a:rPr lang="en-US" sz="1800" dirty="0">
                <a:solidFill>
                  <a:srgbClr val="DCF4ED"/>
                </a:solidFill>
                <a:latin typeface="Arial" pitchFamily="34" charset="0"/>
                <a:ea typeface="Arial" pitchFamily="34" charset="-122"/>
                <a:cs typeface="Arial" pitchFamily="34" charset="-120"/>
              </a:rPr>
              <a:t>actions using feedback.</a:t>
            </a:r>
            <a:endParaRPr lang="en-US" sz="1800" dirty="0"/>
          </a:p>
        </p:txBody>
      </p:sp>
      <p:sp>
        <p:nvSpPr>
          <p:cNvPr id="39" name="line_85"/>
          <p:cNvSpPr/>
          <p:nvPr/>
        </p:nvSpPr>
        <p:spPr>
          <a:xfrm>
            <a:off x="8330184" y="4553712"/>
            <a:ext cx="2971800" cy="0"/>
          </a:xfrm>
          <a:prstGeom prst="line">
            <a:avLst/>
          </a:prstGeom>
          <a:noFill/>
          <a:ln w="8890">
            <a:solidFill>
              <a:srgbClr val="49A59C"/>
            </a:solidFill>
            <a:prstDash val="solid"/>
            <a:headEnd type="none"/>
            <a:tailEnd type="none"/>
          </a:ln>
        </p:spPr>
        <p:txBody>
          <a:bodyPr/>
          <a:lstStyle/>
          <a:p>
            <a:endParaRPr lang="en-IN"/>
          </a:p>
        </p:txBody>
      </p:sp>
      <p:sp>
        <p:nvSpPr>
          <p:cNvPr id="40" name="text_86"/>
          <p:cNvSpPr txBox="1"/>
          <p:nvPr/>
        </p:nvSpPr>
        <p:spPr>
          <a:xfrm>
            <a:off x="8330184" y="4773168"/>
            <a:ext cx="2834640" cy="164592"/>
          </a:xfrm>
          <a:prstGeom prst="rect">
            <a:avLst/>
          </a:prstGeom>
          <a:noFill/>
          <a:ln/>
        </p:spPr>
        <p:txBody>
          <a:bodyPr wrap="square" lIns="0" tIns="0" rIns="0" bIns="0" rtlCol="0" anchor="ctr"/>
          <a:lstStyle/>
          <a:p>
            <a:pPr marL="0" indent="0" algn="l">
              <a:buNone/>
            </a:pPr>
            <a:r>
              <a:rPr lang="en-US" sz="940" b="1" kern="0" spc="110" dirty="0">
                <a:solidFill>
                  <a:srgbClr val="69DFC8"/>
                </a:solidFill>
                <a:latin typeface="Arial" pitchFamily="34" charset="0"/>
                <a:ea typeface="Arial" pitchFamily="34" charset="-122"/>
                <a:cs typeface="Arial" pitchFamily="34" charset="-120"/>
              </a:rPr>
              <a:t>EXAMPLE</a:t>
            </a:r>
            <a:endParaRPr lang="en-US" sz="940" dirty="0"/>
          </a:p>
        </p:txBody>
      </p:sp>
      <p:sp>
        <p:nvSpPr>
          <p:cNvPr id="41" name="text_87"/>
          <p:cNvSpPr txBox="1"/>
          <p:nvPr/>
        </p:nvSpPr>
        <p:spPr>
          <a:xfrm>
            <a:off x="8330184" y="5047488"/>
            <a:ext cx="2953512" cy="292608"/>
          </a:xfrm>
          <a:prstGeom prst="rect">
            <a:avLst/>
          </a:prstGeom>
          <a:noFill/>
          <a:ln/>
        </p:spPr>
        <p:txBody>
          <a:bodyPr wrap="square" lIns="0" tIns="0" rIns="0" bIns="0" rtlCol="0" anchor="ctr"/>
          <a:lstStyle/>
          <a:p>
            <a:pPr marL="0" indent="0" algn="l">
              <a:buNone/>
            </a:pPr>
            <a:r>
              <a:rPr lang="en-US" sz="1500" dirty="0">
                <a:solidFill>
                  <a:srgbClr val="FFFFFF"/>
                </a:solidFill>
                <a:latin typeface="Arial" pitchFamily="34" charset="0"/>
                <a:ea typeface="Arial" pitchFamily="34" charset="-122"/>
                <a:cs typeface="Arial" pitchFamily="34" charset="-120"/>
              </a:rPr>
              <a:t>Investigate, act, then verify.</a:t>
            </a:r>
            <a:endParaRPr lang="en-US" sz="1500" dirty="0"/>
          </a:p>
        </p:txBody>
      </p:sp>
      <p:sp>
        <p:nvSpPr>
          <p:cNvPr id="42" name="text_88"/>
          <p:cNvSpPr txBox="1"/>
          <p:nvPr/>
        </p:nvSpPr>
        <p:spPr>
          <a:xfrm>
            <a:off x="658368" y="5843016"/>
            <a:ext cx="10881360" cy="274320"/>
          </a:xfrm>
          <a:prstGeom prst="rect">
            <a:avLst/>
          </a:prstGeom>
          <a:noFill/>
          <a:ln/>
        </p:spPr>
        <p:txBody>
          <a:bodyPr wrap="square" lIns="0" tIns="0" rIns="0" bIns="0" rtlCol="0" anchor="ctr"/>
          <a:lstStyle/>
          <a:p>
            <a:pPr marL="0" indent="0" algn="l">
              <a:buNone/>
            </a:pPr>
            <a:r>
              <a:rPr lang="en-US" sz="1700" b="1" dirty="0">
                <a:solidFill>
                  <a:srgbClr val="007E80"/>
                </a:solidFill>
                <a:latin typeface="Arial" pitchFamily="34" charset="0"/>
                <a:ea typeface="Arial" pitchFamily="34" charset="-122"/>
                <a:cs typeface="Arial" pitchFamily="34" charset="-120"/>
              </a:rPr>
              <a:t>Use the simplest approach that reliably solves the task.</a:t>
            </a:r>
            <a:endParaRPr lang="en-US" sz="1700" dirty="0"/>
          </a:p>
        </p:txBody>
      </p:sp>
      <p:sp>
        <p:nvSpPr>
          <p:cNvPr id="43" name="line_89"/>
          <p:cNvSpPr/>
          <p:nvPr/>
        </p:nvSpPr>
        <p:spPr>
          <a:xfrm>
            <a:off x="603504" y="6364224"/>
            <a:ext cx="10972800" cy="0"/>
          </a:xfrm>
          <a:prstGeom prst="line">
            <a:avLst/>
          </a:prstGeom>
          <a:noFill/>
          <a:ln w="8890">
            <a:solidFill>
              <a:srgbClr val="D6E2DF"/>
            </a:solidFill>
            <a:prstDash val="solid"/>
            <a:headEnd type="none"/>
            <a:tailEnd type="none"/>
          </a:ln>
        </p:spPr>
        <p:txBody>
          <a:bodyPr/>
          <a:lstStyle/>
          <a:p>
            <a:endParaRPr lang="en-IN"/>
          </a:p>
        </p:txBody>
      </p:sp>
      <p:sp>
        <p:nvSpPr>
          <p:cNvPr id="44" name="text_90"/>
          <p:cNvSpPr txBox="1"/>
          <p:nvPr/>
        </p:nvSpPr>
        <p:spPr>
          <a:xfrm>
            <a:off x="621792" y="6473952"/>
            <a:ext cx="6309360" cy="146304"/>
          </a:xfrm>
          <a:prstGeom prst="rect">
            <a:avLst/>
          </a:prstGeom>
          <a:noFill/>
          <a:ln/>
        </p:spPr>
        <p:txBody>
          <a:bodyPr wrap="square" lIns="0" tIns="0" rIns="0" bIns="0" rtlCol="0" anchor="ctr"/>
          <a:lstStyle/>
          <a:p>
            <a:pPr marL="0" indent="0" algn="l">
              <a:buNone/>
            </a:pPr>
            <a:r>
              <a:rPr lang="en-US" sz="830" kern="0" spc="105" dirty="0">
                <a:solidFill>
                  <a:srgbClr val="55707A"/>
                </a:solidFill>
                <a:latin typeface="Arial" pitchFamily="34" charset="0"/>
                <a:ea typeface="Arial" pitchFamily="34" charset="-122"/>
                <a:cs typeface="Arial" pitchFamily="34" charset="-120"/>
              </a:rPr>
              <a:t>AGENTIC AI  /  A PRACTICAL BUSINESS BRIEFING</a:t>
            </a:r>
            <a:endParaRPr lang="en-US" sz="830" dirty="0"/>
          </a:p>
        </p:txBody>
      </p:sp>
      <p:sp>
        <p:nvSpPr>
          <p:cNvPr id="45" name="text_91"/>
          <p:cNvSpPr txBox="1"/>
          <p:nvPr/>
        </p:nvSpPr>
        <p:spPr>
          <a:xfrm>
            <a:off x="6492240" y="6460236"/>
            <a:ext cx="4434840" cy="182880"/>
          </a:xfrm>
          <a:prstGeom prst="rect">
            <a:avLst/>
          </a:prstGeom>
          <a:noFill/>
          <a:ln/>
        </p:spPr>
        <p:txBody>
          <a:bodyPr wrap="square" lIns="0" tIns="0" rIns="0" bIns="0" rtlCol="0" anchor="ctr"/>
          <a:lstStyle/>
          <a:p>
            <a:pPr marL="0" indent="0" algn="r">
              <a:buNone/>
            </a:pPr>
            <a:r>
              <a:rPr lang="en-US" sz="810" dirty="0">
                <a:solidFill>
                  <a:srgbClr val="55707A"/>
                </a:solidFill>
                <a:latin typeface="Arial" pitchFamily="34" charset="0"/>
                <a:ea typeface="Arial" pitchFamily="34" charset="-122"/>
                <a:cs typeface="Arial" pitchFamily="34" charset="-120"/>
              </a:rPr>
              <a:t>Foundation: [1]  •  Simplified comparison</a:t>
            </a:r>
            <a:endParaRPr lang="en-US" sz="810" dirty="0"/>
          </a:p>
        </p:txBody>
      </p:sp>
      <p:sp>
        <p:nvSpPr>
          <p:cNvPr id="46" name="text_92"/>
          <p:cNvSpPr txBox="1"/>
          <p:nvPr/>
        </p:nvSpPr>
        <p:spPr>
          <a:xfrm>
            <a:off x="11091672" y="6441948"/>
            <a:ext cx="466344" cy="201168"/>
          </a:xfrm>
          <a:prstGeom prst="rect">
            <a:avLst/>
          </a:prstGeom>
          <a:noFill/>
          <a:ln/>
        </p:spPr>
        <p:txBody>
          <a:bodyPr wrap="square" lIns="0" tIns="0" rIns="0" bIns="0" rtlCol="0" anchor="ctr"/>
          <a:lstStyle/>
          <a:p>
            <a:pPr marL="0" indent="0" algn="r">
              <a:buNone/>
            </a:pPr>
            <a:r>
              <a:rPr lang="en-US" sz="1000" b="1" dirty="0">
                <a:solidFill>
                  <a:srgbClr val="007E80"/>
                </a:solidFill>
                <a:latin typeface="Arial" pitchFamily="34" charset="0"/>
                <a:ea typeface="Arial" pitchFamily="34" charset="-122"/>
                <a:cs typeface="Arial"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6"/>
        </a:solidFill>
        <a:effectLst/>
      </p:bgPr>
    </p:bg>
    <p:spTree>
      <p:nvGrpSpPr>
        <p:cNvPr id="1" name=""/>
        <p:cNvGrpSpPr/>
        <p:nvPr/>
      </p:nvGrpSpPr>
      <p:grpSpPr>
        <a:xfrm>
          <a:off x="0" y="0"/>
          <a:ext cx="0" cy="0"/>
          <a:chOff x="0" y="0"/>
          <a:chExt cx="0" cy="0"/>
        </a:xfrm>
      </p:grpSpPr>
      <p:sp>
        <p:nvSpPr>
          <p:cNvPr id="2" name="text_93"/>
          <p:cNvSpPr txBox="1"/>
          <p:nvPr/>
        </p:nvSpPr>
        <p:spPr>
          <a:xfrm>
            <a:off x="621792" y="448056"/>
            <a:ext cx="10058400" cy="219456"/>
          </a:xfrm>
          <a:prstGeom prst="rect">
            <a:avLst/>
          </a:prstGeom>
          <a:noFill/>
          <a:ln/>
        </p:spPr>
        <p:txBody>
          <a:bodyPr wrap="square" lIns="0" tIns="0" rIns="0" bIns="0" rtlCol="0" anchor="ctr"/>
          <a:lstStyle/>
          <a:p>
            <a:pPr marL="0" indent="0" algn="l">
              <a:buNone/>
            </a:pPr>
            <a:r>
              <a:rPr lang="en-US" sz="1050" b="1" kern="0" spc="200" dirty="0">
                <a:solidFill>
                  <a:srgbClr val="007E80"/>
                </a:solidFill>
                <a:latin typeface="Arial" pitchFamily="34" charset="0"/>
                <a:ea typeface="Arial" pitchFamily="34" charset="-122"/>
                <a:cs typeface="Arial" pitchFamily="34" charset="-120"/>
              </a:rPr>
              <a:t>02 / THE OPERATING LOOP</a:t>
            </a:r>
            <a:endParaRPr lang="en-US" sz="1050" dirty="0"/>
          </a:p>
        </p:txBody>
      </p:sp>
      <p:sp>
        <p:nvSpPr>
          <p:cNvPr id="3" name="text_94"/>
          <p:cNvSpPr txBox="1"/>
          <p:nvPr/>
        </p:nvSpPr>
        <p:spPr>
          <a:xfrm>
            <a:off x="621792" y="905256"/>
            <a:ext cx="10972800" cy="630936"/>
          </a:xfrm>
          <a:prstGeom prst="rect">
            <a:avLst/>
          </a:prstGeom>
          <a:noFill/>
          <a:ln/>
        </p:spPr>
        <p:txBody>
          <a:bodyPr wrap="square" lIns="0" tIns="0" rIns="0" bIns="0" rtlCol="0" anchor="ctr"/>
          <a:lstStyle/>
          <a:p>
            <a:pPr marL="0" indent="0" algn="l">
              <a:buNone/>
            </a:pPr>
            <a:r>
              <a:rPr lang="en-US" sz="3100" b="1" kern="0" spc="-60" dirty="0">
                <a:solidFill>
                  <a:srgbClr val="152F37"/>
                </a:solidFill>
                <a:latin typeface="Arial" pitchFamily="34" charset="0"/>
                <a:ea typeface="Arial" pitchFamily="34" charset="-122"/>
                <a:cs typeface="Arial" pitchFamily="34" charset="-120"/>
              </a:rPr>
              <a:t>Progress comes from action plus feedback.</a:t>
            </a:r>
            <a:endParaRPr lang="en-US" sz="3100" dirty="0"/>
          </a:p>
        </p:txBody>
      </p:sp>
      <p:sp>
        <p:nvSpPr>
          <p:cNvPr id="4" name="text_95"/>
          <p:cNvSpPr txBox="1"/>
          <p:nvPr/>
        </p:nvSpPr>
        <p:spPr>
          <a:xfrm>
            <a:off x="640080" y="1609344"/>
            <a:ext cx="10835640" cy="347472"/>
          </a:xfrm>
          <a:prstGeom prst="rect">
            <a:avLst/>
          </a:prstGeom>
          <a:noFill/>
          <a:ln/>
        </p:spPr>
        <p:txBody>
          <a:bodyPr wrap="square" lIns="0" tIns="0" rIns="0" bIns="0" rtlCol="0" anchor="ctr"/>
          <a:lstStyle/>
          <a:p>
            <a:pPr marL="0" indent="0" algn="l">
              <a:buNone/>
            </a:pPr>
            <a:r>
              <a:rPr lang="en-US" sz="1650" dirty="0">
                <a:solidFill>
                  <a:srgbClr val="55707A"/>
                </a:solidFill>
                <a:latin typeface="Arial" pitchFamily="34" charset="0"/>
                <a:ea typeface="Arial" pitchFamily="34" charset="-122"/>
                <a:cs typeface="Arial" pitchFamily="34" charset="-120"/>
              </a:rPr>
              <a:t>A bounded loop connects the user’s goal to observable results.</a:t>
            </a:r>
            <a:endParaRPr lang="en-US" sz="1650" dirty="0"/>
          </a:p>
        </p:txBody>
      </p:sp>
      <p:sp>
        <p:nvSpPr>
          <p:cNvPr id="5" name="shape_96"/>
          <p:cNvSpPr/>
          <p:nvPr/>
        </p:nvSpPr>
        <p:spPr>
          <a:xfrm>
            <a:off x="640080" y="2231136"/>
            <a:ext cx="2450592" cy="2084832"/>
          </a:xfrm>
          <a:prstGeom prst="roundRect">
            <a:avLst>
              <a:gd name="adj" fmla="val 3947"/>
            </a:avLst>
          </a:prstGeom>
          <a:solidFill>
            <a:srgbClr val="FFFFFF"/>
          </a:solidFill>
          <a:ln w="12700">
            <a:solidFill>
              <a:srgbClr val="D6E2DF"/>
            </a:solidFill>
            <a:prstDash val="solid"/>
          </a:ln>
        </p:spPr>
        <p:txBody>
          <a:bodyPr/>
          <a:lstStyle/>
          <a:p>
            <a:endParaRPr lang="en-IN"/>
          </a:p>
        </p:txBody>
      </p:sp>
      <p:sp>
        <p:nvSpPr>
          <p:cNvPr id="6" name="text_97"/>
          <p:cNvSpPr txBox="1"/>
          <p:nvPr/>
        </p:nvSpPr>
        <p:spPr>
          <a:xfrm>
            <a:off x="841248" y="2423160"/>
            <a:ext cx="402336" cy="256032"/>
          </a:xfrm>
          <a:prstGeom prst="rect">
            <a:avLst/>
          </a:prstGeom>
          <a:noFill/>
          <a:ln/>
        </p:spPr>
        <p:txBody>
          <a:bodyPr wrap="square" lIns="0" tIns="0" rIns="0" bIns="0" rtlCol="0" anchor="ctr"/>
          <a:lstStyle/>
          <a:p>
            <a:pPr marL="0" indent="0" algn="l">
              <a:buNone/>
            </a:pPr>
            <a:r>
              <a:rPr lang="en-US" sz="1100" b="1" dirty="0">
                <a:solidFill>
                  <a:srgbClr val="007E80"/>
                </a:solidFill>
                <a:latin typeface="Arial" pitchFamily="34" charset="0"/>
                <a:ea typeface="Arial" pitchFamily="34" charset="-122"/>
                <a:cs typeface="Arial" pitchFamily="34" charset="-120"/>
              </a:rPr>
              <a:t>01</a:t>
            </a:r>
            <a:endParaRPr lang="en-US" sz="1100" dirty="0"/>
          </a:p>
        </p:txBody>
      </p:sp>
      <p:sp>
        <p:nvSpPr>
          <p:cNvPr id="7" name="shape_98"/>
          <p:cNvSpPr/>
          <p:nvPr/>
        </p:nvSpPr>
        <p:spPr>
          <a:xfrm>
            <a:off x="2455164" y="2468880"/>
            <a:ext cx="224028" cy="320040"/>
          </a:xfrm>
          <a:prstGeom prst="roundRect">
            <a:avLst>
              <a:gd name="adj" fmla="val 6122"/>
            </a:avLst>
          </a:prstGeom>
          <a:solidFill>
            <a:srgbClr val="FFFFFF">
              <a:alpha val="0"/>
            </a:srgbClr>
          </a:solidFill>
          <a:ln w="12700">
            <a:solidFill>
              <a:srgbClr val="007E80"/>
            </a:solidFill>
            <a:prstDash val="solid"/>
          </a:ln>
        </p:spPr>
        <p:txBody>
          <a:bodyPr/>
          <a:lstStyle/>
          <a:p>
            <a:endParaRPr lang="en-IN"/>
          </a:p>
        </p:txBody>
      </p:sp>
      <p:sp>
        <p:nvSpPr>
          <p:cNvPr id="8" name="line_99"/>
          <p:cNvSpPr/>
          <p:nvPr/>
        </p:nvSpPr>
        <p:spPr>
          <a:xfrm>
            <a:off x="2505456" y="2564892"/>
            <a:ext cx="118872" cy="0"/>
          </a:xfrm>
          <a:prstGeom prst="line">
            <a:avLst/>
          </a:prstGeom>
          <a:noFill/>
          <a:ln w="22860">
            <a:solidFill>
              <a:srgbClr val="007E80"/>
            </a:solidFill>
            <a:prstDash val="solid"/>
            <a:headEnd type="none"/>
            <a:tailEnd type="none"/>
          </a:ln>
        </p:spPr>
        <p:txBody>
          <a:bodyPr/>
          <a:lstStyle/>
          <a:p>
            <a:endParaRPr lang="en-IN"/>
          </a:p>
        </p:txBody>
      </p:sp>
      <p:sp>
        <p:nvSpPr>
          <p:cNvPr id="9" name="line_100"/>
          <p:cNvSpPr/>
          <p:nvPr/>
        </p:nvSpPr>
        <p:spPr>
          <a:xfrm>
            <a:off x="2505456" y="2628900"/>
            <a:ext cx="118872" cy="0"/>
          </a:xfrm>
          <a:prstGeom prst="line">
            <a:avLst/>
          </a:prstGeom>
          <a:noFill/>
          <a:ln w="22860">
            <a:solidFill>
              <a:srgbClr val="007E80"/>
            </a:solidFill>
            <a:prstDash val="solid"/>
            <a:headEnd type="none"/>
            <a:tailEnd type="none"/>
          </a:ln>
        </p:spPr>
        <p:txBody>
          <a:bodyPr/>
          <a:lstStyle/>
          <a:p>
            <a:endParaRPr lang="en-IN"/>
          </a:p>
        </p:txBody>
      </p:sp>
      <p:sp>
        <p:nvSpPr>
          <p:cNvPr id="10" name="line_101"/>
          <p:cNvSpPr/>
          <p:nvPr/>
        </p:nvSpPr>
        <p:spPr>
          <a:xfrm>
            <a:off x="2505456" y="2692908"/>
            <a:ext cx="86868" cy="0"/>
          </a:xfrm>
          <a:prstGeom prst="line">
            <a:avLst/>
          </a:prstGeom>
          <a:noFill/>
          <a:ln w="22860">
            <a:solidFill>
              <a:srgbClr val="007E80"/>
            </a:solidFill>
            <a:prstDash val="solid"/>
            <a:headEnd type="none"/>
            <a:tailEnd type="none"/>
          </a:ln>
        </p:spPr>
        <p:txBody>
          <a:bodyPr/>
          <a:lstStyle/>
          <a:p>
            <a:endParaRPr lang="en-IN"/>
          </a:p>
        </p:txBody>
      </p:sp>
      <p:sp>
        <p:nvSpPr>
          <p:cNvPr id="11" name="text_102"/>
          <p:cNvSpPr txBox="1"/>
          <p:nvPr/>
        </p:nvSpPr>
        <p:spPr>
          <a:xfrm>
            <a:off x="850392" y="2953512"/>
            <a:ext cx="2029968" cy="420624"/>
          </a:xfrm>
          <a:prstGeom prst="rect">
            <a:avLst/>
          </a:prstGeom>
          <a:noFill/>
          <a:ln/>
        </p:spPr>
        <p:txBody>
          <a:bodyPr wrap="square" lIns="0" tIns="0" rIns="0" bIns="0" rtlCol="0" anchor="ctr"/>
          <a:lstStyle/>
          <a:p>
            <a:pPr marL="0" indent="0" algn="l">
              <a:buNone/>
            </a:pPr>
            <a:r>
              <a:rPr lang="en-US" sz="2300" b="1" dirty="0">
                <a:solidFill>
                  <a:srgbClr val="152F37"/>
                </a:solidFill>
                <a:latin typeface="Arial" pitchFamily="34" charset="0"/>
                <a:ea typeface="Arial" pitchFamily="34" charset="-122"/>
                <a:cs typeface="Arial" pitchFamily="34" charset="-120"/>
              </a:rPr>
              <a:t>Interpret</a:t>
            </a:r>
            <a:endParaRPr lang="en-US" sz="2300" dirty="0"/>
          </a:p>
        </p:txBody>
      </p:sp>
      <p:sp>
        <p:nvSpPr>
          <p:cNvPr id="12" name="text_103"/>
          <p:cNvSpPr txBox="1"/>
          <p:nvPr/>
        </p:nvSpPr>
        <p:spPr>
          <a:xfrm>
            <a:off x="850392" y="3529584"/>
            <a:ext cx="2029968" cy="539496"/>
          </a:xfrm>
          <a:prstGeom prst="rect">
            <a:avLst/>
          </a:prstGeom>
          <a:noFill/>
          <a:ln/>
        </p:spPr>
        <p:txBody>
          <a:bodyPr wrap="square" lIns="0" tIns="0" rIns="0" bIns="0" rtlCol="0" anchor="ctr"/>
          <a:lstStyle/>
          <a:p>
            <a:pPr marL="0" indent="0" algn="l">
              <a:buNone/>
            </a:pPr>
            <a:r>
              <a:rPr lang="en-US" sz="1600" dirty="0">
                <a:solidFill>
                  <a:srgbClr val="55707A"/>
                </a:solidFill>
                <a:latin typeface="Arial" pitchFamily="34" charset="0"/>
                <a:ea typeface="Arial" pitchFamily="34" charset="-122"/>
                <a:cs typeface="Arial" pitchFamily="34" charset="-120"/>
              </a:rPr>
              <a:t>Goal, rules and</a:t>
            </a:r>
            <a:endParaRPr lang="en-US" sz="1600" dirty="0"/>
          </a:p>
          <a:p>
            <a:pPr marL="0" indent="0" algn="l">
              <a:buNone/>
            </a:pPr>
            <a:r>
              <a:rPr lang="en-US" sz="1600" dirty="0">
                <a:solidFill>
                  <a:srgbClr val="55707A"/>
                </a:solidFill>
                <a:latin typeface="Arial" pitchFamily="34" charset="0"/>
                <a:ea typeface="Arial" pitchFamily="34" charset="-122"/>
                <a:cs typeface="Arial" pitchFamily="34" charset="-120"/>
              </a:rPr>
              <a:t>current context.</a:t>
            </a:r>
            <a:endParaRPr lang="en-US" sz="1600" dirty="0"/>
          </a:p>
        </p:txBody>
      </p:sp>
      <p:sp>
        <p:nvSpPr>
          <p:cNvPr id="13" name="line_104"/>
          <p:cNvSpPr/>
          <p:nvPr/>
        </p:nvSpPr>
        <p:spPr>
          <a:xfrm>
            <a:off x="3108960" y="3264408"/>
            <a:ext cx="274320" cy="0"/>
          </a:xfrm>
          <a:prstGeom prst="line">
            <a:avLst/>
          </a:prstGeom>
          <a:noFill/>
          <a:ln w="20320">
            <a:solidFill>
              <a:srgbClr val="007E80"/>
            </a:solidFill>
            <a:prstDash val="solid"/>
            <a:headEnd type="none"/>
            <a:tailEnd type="triangle"/>
          </a:ln>
        </p:spPr>
        <p:txBody>
          <a:bodyPr/>
          <a:lstStyle/>
          <a:p>
            <a:endParaRPr lang="en-IN"/>
          </a:p>
        </p:txBody>
      </p:sp>
      <p:sp>
        <p:nvSpPr>
          <p:cNvPr id="14" name="shape_105"/>
          <p:cNvSpPr/>
          <p:nvPr/>
        </p:nvSpPr>
        <p:spPr>
          <a:xfrm>
            <a:off x="3456432" y="2231136"/>
            <a:ext cx="2450592" cy="2084832"/>
          </a:xfrm>
          <a:prstGeom prst="roundRect">
            <a:avLst>
              <a:gd name="adj" fmla="val 3947"/>
            </a:avLst>
          </a:prstGeom>
          <a:solidFill>
            <a:srgbClr val="FFFFFF"/>
          </a:solidFill>
          <a:ln w="12700">
            <a:solidFill>
              <a:srgbClr val="D6E2DF"/>
            </a:solidFill>
            <a:prstDash val="solid"/>
          </a:ln>
        </p:spPr>
        <p:txBody>
          <a:bodyPr/>
          <a:lstStyle/>
          <a:p>
            <a:endParaRPr lang="en-IN"/>
          </a:p>
        </p:txBody>
      </p:sp>
      <p:sp>
        <p:nvSpPr>
          <p:cNvPr id="15" name="text_106"/>
          <p:cNvSpPr txBox="1"/>
          <p:nvPr/>
        </p:nvSpPr>
        <p:spPr>
          <a:xfrm>
            <a:off x="3657600" y="2423160"/>
            <a:ext cx="402336" cy="256032"/>
          </a:xfrm>
          <a:prstGeom prst="rect">
            <a:avLst/>
          </a:prstGeom>
          <a:noFill/>
          <a:ln/>
        </p:spPr>
        <p:txBody>
          <a:bodyPr wrap="square" lIns="0" tIns="0" rIns="0" bIns="0" rtlCol="0" anchor="ctr"/>
          <a:lstStyle/>
          <a:p>
            <a:pPr marL="0" indent="0" algn="l">
              <a:buNone/>
            </a:pPr>
            <a:r>
              <a:rPr lang="en-US" sz="1100" b="1" dirty="0">
                <a:solidFill>
                  <a:srgbClr val="007E80"/>
                </a:solidFill>
                <a:latin typeface="Arial" pitchFamily="34" charset="0"/>
                <a:ea typeface="Arial" pitchFamily="34" charset="-122"/>
                <a:cs typeface="Arial" pitchFamily="34" charset="-120"/>
              </a:rPr>
              <a:t>02</a:t>
            </a:r>
            <a:endParaRPr lang="en-US" sz="1100" dirty="0"/>
          </a:p>
        </p:txBody>
      </p:sp>
      <p:sp>
        <p:nvSpPr>
          <p:cNvPr id="16" name="circle_107"/>
          <p:cNvSpPr/>
          <p:nvPr/>
        </p:nvSpPr>
        <p:spPr>
          <a:xfrm>
            <a:off x="5244084" y="2482596"/>
            <a:ext cx="292608" cy="292608"/>
          </a:xfrm>
          <a:prstGeom prst="ellipse">
            <a:avLst/>
          </a:prstGeom>
          <a:solidFill>
            <a:srgbClr val="FFFFFF">
              <a:alpha val="0"/>
            </a:srgbClr>
          </a:solidFill>
          <a:ln w="21590">
            <a:solidFill>
              <a:srgbClr val="007E80"/>
            </a:solidFill>
            <a:prstDash val="solid"/>
          </a:ln>
        </p:spPr>
        <p:txBody>
          <a:bodyPr/>
          <a:lstStyle/>
          <a:p>
            <a:endParaRPr lang="en-IN"/>
          </a:p>
        </p:txBody>
      </p:sp>
      <p:sp>
        <p:nvSpPr>
          <p:cNvPr id="17" name="circle_108"/>
          <p:cNvSpPr/>
          <p:nvPr/>
        </p:nvSpPr>
        <p:spPr>
          <a:xfrm>
            <a:off x="5321808" y="2560320"/>
            <a:ext cx="137160" cy="137160"/>
          </a:xfrm>
          <a:prstGeom prst="ellipse">
            <a:avLst/>
          </a:prstGeom>
          <a:solidFill>
            <a:srgbClr val="FFFFFF">
              <a:alpha val="0"/>
            </a:srgbClr>
          </a:solidFill>
          <a:ln w="21590">
            <a:solidFill>
              <a:srgbClr val="007E80"/>
            </a:solidFill>
            <a:prstDash val="solid"/>
          </a:ln>
        </p:spPr>
        <p:txBody>
          <a:bodyPr/>
          <a:lstStyle/>
          <a:p>
            <a:endParaRPr lang="en-IN"/>
          </a:p>
        </p:txBody>
      </p:sp>
      <p:sp>
        <p:nvSpPr>
          <p:cNvPr id="18" name="circle_109"/>
          <p:cNvSpPr/>
          <p:nvPr/>
        </p:nvSpPr>
        <p:spPr>
          <a:xfrm>
            <a:off x="5372100" y="2610612"/>
            <a:ext cx="36576" cy="36576"/>
          </a:xfrm>
          <a:prstGeom prst="ellipse">
            <a:avLst/>
          </a:prstGeom>
          <a:solidFill>
            <a:srgbClr val="007E80"/>
          </a:solidFill>
          <a:ln w="12700">
            <a:solidFill>
              <a:srgbClr val="007E80"/>
            </a:solidFill>
            <a:prstDash val="solid"/>
          </a:ln>
        </p:spPr>
        <p:txBody>
          <a:bodyPr/>
          <a:lstStyle/>
          <a:p>
            <a:endParaRPr lang="en-IN"/>
          </a:p>
        </p:txBody>
      </p:sp>
      <p:sp>
        <p:nvSpPr>
          <p:cNvPr id="19" name="line_110"/>
          <p:cNvSpPr/>
          <p:nvPr/>
        </p:nvSpPr>
        <p:spPr>
          <a:xfrm flipV="1">
            <a:off x="5413248" y="2464308"/>
            <a:ext cx="137160" cy="132588"/>
          </a:xfrm>
          <a:prstGeom prst="line">
            <a:avLst/>
          </a:prstGeom>
          <a:noFill/>
          <a:ln w="22860">
            <a:solidFill>
              <a:srgbClr val="007E80"/>
            </a:solidFill>
            <a:prstDash val="solid"/>
            <a:headEnd type="none"/>
            <a:tailEnd type="none"/>
          </a:ln>
        </p:spPr>
        <p:txBody>
          <a:bodyPr/>
          <a:lstStyle/>
          <a:p>
            <a:endParaRPr lang="en-IN"/>
          </a:p>
        </p:txBody>
      </p:sp>
      <p:sp>
        <p:nvSpPr>
          <p:cNvPr id="20" name="line_111"/>
          <p:cNvSpPr/>
          <p:nvPr/>
        </p:nvSpPr>
        <p:spPr>
          <a:xfrm>
            <a:off x="5468112" y="2464308"/>
            <a:ext cx="82296" cy="0"/>
          </a:xfrm>
          <a:prstGeom prst="line">
            <a:avLst/>
          </a:prstGeom>
          <a:noFill/>
          <a:ln w="22860">
            <a:solidFill>
              <a:srgbClr val="007E80"/>
            </a:solidFill>
            <a:prstDash val="solid"/>
            <a:headEnd type="none"/>
            <a:tailEnd type="none"/>
          </a:ln>
        </p:spPr>
        <p:txBody>
          <a:bodyPr/>
          <a:lstStyle/>
          <a:p>
            <a:endParaRPr lang="en-IN"/>
          </a:p>
        </p:txBody>
      </p:sp>
      <p:sp>
        <p:nvSpPr>
          <p:cNvPr id="21" name="line_112"/>
          <p:cNvSpPr/>
          <p:nvPr/>
        </p:nvSpPr>
        <p:spPr>
          <a:xfrm>
            <a:off x="5550408" y="2464308"/>
            <a:ext cx="0" cy="86868"/>
          </a:xfrm>
          <a:prstGeom prst="line">
            <a:avLst/>
          </a:prstGeom>
          <a:noFill/>
          <a:ln w="22860">
            <a:solidFill>
              <a:srgbClr val="007E80"/>
            </a:solidFill>
            <a:prstDash val="solid"/>
            <a:headEnd type="none"/>
            <a:tailEnd type="none"/>
          </a:ln>
        </p:spPr>
        <p:txBody>
          <a:bodyPr/>
          <a:lstStyle/>
          <a:p>
            <a:endParaRPr lang="en-IN"/>
          </a:p>
        </p:txBody>
      </p:sp>
      <p:sp>
        <p:nvSpPr>
          <p:cNvPr id="22" name="text_113"/>
          <p:cNvSpPr txBox="1"/>
          <p:nvPr/>
        </p:nvSpPr>
        <p:spPr>
          <a:xfrm>
            <a:off x="3666744" y="2953512"/>
            <a:ext cx="2029968" cy="420624"/>
          </a:xfrm>
          <a:prstGeom prst="rect">
            <a:avLst/>
          </a:prstGeom>
          <a:noFill/>
          <a:ln/>
        </p:spPr>
        <p:txBody>
          <a:bodyPr wrap="square" lIns="0" tIns="0" rIns="0" bIns="0" rtlCol="0" anchor="ctr"/>
          <a:lstStyle/>
          <a:p>
            <a:pPr marL="0" indent="0" algn="l">
              <a:buNone/>
            </a:pPr>
            <a:r>
              <a:rPr lang="en-US" sz="2300" b="1" dirty="0">
                <a:solidFill>
                  <a:srgbClr val="152F37"/>
                </a:solidFill>
                <a:latin typeface="Arial" pitchFamily="34" charset="0"/>
                <a:ea typeface="Arial" pitchFamily="34" charset="-122"/>
                <a:cs typeface="Arial" pitchFamily="34" charset="-120"/>
              </a:rPr>
              <a:t>Plan</a:t>
            </a:r>
            <a:endParaRPr lang="en-US" sz="2300" dirty="0"/>
          </a:p>
        </p:txBody>
      </p:sp>
      <p:sp>
        <p:nvSpPr>
          <p:cNvPr id="23" name="text_114"/>
          <p:cNvSpPr txBox="1"/>
          <p:nvPr/>
        </p:nvSpPr>
        <p:spPr>
          <a:xfrm>
            <a:off x="3666744" y="3529584"/>
            <a:ext cx="2029968" cy="539496"/>
          </a:xfrm>
          <a:prstGeom prst="rect">
            <a:avLst/>
          </a:prstGeom>
          <a:noFill/>
          <a:ln/>
        </p:spPr>
        <p:txBody>
          <a:bodyPr wrap="square" lIns="0" tIns="0" rIns="0" bIns="0" rtlCol="0" anchor="ctr"/>
          <a:lstStyle/>
          <a:p>
            <a:pPr marL="0" indent="0" algn="l">
              <a:buNone/>
            </a:pPr>
            <a:r>
              <a:rPr lang="en-US" sz="1600" dirty="0">
                <a:solidFill>
                  <a:srgbClr val="55707A"/>
                </a:solidFill>
                <a:latin typeface="Arial" pitchFamily="34" charset="0"/>
                <a:ea typeface="Arial" pitchFamily="34" charset="-122"/>
                <a:cs typeface="Arial" pitchFamily="34" charset="-120"/>
              </a:rPr>
              <a:t>Choose the next</a:t>
            </a:r>
            <a:endParaRPr lang="en-US" sz="1600" dirty="0"/>
          </a:p>
          <a:p>
            <a:pPr marL="0" indent="0" algn="l">
              <a:buNone/>
            </a:pPr>
            <a:r>
              <a:rPr lang="en-US" sz="1600" dirty="0">
                <a:solidFill>
                  <a:srgbClr val="55707A"/>
                </a:solidFill>
                <a:latin typeface="Arial" pitchFamily="34" charset="0"/>
                <a:ea typeface="Arial" pitchFamily="34" charset="-122"/>
                <a:cs typeface="Arial" pitchFamily="34" charset="-120"/>
              </a:rPr>
              <a:t>useful action.</a:t>
            </a:r>
            <a:endParaRPr lang="en-US" sz="1600" dirty="0"/>
          </a:p>
        </p:txBody>
      </p:sp>
      <p:sp>
        <p:nvSpPr>
          <p:cNvPr id="24" name="line_115"/>
          <p:cNvSpPr/>
          <p:nvPr/>
        </p:nvSpPr>
        <p:spPr>
          <a:xfrm>
            <a:off x="5925312" y="3264408"/>
            <a:ext cx="274320" cy="0"/>
          </a:xfrm>
          <a:prstGeom prst="line">
            <a:avLst/>
          </a:prstGeom>
          <a:noFill/>
          <a:ln w="20320">
            <a:solidFill>
              <a:srgbClr val="007E80"/>
            </a:solidFill>
            <a:prstDash val="solid"/>
            <a:headEnd type="none"/>
            <a:tailEnd type="triangle"/>
          </a:ln>
        </p:spPr>
        <p:txBody>
          <a:bodyPr/>
          <a:lstStyle/>
          <a:p>
            <a:endParaRPr lang="en-IN"/>
          </a:p>
        </p:txBody>
      </p:sp>
      <p:sp>
        <p:nvSpPr>
          <p:cNvPr id="25" name="shape_116"/>
          <p:cNvSpPr/>
          <p:nvPr/>
        </p:nvSpPr>
        <p:spPr>
          <a:xfrm>
            <a:off x="6272784" y="2231136"/>
            <a:ext cx="2450592" cy="2084832"/>
          </a:xfrm>
          <a:prstGeom prst="roundRect">
            <a:avLst>
              <a:gd name="adj" fmla="val 3947"/>
            </a:avLst>
          </a:prstGeom>
          <a:solidFill>
            <a:srgbClr val="FFFFFF"/>
          </a:solidFill>
          <a:ln w="12700">
            <a:solidFill>
              <a:srgbClr val="D6E2DF"/>
            </a:solidFill>
            <a:prstDash val="solid"/>
          </a:ln>
        </p:spPr>
        <p:txBody>
          <a:bodyPr/>
          <a:lstStyle/>
          <a:p>
            <a:endParaRPr lang="en-IN"/>
          </a:p>
        </p:txBody>
      </p:sp>
      <p:sp>
        <p:nvSpPr>
          <p:cNvPr id="26" name="text_117"/>
          <p:cNvSpPr txBox="1"/>
          <p:nvPr/>
        </p:nvSpPr>
        <p:spPr>
          <a:xfrm>
            <a:off x="6473952" y="2423160"/>
            <a:ext cx="402336" cy="256032"/>
          </a:xfrm>
          <a:prstGeom prst="rect">
            <a:avLst/>
          </a:prstGeom>
          <a:noFill/>
          <a:ln/>
        </p:spPr>
        <p:txBody>
          <a:bodyPr wrap="square" lIns="0" tIns="0" rIns="0" bIns="0" rtlCol="0" anchor="ctr"/>
          <a:lstStyle/>
          <a:p>
            <a:pPr marL="0" indent="0" algn="l">
              <a:buNone/>
            </a:pPr>
            <a:r>
              <a:rPr lang="en-US" sz="1100" b="1" dirty="0">
                <a:solidFill>
                  <a:srgbClr val="007E80"/>
                </a:solidFill>
                <a:latin typeface="Arial" pitchFamily="34" charset="0"/>
                <a:ea typeface="Arial" pitchFamily="34" charset="-122"/>
                <a:cs typeface="Arial" pitchFamily="34" charset="-120"/>
              </a:rPr>
              <a:t>03</a:t>
            </a:r>
            <a:endParaRPr lang="en-US" sz="1100" dirty="0"/>
          </a:p>
        </p:txBody>
      </p:sp>
      <p:sp>
        <p:nvSpPr>
          <p:cNvPr id="27" name="line_118"/>
          <p:cNvSpPr/>
          <p:nvPr/>
        </p:nvSpPr>
        <p:spPr>
          <a:xfrm>
            <a:off x="8065008" y="2528316"/>
            <a:ext cx="278892" cy="0"/>
          </a:xfrm>
          <a:prstGeom prst="line">
            <a:avLst/>
          </a:prstGeom>
          <a:noFill/>
          <a:ln w="22860">
            <a:solidFill>
              <a:srgbClr val="007E80"/>
            </a:solidFill>
            <a:prstDash val="solid"/>
            <a:headEnd type="none"/>
            <a:tailEnd type="none"/>
          </a:ln>
        </p:spPr>
        <p:txBody>
          <a:bodyPr/>
          <a:lstStyle/>
          <a:p>
            <a:endParaRPr lang="en-IN"/>
          </a:p>
        </p:txBody>
      </p:sp>
      <p:sp>
        <p:nvSpPr>
          <p:cNvPr id="28" name="line_119"/>
          <p:cNvSpPr/>
          <p:nvPr/>
        </p:nvSpPr>
        <p:spPr>
          <a:xfrm>
            <a:off x="8065008" y="2633472"/>
            <a:ext cx="278892" cy="0"/>
          </a:xfrm>
          <a:prstGeom prst="line">
            <a:avLst/>
          </a:prstGeom>
          <a:noFill/>
          <a:ln w="22860">
            <a:solidFill>
              <a:srgbClr val="007E80"/>
            </a:solidFill>
            <a:prstDash val="solid"/>
            <a:headEnd type="none"/>
            <a:tailEnd type="none"/>
          </a:ln>
        </p:spPr>
        <p:txBody>
          <a:bodyPr/>
          <a:lstStyle/>
          <a:p>
            <a:endParaRPr lang="en-IN"/>
          </a:p>
        </p:txBody>
      </p:sp>
      <p:sp>
        <p:nvSpPr>
          <p:cNvPr id="29" name="line_120"/>
          <p:cNvSpPr/>
          <p:nvPr/>
        </p:nvSpPr>
        <p:spPr>
          <a:xfrm>
            <a:off x="8065008" y="2738628"/>
            <a:ext cx="278892" cy="0"/>
          </a:xfrm>
          <a:prstGeom prst="line">
            <a:avLst/>
          </a:prstGeom>
          <a:noFill/>
          <a:ln w="22860">
            <a:solidFill>
              <a:srgbClr val="007E80"/>
            </a:solidFill>
            <a:prstDash val="solid"/>
            <a:headEnd type="none"/>
            <a:tailEnd type="none"/>
          </a:ln>
        </p:spPr>
        <p:txBody>
          <a:bodyPr/>
          <a:lstStyle/>
          <a:p>
            <a:endParaRPr lang="en-IN"/>
          </a:p>
        </p:txBody>
      </p:sp>
      <p:sp>
        <p:nvSpPr>
          <p:cNvPr id="30" name="circle_121"/>
          <p:cNvSpPr/>
          <p:nvPr/>
        </p:nvSpPr>
        <p:spPr>
          <a:xfrm>
            <a:off x="8119872" y="2494026"/>
            <a:ext cx="68580" cy="68580"/>
          </a:xfrm>
          <a:prstGeom prst="ellipse">
            <a:avLst/>
          </a:prstGeom>
          <a:solidFill>
            <a:srgbClr val="FFFFFF">
              <a:alpha val="0"/>
            </a:srgbClr>
          </a:solidFill>
          <a:ln w="21590">
            <a:solidFill>
              <a:srgbClr val="007E80"/>
            </a:solidFill>
            <a:prstDash val="solid"/>
          </a:ln>
        </p:spPr>
        <p:txBody>
          <a:bodyPr/>
          <a:lstStyle/>
          <a:p>
            <a:endParaRPr lang="en-IN"/>
          </a:p>
        </p:txBody>
      </p:sp>
      <p:sp>
        <p:nvSpPr>
          <p:cNvPr id="31" name="circle_122"/>
          <p:cNvSpPr/>
          <p:nvPr/>
        </p:nvSpPr>
        <p:spPr>
          <a:xfrm>
            <a:off x="8247888" y="2599182"/>
            <a:ext cx="68580" cy="68580"/>
          </a:xfrm>
          <a:prstGeom prst="ellipse">
            <a:avLst/>
          </a:prstGeom>
          <a:solidFill>
            <a:srgbClr val="FFFFFF">
              <a:alpha val="0"/>
            </a:srgbClr>
          </a:solidFill>
          <a:ln w="21590">
            <a:solidFill>
              <a:srgbClr val="007E80"/>
            </a:solidFill>
            <a:prstDash val="solid"/>
          </a:ln>
        </p:spPr>
        <p:txBody>
          <a:bodyPr/>
          <a:lstStyle/>
          <a:p>
            <a:endParaRPr lang="en-IN"/>
          </a:p>
        </p:txBody>
      </p:sp>
      <p:sp>
        <p:nvSpPr>
          <p:cNvPr id="32" name="circle_123"/>
          <p:cNvSpPr/>
          <p:nvPr/>
        </p:nvSpPr>
        <p:spPr>
          <a:xfrm>
            <a:off x="8147304" y="2704338"/>
            <a:ext cx="68580" cy="68580"/>
          </a:xfrm>
          <a:prstGeom prst="ellipse">
            <a:avLst/>
          </a:prstGeom>
          <a:solidFill>
            <a:srgbClr val="FFFFFF">
              <a:alpha val="0"/>
            </a:srgbClr>
          </a:solidFill>
          <a:ln w="21590">
            <a:solidFill>
              <a:srgbClr val="007E80"/>
            </a:solidFill>
            <a:prstDash val="solid"/>
          </a:ln>
        </p:spPr>
        <p:txBody>
          <a:bodyPr/>
          <a:lstStyle/>
          <a:p>
            <a:endParaRPr lang="en-IN"/>
          </a:p>
        </p:txBody>
      </p:sp>
      <p:sp>
        <p:nvSpPr>
          <p:cNvPr id="33" name="text_124"/>
          <p:cNvSpPr txBox="1"/>
          <p:nvPr/>
        </p:nvSpPr>
        <p:spPr>
          <a:xfrm>
            <a:off x="6483096" y="2953512"/>
            <a:ext cx="2029968" cy="420624"/>
          </a:xfrm>
          <a:prstGeom prst="rect">
            <a:avLst/>
          </a:prstGeom>
          <a:noFill/>
          <a:ln/>
        </p:spPr>
        <p:txBody>
          <a:bodyPr wrap="square" lIns="0" tIns="0" rIns="0" bIns="0" rtlCol="0" anchor="ctr"/>
          <a:lstStyle/>
          <a:p>
            <a:pPr marL="0" indent="0" algn="l">
              <a:buNone/>
            </a:pPr>
            <a:r>
              <a:rPr lang="en-US" sz="2300" b="1" dirty="0">
                <a:solidFill>
                  <a:srgbClr val="152F37"/>
                </a:solidFill>
                <a:latin typeface="Arial" pitchFamily="34" charset="0"/>
                <a:ea typeface="Arial" pitchFamily="34" charset="-122"/>
                <a:cs typeface="Arial" pitchFamily="34" charset="-120"/>
              </a:rPr>
              <a:t>Act</a:t>
            </a:r>
            <a:endParaRPr lang="en-US" sz="2300" dirty="0"/>
          </a:p>
        </p:txBody>
      </p:sp>
      <p:sp>
        <p:nvSpPr>
          <p:cNvPr id="34" name="text_125"/>
          <p:cNvSpPr txBox="1"/>
          <p:nvPr/>
        </p:nvSpPr>
        <p:spPr>
          <a:xfrm>
            <a:off x="6483096" y="3529584"/>
            <a:ext cx="2029968" cy="539496"/>
          </a:xfrm>
          <a:prstGeom prst="rect">
            <a:avLst/>
          </a:prstGeom>
          <a:noFill/>
          <a:ln/>
        </p:spPr>
        <p:txBody>
          <a:bodyPr wrap="square" lIns="0" tIns="0" rIns="0" bIns="0" rtlCol="0" anchor="ctr"/>
          <a:lstStyle/>
          <a:p>
            <a:pPr marL="0" indent="0" algn="l">
              <a:buNone/>
            </a:pPr>
            <a:r>
              <a:rPr lang="en-US" sz="1600" dirty="0">
                <a:solidFill>
                  <a:srgbClr val="55707A"/>
                </a:solidFill>
                <a:latin typeface="Arial" pitchFamily="34" charset="0"/>
                <a:ea typeface="Arial" pitchFamily="34" charset="-122"/>
                <a:cs typeface="Arial" pitchFamily="34" charset="-120"/>
              </a:rPr>
              <a:t>Use an authorised</a:t>
            </a:r>
            <a:endParaRPr lang="en-US" sz="1600" dirty="0"/>
          </a:p>
          <a:p>
            <a:pPr marL="0" indent="0" algn="l">
              <a:buNone/>
            </a:pPr>
            <a:r>
              <a:rPr lang="en-US" sz="1600" dirty="0">
                <a:solidFill>
                  <a:srgbClr val="55707A"/>
                </a:solidFill>
                <a:latin typeface="Arial" pitchFamily="34" charset="0"/>
                <a:ea typeface="Arial" pitchFamily="34" charset="-122"/>
                <a:cs typeface="Arial" pitchFamily="34" charset="-120"/>
              </a:rPr>
              <a:t>tool or application.</a:t>
            </a:r>
            <a:endParaRPr lang="en-US" sz="1600" dirty="0"/>
          </a:p>
        </p:txBody>
      </p:sp>
      <p:sp>
        <p:nvSpPr>
          <p:cNvPr id="35" name="line_126"/>
          <p:cNvSpPr/>
          <p:nvPr/>
        </p:nvSpPr>
        <p:spPr>
          <a:xfrm>
            <a:off x="8741664" y="3264408"/>
            <a:ext cx="274320" cy="0"/>
          </a:xfrm>
          <a:prstGeom prst="line">
            <a:avLst/>
          </a:prstGeom>
          <a:noFill/>
          <a:ln w="20320">
            <a:solidFill>
              <a:srgbClr val="007E80"/>
            </a:solidFill>
            <a:prstDash val="solid"/>
            <a:headEnd type="none"/>
            <a:tailEnd type="triangle"/>
          </a:ln>
        </p:spPr>
        <p:txBody>
          <a:bodyPr/>
          <a:lstStyle/>
          <a:p>
            <a:endParaRPr lang="en-IN"/>
          </a:p>
        </p:txBody>
      </p:sp>
      <p:sp>
        <p:nvSpPr>
          <p:cNvPr id="36" name="shape_127"/>
          <p:cNvSpPr/>
          <p:nvPr/>
        </p:nvSpPr>
        <p:spPr>
          <a:xfrm>
            <a:off x="9089136" y="2231136"/>
            <a:ext cx="2450592" cy="2084832"/>
          </a:xfrm>
          <a:prstGeom prst="roundRect">
            <a:avLst>
              <a:gd name="adj" fmla="val 3947"/>
            </a:avLst>
          </a:prstGeom>
          <a:solidFill>
            <a:srgbClr val="FFFFFF"/>
          </a:solidFill>
          <a:ln w="12700">
            <a:solidFill>
              <a:srgbClr val="D6E2DF"/>
            </a:solidFill>
            <a:prstDash val="solid"/>
          </a:ln>
        </p:spPr>
        <p:txBody>
          <a:bodyPr/>
          <a:lstStyle/>
          <a:p>
            <a:endParaRPr lang="en-IN"/>
          </a:p>
        </p:txBody>
      </p:sp>
      <p:sp>
        <p:nvSpPr>
          <p:cNvPr id="37" name="text_128"/>
          <p:cNvSpPr txBox="1"/>
          <p:nvPr/>
        </p:nvSpPr>
        <p:spPr>
          <a:xfrm>
            <a:off x="9290304" y="2423160"/>
            <a:ext cx="402336" cy="256032"/>
          </a:xfrm>
          <a:prstGeom prst="rect">
            <a:avLst/>
          </a:prstGeom>
          <a:noFill/>
          <a:ln/>
        </p:spPr>
        <p:txBody>
          <a:bodyPr wrap="square" lIns="0" tIns="0" rIns="0" bIns="0" rtlCol="0" anchor="ctr"/>
          <a:lstStyle/>
          <a:p>
            <a:pPr marL="0" indent="0" algn="l">
              <a:buNone/>
            </a:pPr>
            <a:r>
              <a:rPr lang="en-US" sz="1100" b="1" dirty="0">
                <a:solidFill>
                  <a:srgbClr val="007E80"/>
                </a:solidFill>
                <a:latin typeface="Arial" pitchFamily="34" charset="0"/>
                <a:ea typeface="Arial" pitchFamily="34" charset="-122"/>
                <a:cs typeface="Arial" pitchFamily="34" charset="-120"/>
              </a:rPr>
              <a:t>04</a:t>
            </a:r>
            <a:endParaRPr lang="en-US" sz="1100" dirty="0"/>
          </a:p>
        </p:txBody>
      </p:sp>
      <p:sp>
        <p:nvSpPr>
          <p:cNvPr id="38" name="circle_129"/>
          <p:cNvSpPr/>
          <p:nvPr/>
        </p:nvSpPr>
        <p:spPr>
          <a:xfrm>
            <a:off x="10867644" y="2473452"/>
            <a:ext cx="301752" cy="301752"/>
          </a:xfrm>
          <a:prstGeom prst="ellipse">
            <a:avLst/>
          </a:prstGeom>
          <a:solidFill>
            <a:srgbClr val="FFFFFF">
              <a:alpha val="0"/>
            </a:srgbClr>
          </a:solidFill>
          <a:ln w="21590">
            <a:solidFill>
              <a:srgbClr val="007E80"/>
            </a:solidFill>
            <a:prstDash val="solid"/>
          </a:ln>
        </p:spPr>
        <p:txBody>
          <a:bodyPr/>
          <a:lstStyle/>
          <a:p>
            <a:endParaRPr lang="en-IN"/>
          </a:p>
        </p:txBody>
      </p:sp>
      <p:sp>
        <p:nvSpPr>
          <p:cNvPr id="39" name="line_130"/>
          <p:cNvSpPr/>
          <p:nvPr/>
        </p:nvSpPr>
        <p:spPr>
          <a:xfrm>
            <a:off x="10940796" y="2628900"/>
            <a:ext cx="54864" cy="54864"/>
          </a:xfrm>
          <a:prstGeom prst="line">
            <a:avLst/>
          </a:prstGeom>
          <a:noFill/>
          <a:ln w="27940">
            <a:solidFill>
              <a:srgbClr val="007E80"/>
            </a:solidFill>
            <a:prstDash val="solid"/>
            <a:headEnd type="none"/>
            <a:tailEnd type="none"/>
          </a:ln>
        </p:spPr>
        <p:txBody>
          <a:bodyPr/>
          <a:lstStyle/>
          <a:p>
            <a:endParaRPr lang="en-IN"/>
          </a:p>
        </p:txBody>
      </p:sp>
      <p:sp>
        <p:nvSpPr>
          <p:cNvPr id="40" name="line_131"/>
          <p:cNvSpPr/>
          <p:nvPr/>
        </p:nvSpPr>
        <p:spPr>
          <a:xfrm flipV="1">
            <a:off x="10995660" y="2569464"/>
            <a:ext cx="114300" cy="114300"/>
          </a:xfrm>
          <a:prstGeom prst="line">
            <a:avLst/>
          </a:prstGeom>
          <a:noFill/>
          <a:ln w="27940">
            <a:solidFill>
              <a:srgbClr val="007E80"/>
            </a:solidFill>
            <a:prstDash val="solid"/>
            <a:headEnd type="none"/>
            <a:tailEnd type="none"/>
          </a:ln>
        </p:spPr>
        <p:txBody>
          <a:bodyPr/>
          <a:lstStyle/>
          <a:p>
            <a:endParaRPr lang="en-IN"/>
          </a:p>
        </p:txBody>
      </p:sp>
      <p:sp>
        <p:nvSpPr>
          <p:cNvPr id="41" name="text_132"/>
          <p:cNvSpPr txBox="1"/>
          <p:nvPr/>
        </p:nvSpPr>
        <p:spPr>
          <a:xfrm>
            <a:off x="9299448" y="2953512"/>
            <a:ext cx="2029968" cy="420624"/>
          </a:xfrm>
          <a:prstGeom prst="rect">
            <a:avLst/>
          </a:prstGeom>
          <a:noFill/>
          <a:ln/>
        </p:spPr>
        <p:txBody>
          <a:bodyPr wrap="square" lIns="0" tIns="0" rIns="0" bIns="0" rtlCol="0" anchor="ctr"/>
          <a:lstStyle/>
          <a:p>
            <a:pPr marL="0" indent="0" algn="l">
              <a:buNone/>
            </a:pPr>
            <a:r>
              <a:rPr lang="en-US" sz="2300" b="1" dirty="0">
                <a:solidFill>
                  <a:srgbClr val="152F37"/>
                </a:solidFill>
                <a:latin typeface="Arial" pitchFamily="34" charset="0"/>
                <a:ea typeface="Arial" pitchFamily="34" charset="-122"/>
                <a:cs typeface="Arial" pitchFamily="34" charset="-120"/>
              </a:rPr>
              <a:t>Check</a:t>
            </a:r>
            <a:endParaRPr lang="en-US" sz="2300" dirty="0"/>
          </a:p>
        </p:txBody>
      </p:sp>
      <p:sp>
        <p:nvSpPr>
          <p:cNvPr id="42" name="text_133"/>
          <p:cNvSpPr txBox="1"/>
          <p:nvPr/>
        </p:nvSpPr>
        <p:spPr>
          <a:xfrm>
            <a:off x="9299448" y="3529584"/>
            <a:ext cx="2029968" cy="539496"/>
          </a:xfrm>
          <a:prstGeom prst="rect">
            <a:avLst/>
          </a:prstGeom>
          <a:noFill/>
          <a:ln/>
        </p:spPr>
        <p:txBody>
          <a:bodyPr wrap="square" lIns="0" tIns="0" rIns="0" bIns="0" rtlCol="0" anchor="ctr"/>
          <a:lstStyle/>
          <a:p>
            <a:pPr marL="0" indent="0" algn="l">
              <a:buNone/>
            </a:pPr>
            <a:r>
              <a:rPr lang="en-US" sz="1600" dirty="0">
                <a:solidFill>
                  <a:srgbClr val="55707A"/>
                </a:solidFill>
                <a:latin typeface="Arial" pitchFamily="34" charset="0"/>
                <a:ea typeface="Arial" pitchFamily="34" charset="-122"/>
                <a:cs typeface="Arial" pitchFamily="34" charset="-120"/>
              </a:rPr>
              <a:t>Compare the result</a:t>
            </a:r>
            <a:endParaRPr lang="en-US" sz="1600" dirty="0"/>
          </a:p>
          <a:p>
            <a:pPr marL="0" indent="0" algn="l">
              <a:buNone/>
            </a:pPr>
            <a:r>
              <a:rPr lang="en-US" sz="1600" dirty="0">
                <a:solidFill>
                  <a:srgbClr val="55707A"/>
                </a:solidFill>
                <a:latin typeface="Arial" pitchFamily="34" charset="0"/>
                <a:ea typeface="Arial" pitchFamily="34" charset="-122"/>
                <a:cs typeface="Arial" pitchFamily="34" charset="-120"/>
              </a:rPr>
              <a:t>with success criteria.</a:t>
            </a:r>
            <a:endParaRPr lang="en-US" sz="1600" dirty="0"/>
          </a:p>
        </p:txBody>
      </p:sp>
      <p:sp>
        <p:nvSpPr>
          <p:cNvPr id="43" name="line_134"/>
          <p:cNvSpPr/>
          <p:nvPr/>
        </p:nvSpPr>
        <p:spPr>
          <a:xfrm>
            <a:off x="10305288" y="4334256"/>
            <a:ext cx="0" cy="457200"/>
          </a:xfrm>
          <a:prstGeom prst="line">
            <a:avLst/>
          </a:prstGeom>
          <a:noFill/>
          <a:ln w="17780">
            <a:solidFill>
              <a:srgbClr val="007E80"/>
            </a:solidFill>
            <a:prstDash val="solid"/>
            <a:headEnd type="none"/>
            <a:tailEnd type="none"/>
          </a:ln>
        </p:spPr>
        <p:txBody>
          <a:bodyPr/>
          <a:lstStyle/>
          <a:p>
            <a:endParaRPr lang="en-IN"/>
          </a:p>
        </p:txBody>
      </p:sp>
      <p:sp>
        <p:nvSpPr>
          <p:cNvPr id="44" name="line_135"/>
          <p:cNvSpPr/>
          <p:nvPr/>
        </p:nvSpPr>
        <p:spPr>
          <a:xfrm flipH="1">
            <a:off x="4681728" y="4791456"/>
            <a:ext cx="5623560" cy="0"/>
          </a:xfrm>
          <a:prstGeom prst="line">
            <a:avLst/>
          </a:prstGeom>
          <a:noFill/>
          <a:ln w="17780">
            <a:solidFill>
              <a:srgbClr val="007E80"/>
            </a:solidFill>
            <a:prstDash val="solid"/>
            <a:headEnd type="none"/>
            <a:tailEnd type="none"/>
          </a:ln>
        </p:spPr>
        <p:txBody>
          <a:bodyPr/>
          <a:lstStyle/>
          <a:p>
            <a:endParaRPr lang="en-IN"/>
          </a:p>
        </p:txBody>
      </p:sp>
      <p:sp>
        <p:nvSpPr>
          <p:cNvPr id="45" name="line_136"/>
          <p:cNvSpPr/>
          <p:nvPr/>
        </p:nvSpPr>
        <p:spPr>
          <a:xfrm flipV="1">
            <a:off x="4681728" y="4370832"/>
            <a:ext cx="0" cy="420624"/>
          </a:xfrm>
          <a:prstGeom prst="line">
            <a:avLst/>
          </a:prstGeom>
          <a:noFill/>
          <a:ln w="17780">
            <a:solidFill>
              <a:srgbClr val="007E80"/>
            </a:solidFill>
            <a:prstDash val="solid"/>
            <a:headEnd type="none"/>
            <a:tailEnd type="triangle"/>
          </a:ln>
        </p:spPr>
        <p:txBody>
          <a:bodyPr/>
          <a:lstStyle/>
          <a:p>
            <a:endParaRPr lang="en-IN"/>
          </a:p>
        </p:txBody>
      </p:sp>
      <p:sp>
        <p:nvSpPr>
          <p:cNvPr id="46" name="shape_137"/>
          <p:cNvSpPr/>
          <p:nvPr/>
        </p:nvSpPr>
        <p:spPr>
          <a:xfrm>
            <a:off x="5806440" y="4636008"/>
            <a:ext cx="3602736" cy="301752"/>
          </a:xfrm>
          <a:prstGeom prst="rect">
            <a:avLst/>
          </a:prstGeom>
          <a:solidFill>
            <a:srgbClr val="F4F7F6"/>
          </a:solidFill>
          <a:ln w="12700">
            <a:solidFill>
              <a:srgbClr val="F4F7F6"/>
            </a:solidFill>
            <a:prstDash val="solid"/>
          </a:ln>
        </p:spPr>
        <p:txBody>
          <a:bodyPr/>
          <a:lstStyle/>
          <a:p>
            <a:endParaRPr lang="en-IN"/>
          </a:p>
        </p:txBody>
      </p:sp>
      <p:sp>
        <p:nvSpPr>
          <p:cNvPr id="47" name="text_138"/>
          <p:cNvSpPr txBox="1"/>
          <p:nvPr/>
        </p:nvSpPr>
        <p:spPr>
          <a:xfrm>
            <a:off x="5870448" y="4640580"/>
            <a:ext cx="3474720" cy="283464"/>
          </a:xfrm>
          <a:prstGeom prst="rect">
            <a:avLst/>
          </a:prstGeom>
          <a:noFill/>
          <a:ln/>
        </p:spPr>
        <p:txBody>
          <a:bodyPr wrap="square" lIns="0" tIns="0" rIns="0" bIns="0" rtlCol="0" anchor="ctr"/>
          <a:lstStyle/>
          <a:p>
            <a:pPr marL="0" indent="0" algn="ctr">
              <a:buNone/>
            </a:pPr>
            <a:r>
              <a:rPr lang="en-US" sz="1200" dirty="0">
                <a:solidFill>
                  <a:srgbClr val="007E80"/>
                </a:solidFill>
                <a:latin typeface="Arial" pitchFamily="34" charset="0"/>
                <a:ea typeface="Arial" pitchFamily="34" charset="-122"/>
                <a:cs typeface="Arial" pitchFamily="34" charset="-120"/>
              </a:rPr>
              <a:t>Use new evidence to refine the next step</a:t>
            </a:r>
            <a:endParaRPr lang="en-US" sz="1200" dirty="0"/>
          </a:p>
        </p:txBody>
      </p:sp>
      <p:sp>
        <p:nvSpPr>
          <p:cNvPr id="48" name="shape_139"/>
          <p:cNvSpPr/>
          <p:nvPr/>
        </p:nvSpPr>
        <p:spPr>
          <a:xfrm>
            <a:off x="640080" y="5385816"/>
            <a:ext cx="10908792" cy="548640"/>
          </a:xfrm>
          <a:prstGeom prst="roundRect">
            <a:avLst>
              <a:gd name="adj" fmla="val 13333"/>
            </a:avLst>
          </a:prstGeom>
          <a:solidFill>
            <a:srgbClr val="142329"/>
          </a:solidFill>
          <a:ln w="12700">
            <a:solidFill>
              <a:srgbClr val="142329"/>
            </a:solidFill>
            <a:prstDash val="solid"/>
          </a:ln>
        </p:spPr>
        <p:txBody>
          <a:bodyPr/>
          <a:lstStyle/>
          <a:p>
            <a:endParaRPr lang="en-IN"/>
          </a:p>
        </p:txBody>
      </p:sp>
      <p:sp>
        <p:nvSpPr>
          <p:cNvPr id="49" name="text_140"/>
          <p:cNvSpPr txBox="1"/>
          <p:nvPr/>
        </p:nvSpPr>
        <p:spPr>
          <a:xfrm>
            <a:off x="896112" y="5532120"/>
            <a:ext cx="2560320" cy="173736"/>
          </a:xfrm>
          <a:prstGeom prst="rect">
            <a:avLst/>
          </a:prstGeom>
          <a:noFill/>
          <a:ln/>
        </p:spPr>
        <p:txBody>
          <a:bodyPr wrap="square" lIns="0" tIns="0" rIns="0" bIns="0" rtlCol="0" anchor="ctr"/>
          <a:lstStyle/>
          <a:p>
            <a:pPr marL="0" indent="0" algn="l">
              <a:buNone/>
            </a:pPr>
            <a:r>
              <a:rPr lang="en-US" sz="1050" b="1" kern="0" spc="100" dirty="0">
                <a:solidFill>
                  <a:srgbClr val="69DFC8"/>
                </a:solidFill>
                <a:latin typeface="Arial" pitchFamily="34" charset="0"/>
                <a:ea typeface="Arial" pitchFamily="34" charset="-122"/>
                <a:cs typeface="Arial" pitchFamily="34" charset="-120"/>
              </a:rPr>
              <a:t>HUMAN CHECKPOINTS</a:t>
            </a:r>
            <a:endParaRPr lang="en-US" sz="1050" dirty="0"/>
          </a:p>
        </p:txBody>
      </p:sp>
      <p:sp>
        <p:nvSpPr>
          <p:cNvPr id="50" name="text_141"/>
          <p:cNvSpPr txBox="1"/>
          <p:nvPr/>
        </p:nvSpPr>
        <p:spPr>
          <a:xfrm>
            <a:off x="3657600" y="5504688"/>
            <a:ext cx="7452360" cy="246888"/>
          </a:xfrm>
          <a:prstGeom prst="rect">
            <a:avLst/>
          </a:prstGeom>
          <a:noFill/>
          <a:ln/>
        </p:spPr>
        <p:txBody>
          <a:bodyPr wrap="square" lIns="0" tIns="0" rIns="0" bIns="0" rtlCol="0" anchor="ctr"/>
          <a:lstStyle/>
          <a:p>
            <a:pPr marL="0" indent="0" algn="l">
              <a:buNone/>
            </a:pPr>
            <a:r>
              <a:rPr lang="en-US" sz="1500" dirty="0">
                <a:solidFill>
                  <a:srgbClr val="FFFFFF"/>
                </a:solidFill>
                <a:latin typeface="Arial" pitchFamily="34" charset="0"/>
                <a:ea typeface="Arial" pitchFamily="34" charset="-122"/>
                <a:cs typeface="Arial" pitchFamily="34" charset="-120"/>
              </a:rPr>
              <a:t>Clarify scope  •  Approve sensitive actions  •  Review the outcome</a:t>
            </a:r>
            <a:endParaRPr lang="en-US" sz="1500" dirty="0"/>
          </a:p>
        </p:txBody>
      </p:sp>
      <p:sp>
        <p:nvSpPr>
          <p:cNvPr id="51" name="line_142"/>
          <p:cNvSpPr/>
          <p:nvPr/>
        </p:nvSpPr>
        <p:spPr>
          <a:xfrm>
            <a:off x="603504" y="6364224"/>
            <a:ext cx="10972800" cy="0"/>
          </a:xfrm>
          <a:prstGeom prst="line">
            <a:avLst/>
          </a:prstGeom>
          <a:noFill/>
          <a:ln w="8890">
            <a:solidFill>
              <a:srgbClr val="D6E2DF"/>
            </a:solidFill>
            <a:prstDash val="solid"/>
            <a:headEnd type="none"/>
            <a:tailEnd type="none"/>
          </a:ln>
        </p:spPr>
        <p:txBody>
          <a:bodyPr/>
          <a:lstStyle/>
          <a:p>
            <a:endParaRPr lang="en-IN"/>
          </a:p>
        </p:txBody>
      </p:sp>
      <p:sp>
        <p:nvSpPr>
          <p:cNvPr id="52" name="text_143"/>
          <p:cNvSpPr txBox="1"/>
          <p:nvPr/>
        </p:nvSpPr>
        <p:spPr>
          <a:xfrm>
            <a:off x="621792" y="6473952"/>
            <a:ext cx="6309360" cy="146304"/>
          </a:xfrm>
          <a:prstGeom prst="rect">
            <a:avLst/>
          </a:prstGeom>
          <a:noFill/>
          <a:ln/>
        </p:spPr>
        <p:txBody>
          <a:bodyPr wrap="square" lIns="0" tIns="0" rIns="0" bIns="0" rtlCol="0" anchor="ctr"/>
          <a:lstStyle/>
          <a:p>
            <a:pPr marL="0" indent="0" algn="l">
              <a:buNone/>
            </a:pPr>
            <a:r>
              <a:rPr lang="en-US" sz="830" kern="0" spc="105" dirty="0">
                <a:solidFill>
                  <a:srgbClr val="55707A"/>
                </a:solidFill>
                <a:latin typeface="Arial" pitchFamily="34" charset="0"/>
                <a:ea typeface="Arial" pitchFamily="34" charset="-122"/>
                <a:cs typeface="Arial" pitchFamily="34" charset="-120"/>
              </a:rPr>
              <a:t>AGENTIC AI  /  A PRACTICAL BUSINESS BRIEFING</a:t>
            </a:r>
            <a:endParaRPr lang="en-US" sz="830" dirty="0"/>
          </a:p>
        </p:txBody>
      </p:sp>
      <p:sp>
        <p:nvSpPr>
          <p:cNvPr id="53" name="text_144"/>
          <p:cNvSpPr txBox="1"/>
          <p:nvPr/>
        </p:nvSpPr>
        <p:spPr>
          <a:xfrm>
            <a:off x="6492240" y="6460236"/>
            <a:ext cx="4434840" cy="182880"/>
          </a:xfrm>
          <a:prstGeom prst="rect">
            <a:avLst/>
          </a:prstGeom>
          <a:noFill/>
          <a:ln/>
        </p:spPr>
        <p:txBody>
          <a:bodyPr wrap="square" lIns="0" tIns="0" rIns="0" bIns="0" rtlCol="0" anchor="ctr"/>
          <a:lstStyle/>
          <a:p>
            <a:pPr marL="0" indent="0" algn="r">
              <a:buNone/>
            </a:pPr>
            <a:r>
              <a:rPr lang="en-US" sz="810" dirty="0">
                <a:solidFill>
                  <a:srgbClr val="55707A"/>
                </a:solidFill>
                <a:latin typeface="Arial" pitchFamily="34" charset="0"/>
                <a:ea typeface="Arial" pitchFamily="34" charset="-122"/>
                <a:cs typeface="Arial" pitchFamily="34" charset="-120"/>
              </a:rPr>
              <a:t>Foundation: [1]  •  Stop on completion, limits or blockers</a:t>
            </a:r>
            <a:endParaRPr lang="en-US" sz="810" dirty="0"/>
          </a:p>
        </p:txBody>
      </p:sp>
      <p:sp>
        <p:nvSpPr>
          <p:cNvPr id="54" name="text_145"/>
          <p:cNvSpPr txBox="1"/>
          <p:nvPr/>
        </p:nvSpPr>
        <p:spPr>
          <a:xfrm>
            <a:off x="11091672" y="6441948"/>
            <a:ext cx="466344" cy="201168"/>
          </a:xfrm>
          <a:prstGeom prst="rect">
            <a:avLst/>
          </a:prstGeom>
          <a:noFill/>
          <a:ln/>
        </p:spPr>
        <p:txBody>
          <a:bodyPr wrap="square" lIns="0" tIns="0" rIns="0" bIns="0" rtlCol="0" anchor="ctr"/>
          <a:lstStyle/>
          <a:p>
            <a:pPr marL="0" indent="0" algn="r">
              <a:buNone/>
            </a:pPr>
            <a:r>
              <a:rPr lang="en-US" sz="1000" b="1" dirty="0">
                <a:solidFill>
                  <a:srgbClr val="007E80"/>
                </a:solidFill>
                <a:latin typeface="Arial" pitchFamily="34" charset="0"/>
                <a:ea typeface="Arial" pitchFamily="34" charset="-122"/>
                <a:cs typeface="Arial"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2329"/>
        </a:solidFill>
        <a:effectLst/>
      </p:bgPr>
    </p:bg>
    <p:spTree>
      <p:nvGrpSpPr>
        <p:cNvPr id="1" name=""/>
        <p:cNvGrpSpPr/>
        <p:nvPr/>
      </p:nvGrpSpPr>
      <p:grpSpPr>
        <a:xfrm>
          <a:off x="0" y="0"/>
          <a:ext cx="0" cy="0"/>
          <a:chOff x="0" y="0"/>
          <a:chExt cx="0" cy="0"/>
        </a:xfrm>
      </p:grpSpPr>
      <p:sp>
        <p:nvSpPr>
          <p:cNvPr id="2" name="text_146"/>
          <p:cNvSpPr txBox="1"/>
          <p:nvPr/>
        </p:nvSpPr>
        <p:spPr>
          <a:xfrm>
            <a:off x="621792" y="448056"/>
            <a:ext cx="10058400" cy="219456"/>
          </a:xfrm>
          <a:prstGeom prst="rect">
            <a:avLst/>
          </a:prstGeom>
          <a:noFill/>
          <a:ln/>
        </p:spPr>
        <p:txBody>
          <a:bodyPr wrap="square" lIns="0" tIns="0" rIns="0" bIns="0" rtlCol="0" anchor="ctr"/>
          <a:lstStyle/>
          <a:p>
            <a:pPr marL="0" indent="0" algn="l">
              <a:buNone/>
            </a:pPr>
            <a:r>
              <a:rPr lang="en-US" sz="1050" b="1" kern="0" spc="200" dirty="0">
                <a:solidFill>
                  <a:srgbClr val="69DFC8"/>
                </a:solidFill>
                <a:latin typeface="Arial" pitchFamily="34" charset="0"/>
                <a:ea typeface="Arial" pitchFamily="34" charset="-122"/>
                <a:cs typeface="Arial" pitchFamily="34" charset="-120"/>
              </a:rPr>
              <a:t>03 / A PRACTICAL EXAMPLE</a:t>
            </a:r>
            <a:endParaRPr lang="en-US" sz="1050" dirty="0"/>
          </a:p>
        </p:txBody>
      </p:sp>
      <p:sp>
        <p:nvSpPr>
          <p:cNvPr id="3" name="text_147"/>
          <p:cNvSpPr txBox="1"/>
          <p:nvPr/>
        </p:nvSpPr>
        <p:spPr>
          <a:xfrm>
            <a:off x="621792" y="905256"/>
            <a:ext cx="10972800" cy="630936"/>
          </a:xfrm>
          <a:prstGeom prst="rect">
            <a:avLst/>
          </a:prstGeom>
          <a:noFill/>
          <a:ln/>
        </p:spPr>
        <p:txBody>
          <a:bodyPr wrap="square" lIns="0" tIns="0" rIns="0" bIns="0" rtlCol="0" anchor="ctr"/>
          <a:lstStyle/>
          <a:p>
            <a:pPr marL="0" indent="0" algn="l">
              <a:buNone/>
            </a:pPr>
            <a:r>
              <a:rPr lang="en-US" sz="3100" b="1" kern="0" spc="-60" dirty="0">
                <a:solidFill>
                  <a:srgbClr val="FFFFFF"/>
                </a:solidFill>
                <a:latin typeface="Arial" pitchFamily="34" charset="0"/>
                <a:ea typeface="Arial" pitchFamily="34" charset="-122"/>
                <a:cs typeface="Arial" pitchFamily="34" charset="-120"/>
              </a:rPr>
              <a:t>Turn expense data into a checked briefing.</a:t>
            </a:r>
            <a:endParaRPr lang="en-US" sz="3100" dirty="0"/>
          </a:p>
        </p:txBody>
      </p:sp>
      <p:sp>
        <p:nvSpPr>
          <p:cNvPr id="4" name="text_148"/>
          <p:cNvSpPr txBox="1"/>
          <p:nvPr/>
        </p:nvSpPr>
        <p:spPr>
          <a:xfrm>
            <a:off x="640080" y="1609344"/>
            <a:ext cx="10835640" cy="347472"/>
          </a:xfrm>
          <a:prstGeom prst="rect">
            <a:avLst/>
          </a:prstGeom>
          <a:noFill/>
          <a:ln/>
        </p:spPr>
        <p:txBody>
          <a:bodyPr wrap="square" lIns="0" tIns="0" rIns="0" bIns="0" rtlCol="0" anchor="ctr"/>
          <a:lstStyle/>
          <a:p>
            <a:pPr marL="0" indent="0" algn="l">
              <a:buNone/>
            </a:pPr>
            <a:r>
              <a:rPr lang="en-US" sz="1650" dirty="0">
                <a:solidFill>
                  <a:srgbClr val="ADC4C5"/>
                </a:solidFill>
                <a:latin typeface="Arial" pitchFamily="34" charset="0"/>
                <a:ea typeface="Arial" pitchFamily="34" charset="-122"/>
                <a:cs typeface="Arial" pitchFamily="34" charset="-120"/>
              </a:rPr>
              <a:t>Illustrative task: use approved inputs, create an editable deck, then verify the saved result.</a:t>
            </a:r>
            <a:endParaRPr lang="en-US" sz="1650" dirty="0"/>
          </a:p>
        </p:txBody>
      </p:sp>
      <p:sp>
        <p:nvSpPr>
          <p:cNvPr id="5" name="text_149"/>
          <p:cNvSpPr txBox="1"/>
          <p:nvPr/>
        </p:nvSpPr>
        <p:spPr>
          <a:xfrm>
            <a:off x="658368" y="2212848"/>
            <a:ext cx="2560320" cy="192024"/>
          </a:xfrm>
          <a:prstGeom prst="rect">
            <a:avLst/>
          </a:prstGeom>
          <a:noFill/>
          <a:ln/>
        </p:spPr>
        <p:txBody>
          <a:bodyPr wrap="square" lIns="0" tIns="0" rIns="0" bIns="0" rtlCol="0" anchor="ctr"/>
          <a:lstStyle/>
          <a:p>
            <a:pPr marL="0" indent="0" algn="l">
              <a:buNone/>
            </a:pPr>
            <a:r>
              <a:rPr lang="en-US" sz="1030" b="1" kern="0" spc="120" dirty="0">
                <a:solidFill>
                  <a:srgbClr val="69DFC8"/>
                </a:solidFill>
                <a:latin typeface="Arial" pitchFamily="34" charset="0"/>
                <a:ea typeface="Arial" pitchFamily="34" charset="-122"/>
                <a:cs typeface="Arial" pitchFamily="34" charset="-120"/>
              </a:rPr>
              <a:t>APPROVED INPUTS</a:t>
            </a:r>
            <a:endParaRPr lang="en-US" sz="1030" dirty="0"/>
          </a:p>
        </p:txBody>
      </p:sp>
      <p:sp>
        <p:nvSpPr>
          <p:cNvPr id="6" name="shape_150"/>
          <p:cNvSpPr/>
          <p:nvPr/>
        </p:nvSpPr>
        <p:spPr>
          <a:xfrm>
            <a:off x="658368" y="2624328"/>
            <a:ext cx="2551176" cy="594360"/>
          </a:xfrm>
          <a:prstGeom prst="roundRect">
            <a:avLst>
              <a:gd name="adj" fmla="val 9231"/>
            </a:avLst>
          </a:prstGeom>
          <a:solidFill>
            <a:srgbClr val="1D333B"/>
          </a:solidFill>
          <a:ln w="12700">
            <a:solidFill>
              <a:srgbClr val="355158"/>
            </a:solidFill>
            <a:prstDash val="solid"/>
          </a:ln>
        </p:spPr>
        <p:txBody>
          <a:bodyPr/>
          <a:lstStyle/>
          <a:p>
            <a:endParaRPr lang="en-IN"/>
          </a:p>
        </p:txBody>
      </p:sp>
      <p:sp>
        <p:nvSpPr>
          <p:cNvPr id="7" name="text_151"/>
          <p:cNvSpPr txBox="1"/>
          <p:nvPr/>
        </p:nvSpPr>
        <p:spPr>
          <a:xfrm>
            <a:off x="859536" y="2715768"/>
            <a:ext cx="2121408" cy="201168"/>
          </a:xfrm>
          <a:prstGeom prst="rect">
            <a:avLst/>
          </a:prstGeom>
          <a:noFill/>
          <a:ln/>
        </p:spPr>
        <p:txBody>
          <a:bodyPr wrap="square" lIns="0" tIns="0" rIns="0" bIns="0" rtlCol="0" anchor="ctr"/>
          <a:lstStyle/>
          <a:p>
            <a:pPr marL="0" indent="0" algn="l">
              <a:buNone/>
            </a:pPr>
            <a:r>
              <a:rPr lang="en-US" sz="1500" b="1" dirty="0">
                <a:solidFill>
                  <a:srgbClr val="FFFFFF"/>
                </a:solidFill>
                <a:latin typeface="Arial" pitchFamily="34" charset="0"/>
                <a:ea typeface="Arial" pitchFamily="34" charset="-122"/>
                <a:cs typeface="Arial" pitchFamily="34" charset="-120"/>
              </a:rPr>
              <a:t>Data workbook</a:t>
            </a:r>
            <a:endParaRPr lang="en-US" sz="1500" dirty="0"/>
          </a:p>
        </p:txBody>
      </p:sp>
      <p:sp>
        <p:nvSpPr>
          <p:cNvPr id="8" name="text_152"/>
          <p:cNvSpPr txBox="1"/>
          <p:nvPr/>
        </p:nvSpPr>
        <p:spPr>
          <a:xfrm>
            <a:off x="859536" y="2962656"/>
            <a:ext cx="2121408" cy="164592"/>
          </a:xfrm>
          <a:prstGeom prst="rect">
            <a:avLst/>
          </a:prstGeom>
          <a:noFill/>
          <a:ln/>
        </p:spPr>
        <p:txBody>
          <a:bodyPr wrap="square" lIns="0" tIns="0" rIns="0" bIns="0" rtlCol="0" anchor="ctr"/>
          <a:lstStyle/>
          <a:p>
            <a:pPr marL="0" indent="0" algn="l">
              <a:buNone/>
            </a:pPr>
            <a:r>
              <a:rPr lang="en-US" sz="1050" dirty="0">
                <a:solidFill>
                  <a:srgbClr val="ADC4C5"/>
                </a:solidFill>
                <a:latin typeface="Arial" pitchFamily="34" charset="0"/>
                <a:ea typeface="Arial" pitchFamily="34" charset="-122"/>
                <a:cs typeface="Arial" pitchFamily="34" charset="-120"/>
              </a:rPr>
              <a:t>Current records</a:t>
            </a:r>
            <a:endParaRPr lang="en-US" sz="1050" dirty="0"/>
          </a:p>
        </p:txBody>
      </p:sp>
      <p:sp>
        <p:nvSpPr>
          <p:cNvPr id="9" name="shape_153"/>
          <p:cNvSpPr/>
          <p:nvPr/>
        </p:nvSpPr>
        <p:spPr>
          <a:xfrm>
            <a:off x="658368" y="3419856"/>
            <a:ext cx="2551176" cy="594360"/>
          </a:xfrm>
          <a:prstGeom prst="roundRect">
            <a:avLst>
              <a:gd name="adj" fmla="val 9231"/>
            </a:avLst>
          </a:prstGeom>
          <a:solidFill>
            <a:srgbClr val="1D333B"/>
          </a:solidFill>
          <a:ln w="12700">
            <a:solidFill>
              <a:srgbClr val="355158"/>
            </a:solidFill>
            <a:prstDash val="solid"/>
          </a:ln>
        </p:spPr>
        <p:txBody>
          <a:bodyPr/>
          <a:lstStyle/>
          <a:p>
            <a:endParaRPr lang="en-IN"/>
          </a:p>
        </p:txBody>
      </p:sp>
      <p:sp>
        <p:nvSpPr>
          <p:cNvPr id="10" name="text_154"/>
          <p:cNvSpPr txBox="1"/>
          <p:nvPr/>
        </p:nvSpPr>
        <p:spPr>
          <a:xfrm>
            <a:off x="859536" y="3511296"/>
            <a:ext cx="2121408" cy="201168"/>
          </a:xfrm>
          <a:prstGeom prst="rect">
            <a:avLst/>
          </a:prstGeom>
          <a:noFill/>
          <a:ln/>
        </p:spPr>
        <p:txBody>
          <a:bodyPr wrap="square" lIns="0" tIns="0" rIns="0" bIns="0" rtlCol="0" anchor="ctr"/>
          <a:lstStyle/>
          <a:p>
            <a:pPr marL="0" indent="0" algn="l">
              <a:buNone/>
            </a:pPr>
            <a:r>
              <a:rPr lang="en-US" sz="1500" b="1" dirty="0">
                <a:solidFill>
                  <a:srgbClr val="FFFFFF"/>
                </a:solidFill>
                <a:latin typeface="Arial" pitchFamily="34" charset="0"/>
                <a:ea typeface="Arial" pitchFamily="34" charset="-122"/>
                <a:cs typeface="Arial" pitchFamily="34" charset="-120"/>
              </a:rPr>
              <a:t>Style reference</a:t>
            </a:r>
            <a:endParaRPr lang="en-US" sz="1500" dirty="0"/>
          </a:p>
        </p:txBody>
      </p:sp>
      <p:sp>
        <p:nvSpPr>
          <p:cNvPr id="11" name="text_155"/>
          <p:cNvSpPr txBox="1"/>
          <p:nvPr/>
        </p:nvSpPr>
        <p:spPr>
          <a:xfrm>
            <a:off x="859536" y="3758184"/>
            <a:ext cx="2121408" cy="164592"/>
          </a:xfrm>
          <a:prstGeom prst="rect">
            <a:avLst/>
          </a:prstGeom>
          <a:noFill/>
          <a:ln/>
        </p:spPr>
        <p:txBody>
          <a:bodyPr wrap="square" lIns="0" tIns="0" rIns="0" bIns="0" rtlCol="0" anchor="ctr"/>
          <a:lstStyle/>
          <a:p>
            <a:pPr marL="0" indent="0" algn="l">
              <a:buNone/>
            </a:pPr>
            <a:r>
              <a:rPr lang="en-US" sz="1050" dirty="0">
                <a:solidFill>
                  <a:srgbClr val="ADC4C5"/>
                </a:solidFill>
                <a:latin typeface="Arial" pitchFamily="34" charset="0"/>
                <a:ea typeface="Arial" pitchFamily="34" charset="-122"/>
                <a:cs typeface="Arial" pitchFamily="34" charset="-120"/>
              </a:rPr>
              <a:t>Visual direction</a:t>
            </a:r>
            <a:endParaRPr lang="en-US" sz="1050" dirty="0"/>
          </a:p>
        </p:txBody>
      </p:sp>
      <p:sp>
        <p:nvSpPr>
          <p:cNvPr id="12" name="shape_156"/>
          <p:cNvSpPr/>
          <p:nvPr/>
        </p:nvSpPr>
        <p:spPr>
          <a:xfrm>
            <a:off x="658368" y="4215384"/>
            <a:ext cx="2551176" cy="594360"/>
          </a:xfrm>
          <a:prstGeom prst="roundRect">
            <a:avLst>
              <a:gd name="adj" fmla="val 9231"/>
            </a:avLst>
          </a:prstGeom>
          <a:solidFill>
            <a:srgbClr val="1D333B"/>
          </a:solidFill>
          <a:ln w="12700">
            <a:solidFill>
              <a:srgbClr val="355158"/>
            </a:solidFill>
            <a:prstDash val="solid"/>
          </a:ln>
        </p:spPr>
        <p:txBody>
          <a:bodyPr/>
          <a:lstStyle/>
          <a:p>
            <a:endParaRPr lang="en-IN"/>
          </a:p>
        </p:txBody>
      </p:sp>
      <p:sp>
        <p:nvSpPr>
          <p:cNvPr id="13" name="text_157"/>
          <p:cNvSpPr txBox="1"/>
          <p:nvPr/>
        </p:nvSpPr>
        <p:spPr>
          <a:xfrm>
            <a:off x="859536" y="4306824"/>
            <a:ext cx="2121408" cy="201168"/>
          </a:xfrm>
          <a:prstGeom prst="rect">
            <a:avLst/>
          </a:prstGeom>
          <a:noFill/>
          <a:ln/>
        </p:spPr>
        <p:txBody>
          <a:bodyPr wrap="square" lIns="0" tIns="0" rIns="0" bIns="0" rtlCol="0" anchor="ctr"/>
          <a:lstStyle/>
          <a:p>
            <a:pPr marL="0" indent="0" algn="l">
              <a:buNone/>
            </a:pPr>
            <a:r>
              <a:rPr lang="en-US" sz="1500" b="1" dirty="0">
                <a:solidFill>
                  <a:srgbClr val="FFFFFF"/>
                </a:solidFill>
                <a:latin typeface="Arial" pitchFamily="34" charset="0"/>
                <a:ea typeface="Arial" pitchFamily="34" charset="-122"/>
                <a:cs typeface="Arial" pitchFamily="34" charset="-120"/>
              </a:rPr>
              <a:t>Task rules</a:t>
            </a:r>
            <a:endParaRPr lang="en-US" sz="1500" dirty="0"/>
          </a:p>
        </p:txBody>
      </p:sp>
      <p:sp>
        <p:nvSpPr>
          <p:cNvPr id="14" name="text_158"/>
          <p:cNvSpPr txBox="1"/>
          <p:nvPr/>
        </p:nvSpPr>
        <p:spPr>
          <a:xfrm>
            <a:off x="859536" y="4553712"/>
            <a:ext cx="2121408" cy="164592"/>
          </a:xfrm>
          <a:prstGeom prst="rect">
            <a:avLst/>
          </a:prstGeom>
          <a:noFill/>
          <a:ln/>
        </p:spPr>
        <p:txBody>
          <a:bodyPr wrap="square" lIns="0" tIns="0" rIns="0" bIns="0" rtlCol="0" anchor="ctr"/>
          <a:lstStyle/>
          <a:p>
            <a:pPr marL="0" indent="0" algn="l">
              <a:buNone/>
            </a:pPr>
            <a:r>
              <a:rPr lang="en-US" sz="1050" dirty="0">
                <a:solidFill>
                  <a:srgbClr val="ADC4C5"/>
                </a:solidFill>
                <a:latin typeface="Arial" pitchFamily="34" charset="0"/>
                <a:ea typeface="Arial" pitchFamily="34" charset="-122"/>
                <a:cs typeface="Arial" pitchFamily="34" charset="-120"/>
              </a:rPr>
              <a:t>Scope and permissions</a:t>
            </a:r>
            <a:endParaRPr lang="en-US" sz="1050" dirty="0"/>
          </a:p>
        </p:txBody>
      </p:sp>
      <p:sp>
        <p:nvSpPr>
          <p:cNvPr id="15" name="line_159"/>
          <p:cNvSpPr/>
          <p:nvPr/>
        </p:nvSpPr>
        <p:spPr>
          <a:xfrm>
            <a:off x="3337560" y="3703320"/>
            <a:ext cx="365760" cy="0"/>
          </a:xfrm>
          <a:prstGeom prst="line">
            <a:avLst/>
          </a:prstGeom>
          <a:noFill/>
          <a:ln w="20320">
            <a:solidFill>
              <a:srgbClr val="69DFC8"/>
            </a:solidFill>
            <a:prstDash val="solid"/>
            <a:headEnd type="none"/>
            <a:tailEnd type="triangle"/>
          </a:ln>
        </p:spPr>
        <p:txBody>
          <a:bodyPr/>
          <a:lstStyle/>
          <a:p>
            <a:endParaRPr lang="en-IN"/>
          </a:p>
        </p:txBody>
      </p:sp>
      <p:sp>
        <p:nvSpPr>
          <p:cNvPr id="16" name="text_160"/>
          <p:cNvSpPr txBox="1"/>
          <p:nvPr/>
        </p:nvSpPr>
        <p:spPr>
          <a:xfrm>
            <a:off x="3931920" y="2212848"/>
            <a:ext cx="3611880" cy="192024"/>
          </a:xfrm>
          <a:prstGeom prst="rect">
            <a:avLst/>
          </a:prstGeom>
          <a:noFill/>
          <a:ln/>
        </p:spPr>
        <p:txBody>
          <a:bodyPr wrap="square" lIns="0" tIns="0" rIns="0" bIns="0" rtlCol="0" anchor="ctr"/>
          <a:lstStyle/>
          <a:p>
            <a:pPr marL="0" indent="0" algn="l">
              <a:buNone/>
            </a:pPr>
            <a:r>
              <a:rPr lang="en-US" sz="1030" b="1" kern="0" spc="120" dirty="0">
                <a:solidFill>
                  <a:srgbClr val="69DFC8"/>
                </a:solidFill>
                <a:latin typeface="Arial" pitchFamily="34" charset="0"/>
                <a:ea typeface="Arial" pitchFamily="34" charset="-122"/>
                <a:cs typeface="Arial" pitchFamily="34" charset="-120"/>
              </a:rPr>
              <a:t>AGENTIC WORK</a:t>
            </a:r>
            <a:endParaRPr lang="en-US" sz="1030" dirty="0"/>
          </a:p>
        </p:txBody>
      </p:sp>
      <p:sp>
        <p:nvSpPr>
          <p:cNvPr id="17" name="circle_161"/>
          <p:cNvSpPr/>
          <p:nvPr/>
        </p:nvSpPr>
        <p:spPr>
          <a:xfrm>
            <a:off x="3941064" y="2688336"/>
            <a:ext cx="338328" cy="338328"/>
          </a:xfrm>
          <a:prstGeom prst="ellipse">
            <a:avLst/>
          </a:prstGeom>
          <a:solidFill>
            <a:srgbClr val="007E80"/>
          </a:solidFill>
          <a:ln w="12700">
            <a:solidFill>
              <a:srgbClr val="007E80"/>
            </a:solidFill>
            <a:prstDash val="solid"/>
          </a:ln>
        </p:spPr>
        <p:txBody>
          <a:bodyPr/>
          <a:lstStyle/>
          <a:p>
            <a:endParaRPr lang="en-IN"/>
          </a:p>
        </p:txBody>
      </p:sp>
      <p:sp>
        <p:nvSpPr>
          <p:cNvPr id="18" name="text_162"/>
          <p:cNvSpPr txBox="1"/>
          <p:nvPr/>
        </p:nvSpPr>
        <p:spPr>
          <a:xfrm>
            <a:off x="3941064" y="2688336"/>
            <a:ext cx="338328"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9" name="text_163"/>
          <p:cNvSpPr txBox="1"/>
          <p:nvPr/>
        </p:nvSpPr>
        <p:spPr>
          <a:xfrm>
            <a:off x="4434840" y="2670048"/>
            <a:ext cx="3200400" cy="265176"/>
          </a:xfrm>
          <a:prstGeom prst="rect">
            <a:avLst/>
          </a:prstGeom>
          <a:noFill/>
          <a:ln/>
        </p:spPr>
        <p:txBody>
          <a:bodyPr wrap="square" lIns="0" tIns="0" rIns="0" bIns="0" rtlCol="0" anchor="ctr"/>
          <a:lstStyle/>
          <a:p>
            <a:pPr marL="0" indent="0" algn="l">
              <a:buNone/>
            </a:pPr>
            <a:r>
              <a:rPr lang="en-US" sz="1800" b="1" dirty="0">
                <a:solidFill>
                  <a:srgbClr val="FFFFFF"/>
                </a:solidFill>
                <a:latin typeface="Arial" pitchFamily="34" charset="0"/>
                <a:ea typeface="Arial" pitchFamily="34" charset="-122"/>
                <a:cs typeface="Arial" pitchFamily="34" charset="-120"/>
              </a:rPr>
              <a:t>Read &amp; reconcile</a:t>
            </a:r>
            <a:endParaRPr lang="en-US" sz="1800" dirty="0"/>
          </a:p>
        </p:txBody>
      </p:sp>
      <p:sp>
        <p:nvSpPr>
          <p:cNvPr id="20" name="text_164"/>
          <p:cNvSpPr txBox="1"/>
          <p:nvPr/>
        </p:nvSpPr>
        <p:spPr>
          <a:xfrm>
            <a:off x="4434840" y="3008376"/>
            <a:ext cx="3200400" cy="310896"/>
          </a:xfrm>
          <a:prstGeom prst="rect">
            <a:avLst/>
          </a:prstGeom>
          <a:noFill/>
          <a:ln/>
        </p:spPr>
        <p:txBody>
          <a:bodyPr wrap="square" lIns="0" tIns="0" rIns="0" bIns="0" rtlCol="0" anchor="ctr"/>
          <a:lstStyle/>
          <a:p>
            <a:pPr marL="0" indent="0" algn="l">
              <a:buNone/>
            </a:pPr>
            <a:r>
              <a:rPr lang="en-US" sz="1220" dirty="0">
                <a:solidFill>
                  <a:srgbClr val="ADC4C5"/>
                </a:solidFill>
                <a:latin typeface="Arial" pitchFamily="34" charset="0"/>
                <a:ea typeface="Arial" pitchFamily="34" charset="-122"/>
                <a:cs typeface="Arial" pitchFamily="34" charset="-120"/>
              </a:rPr>
              <a:t>Check counts, categories and formulas.</a:t>
            </a:r>
            <a:endParaRPr lang="en-US" sz="1220" dirty="0"/>
          </a:p>
        </p:txBody>
      </p:sp>
      <p:sp>
        <p:nvSpPr>
          <p:cNvPr id="21" name="line_165"/>
          <p:cNvSpPr/>
          <p:nvPr/>
        </p:nvSpPr>
        <p:spPr>
          <a:xfrm>
            <a:off x="4114800" y="3063240"/>
            <a:ext cx="0" cy="310896"/>
          </a:xfrm>
          <a:prstGeom prst="line">
            <a:avLst/>
          </a:prstGeom>
          <a:noFill/>
          <a:ln w="16510">
            <a:solidFill>
              <a:srgbClr val="355158"/>
            </a:solidFill>
            <a:prstDash val="solid"/>
            <a:headEnd type="none"/>
            <a:tailEnd type="none"/>
          </a:ln>
        </p:spPr>
        <p:txBody>
          <a:bodyPr/>
          <a:lstStyle/>
          <a:p>
            <a:endParaRPr lang="en-IN"/>
          </a:p>
        </p:txBody>
      </p:sp>
      <p:sp>
        <p:nvSpPr>
          <p:cNvPr id="22" name="circle_166"/>
          <p:cNvSpPr/>
          <p:nvPr/>
        </p:nvSpPr>
        <p:spPr>
          <a:xfrm>
            <a:off x="3941064" y="3465576"/>
            <a:ext cx="338328" cy="338328"/>
          </a:xfrm>
          <a:prstGeom prst="ellipse">
            <a:avLst/>
          </a:prstGeom>
          <a:solidFill>
            <a:srgbClr val="007E80"/>
          </a:solidFill>
          <a:ln w="12700">
            <a:solidFill>
              <a:srgbClr val="007E80"/>
            </a:solidFill>
            <a:prstDash val="solid"/>
          </a:ln>
        </p:spPr>
        <p:txBody>
          <a:bodyPr/>
          <a:lstStyle/>
          <a:p>
            <a:endParaRPr lang="en-IN"/>
          </a:p>
        </p:txBody>
      </p:sp>
      <p:sp>
        <p:nvSpPr>
          <p:cNvPr id="23" name="text_167"/>
          <p:cNvSpPr txBox="1"/>
          <p:nvPr/>
        </p:nvSpPr>
        <p:spPr>
          <a:xfrm>
            <a:off x="3941064" y="3465576"/>
            <a:ext cx="338328"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24" name="text_168"/>
          <p:cNvSpPr txBox="1"/>
          <p:nvPr/>
        </p:nvSpPr>
        <p:spPr>
          <a:xfrm>
            <a:off x="4434840" y="3447288"/>
            <a:ext cx="3200400" cy="265176"/>
          </a:xfrm>
          <a:prstGeom prst="rect">
            <a:avLst/>
          </a:prstGeom>
          <a:noFill/>
          <a:ln/>
        </p:spPr>
        <p:txBody>
          <a:bodyPr wrap="square" lIns="0" tIns="0" rIns="0" bIns="0" rtlCol="0" anchor="ctr"/>
          <a:lstStyle/>
          <a:p>
            <a:pPr marL="0" indent="0" algn="l">
              <a:buNone/>
            </a:pPr>
            <a:r>
              <a:rPr lang="en-US" sz="1800" b="1" dirty="0">
                <a:solidFill>
                  <a:srgbClr val="FFFFFF"/>
                </a:solidFill>
                <a:latin typeface="Arial" pitchFamily="34" charset="0"/>
                <a:ea typeface="Arial" pitchFamily="34" charset="-122"/>
                <a:cs typeface="Arial" pitchFamily="34" charset="-120"/>
              </a:rPr>
              <a:t>Create the briefing</a:t>
            </a:r>
            <a:endParaRPr lang="en-US" sz="1800" dirty="0"/>
          </a:p>
        </p:txBody>
      </p:sp>
      <p:sp>
        <p:nvSpPr>
          <p:cNvPr id="25" name="text_169"/>
          <p:cNvSpPr txBox="1"/>
          <p:nvPr/>
        </p:nvSpPr>
        <p:spPr>
          <a:xfrm>
            <a:off x="4434840" y="3785616"/>
            <a:ext cx="3200400" cy="310896"/>
          </a:xfrm>
          <a:prstGeom prst="rect">
            <a:avLst/>
          </a:prstGeom>
          <a:noFill/>
          <a:ln/>
        </p:spPr>
        <p:txBody>
          <a:bodyPr wrap="square" lIns="0" tIns="0" rIns="0" bIns="0" rtlCol="0" anchor="ctr"/>
          <a:lstStyle/>
          <a:p>
            <a:pPr marL="0" indent="0" algn="l">
              <a:buNone/>
            </a:pPr>
            <a:r>
              <a:rPr lang="en-US" sz="1220" dirty="0">
                <a:solidFill>
                  <a:srgbClr val="ADC4C5"/>
                </a:solidFill>
                <a:latin typeface="Arial" pitchFamily="34" charset="0"/>
                <a:ea typeface="Arial" pitchFamily="34" charset="-122"/>
                <a:cs typeface="Arial" pitchFamily="34" charset="-120"/>
              </a:rPr>
              <a:t>Apply the supplied visual reference.</a:t>
            </a:r>
            <a:endParaRPr lang="en-US" sz="1220" dirty="0"/>
          </a:p>
        </p:txBody>
      </p:sp>
      <p:sp>
        <p:nvSpPr>
          <p:cNvPr id="26" name="line_170"/>
          <p:cNvSpPr/>
          <p:nvPr/>
        </p:nvSpPr>
        <p:spPr>
          <a:xfrm>
            <a:off x="4114800" y="3840480"/>
            <a:ext cx="0" cy="310896"/>
          </a:xfrm>
          <a:prstGeom prst="line">
            <a:avLst/>
          </a:prstGeom>
          <a:noFill/>
          <a:ln w="16510">
            <a:solidFill>
              <a:srgbClr val="355158"/>
            </a:solidFill>
            <a:prstDash val="solid"/>
            <a:headEnd type="none"/>
            <a:tailEnd type="none"/>
          </a:ln>
        </p:spPr>
        <p:txBody>
          <a:bodyPr/>
          <a:lstStyle/>
          <a:p>
            <a:endParaRPr lang="en-IN"/>
          </a:p>
        </p:txBody>
      </p:sp>
      <p:sp>
        <p:nvSpPr>
          <p:cNvPr id="27" name="circle_171"/>
          <p:cNvSpPr/>
          <p:nvPr/>
        </p:nvSpPr>
        <p:spPr>
          <a:xfrm>
            <a:off x="3941064" y="4242816"/>
            <a:ext cx="338328" cy="338328"/>
          </a:xfrm>
          <a:prstGeom prst="ellipse">
            <a:avLst/>
          </a:prstGeom>
          <a:solidFill>
            <a:srgbClr val="007E80"/>
          </a:solidFill>
          <a:ln w="12700">
            <a:solidFill>
              <a:srgbClr val="007E80"/>
            </a:solidFill>
            <a:prstDash val="solid"/>
          </a:ln>
        </p:spPr>
        <p:txBody>
          <a:bodyPr/>
          <a:lstStyle/>
          <a:p>
            <a:endParaRPr lang="en-IN"/>
          </a:p>
        </p:txBody>
      </p:sp>
      <p:sp>
        <p:nvSpPr>
          <p:cNvPr id="28" name="text_172"/>
          <p:cNvSpPr txBox="1"/>
          <p:nvPr/>
        </p:nvSpPr>
        <p:spPr>
          <a:xfrm>
            <a:off x="3941064" y="4242816"/>
            <a:ext cx="338328" cy="33832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9" name="text_173"/>
          <p:cNvSpPr txBox="1"/>
          <p:nvPr/>
        </p:nvSpPr>
        <p:spPr>
          <a:xfrm>
            <a:off x="4434840" y="4224528"/>
            <a:ext cx="3200400" cy="265176"/>
          </a:xfrm>
          <a:prstGeom prst="rect">
            <a:avLst/>
          </a:prstGeom>
          <a:noFill/>
          <a:ln/>
        </p:spPr>
        <p:txBody>
          <a:bodyPr wrap="square" lIns="0" tIns="0" rIns="0" bIns="0" rtlCol="0" anchor="ctr"/>
          <a:lstStyle/>
          <a:p>
            <a:pPr marL="0" indent="0" algn="l">
              <a:buNone/>
            </a:pPr>
            <a:r>
              <a:rPr lang="en-US" sz="1800" b="1" dirty="0">
                <a:solidFill>
                  <a:srgbClr val="FFFFFF"/>
                </a:solidFill>
                <a:latin typeface="Arial" pitchFamily="34" charset="0"/>
                <a:ea typeface="Arial" pitchFamily="34" charset="-122"/>
                <a:cs typeface="Arial" pitchFamily="34" charset="-120"/>
              </a:rPr>
              <a:t>Reopen &amp; verify</a:t>
            </a:r>
            <a:endParaRPr lang="en-US" sz="1800" dirty="0"/>
          </a:p>
        </p:txBody>
      </p:sp>
      <p:sp>
        <p:nvSpPr>
          <p:cNvPr id="30" name="text_174"/>
          <p:cNvSpPr txBox="1"/>
          <p:nvPr/>
        </p:nvSpPr>
        <p:spPr>
          <a:xfrm>
            <a:off x="4434840" y="4562856"/>
            <a:ext cx="3200400" cy="310896"/>
          </a:xfrm>
          <a:prstGeom prst="rect">
            <a:avLst/>
          </a:prstGeom>
          <a:noFill/>
          <a:ln/>
        </p:spPr>
        <p:txBody>
          <a:bodyPr wrap="square" lIns="0" tIns="0" rIns="0" bIns="0" rtlCol="0" anchor="ctr"/>
          <a:lstStyle/>
          <a:p>
            <a:pPr marL="0" indent="0" algn="l">
              <a:buNone/>
            </a:pPr>
            <a:r>
              <a:rPr lang="en-US" sz="1220" dirty="0">
                <a:solidFill>
                  <a:srgbClr val="ADC4C5"/>
                </a:solidFill>
                <a:latin typeface="Arial" pitchFamily="34" charset="0"/>
                <a:ea typeface="Arial" pitchFamily="34" charset="-122"/>
                <a:cs typeface="Arial" pitchFamily="34" charset="-120"/>
              </a:rPr>
              <a:t>Compare saved slides with source data.</a:t>
            </a:r>
            <a:endParaRPr lang="en-US" sz="1220" dirty="0"/>
          </a:p>
        </p:txBody>
      </p:sp>
      <p:sp>
        <p:nvSpPr>
          <p:cNvPr id="31" name="line_175"/>
          <p:cNvSpPr/>
          <p:nvPr/>
        </p:nvSpPr>
        <p:spPr>
          <a:xfrm>
            <a:off x="7653528" y="3703320"/>
            <a:ext cx="374904" cy="0"/>
          </a:xfrm>
          <a:prstGeom prst="line">
            <a:avLst/>
          </a:prstGeom>
          <a:noFill/>
          <a:ln w="20320">
            <a:solidFill>
              <a:srgbClr val="69DFC8"/>
            </a:solidFill>
            <a:prstDash val="solid"/>
            <a:headEnd type="none"/>
            <a:tailEnd type="triangle"/>
          </a:ln>
        </p:spPr>
        <p:txBody>
          <a:bodyPr/>
          <a:lstStyle/>
          <a:p>
            <a:endParaRPr lang="en-IN"/>
          </a:p>
        </p:txBody>
      </p:sp>
      <p:sp>
        <p:nvSpPr>
          <p:cNvPr id="32" name="text_176"/>
          <p:cNvSpPr txBox="1"/>
          <p:nvPr/>
        </p:nvSpPr>
        <p:spPr>
          <a:xfrm>
            <a:off x="8247888" y="2212848"/>
            <a:ext cx="3300984" cy="192024"/>
          </a:xfrm>
          <a:prstGeom prst="rect">
            <a:avLst/>
          </a:prstGeom>
          <a:noFill/>
          <a:ln/>
        </p:spPr>
        <p:txBody>
          <a:bodyPr wrap="square" lIns="0" tIns="0" rIns="0" bIns="0" rtlCol="0" anchor="ctr"/>
          <a:lstStyle/>
          <a:p>
            <a:pPr marL="0" indent="0" algn="l">
              <a:buNone/>
            </a:pPr>
            <a:r>
              <a:rPr lang="en-US" sz="1030" b="1" kern="0" spc="120" dirty="0">
                <a:solidFill>
                  <a:srgbClr val="69DFC8"/>
                </a:solidFill>
                <a:latin typeface="Arial" pitchFamily="34" charset="0"/>
                <a:ea typeface="Arial" pitchFamily="34" charset="-122"/>
                <a:cs typeface="Arial" pitchFamily="34" charset="-120"/>
              </a:rPr>
              <a:t>REVIEWABLE OUTPUT</a:t>
            </a:r>
            <a:endParaRPr lang="en-US" sz="1030" dirty="0"/>
          </a:p>
        </p:txBody>
      </p:sp>
      <p:sp>
        <p:nvSpPr>
          <p:cNvPr id="33" name="shape_177"/>
          <p:cNvSpPr/>
          <p:nvPr/>
        </p:nvSpPr>
        <p:spPr>
          <a:xfrm>
            <a:off x="8257032" y="2660904"/>
            <a:ext cx="3246120" cy="2249424"/>
          </a:xfrm>
          <a:prstGeom prst="roundRect">
            <a:avLst>
              <a:gd name="adj" fmla="val 3252"/>
            </a:avLst>
          </a:prstGeom>
          <a:solidFill>
            <a:srgbClr val="FFFFFF"/>
          </a:solidFill>
          <a:ln w="12700">
            <a:solidFill>
              <a:srgbClr val="FFFFFF"/>
            </a:solidFill>
            <a:prstDash val="solid"/>
          </a:ln>
        </p:spPr>
        <p:txBody>
          <a:bodyPr/>
          <a:lstStyle/>
          <a:p>
            <a:endParaRPr lang="en-IN"/>
          </a:p>
        </p:txBody>
      </p:sp>
      <p:sp>
        <p:nvSpPr>
          <p:cNvPr id="34" name="shape_178"/>
          <p:cNvSpPr/>
          <p:nvPr/>
        </p:nvSpPr>
        <p:spPr>
          <a:xfrm>
            <a:off x="8467344" y="2852928"/>
            <a:ext cx="1097280" cy="64008"/>
          </a:xfrm>
          <a:prstGeom prst="rect">
            <a:avLst/>
          </a:prstGeom>
          <a:solidFill>
            <a:srgbClr val="007E80"/>
          </a:solidFill>
          <a:ln w="12700">
            <a:solidFill>
              <a:srgbClr val="007E80"/>
            </a:solidFill>
            <a:prstDash val="solid"/>
          </a:ln>
        </p:spPr>
        <p:txBody>
          <a:bodyPr/>
          <a:lstStyle/>
          <a:p>
            <a:endParaRPr lang="en-IN"/>
          </a:p>
        </p:txBody>
      </p:sp>
      <p:sp>
        <p:nvSpPr>
          <p:cNvPr id="35" name="text_179"/>
          <p:cNvSpPr txBox="1"/>
          <p:nvPr/>
        </p:nvSpPr>
        <p:spPr>
          <a:xfrm>
            <a:off x="8467344" y="3072384"/>
            <a:ext cx="2743200" cy="292608"/>
          </a:xfrm>
          <a:prstGeom prst="rect">
            <a:avLst/>
          </a:prstGeom>
          <a:noFill/>
          <a:ln/>
        </p:spPr>
        <p:txBody>
          <a:bodyPr wrap="square" lIns="0" tIns="0" rIns="0" bIns="0" rtlCol="0" anchor="ctr"/>
          <a:lstStyle/>
          <a:p>
            <a:pPr marL="0" indent="0" algn="l">
              <a:buNone/>
            </a:pPr>
            <a:r>
              <a:rPr lang="en-US" sz="1700" b="1" dirty="0">
                <a:solidFill>
                  <a:srgbClr val="152F37"/>
                </a:solidFill>
                <a:latin typeface="Arial" pitchFamily="34" charset="0"/>
                <a:ea typeface="Arial" pitchFamily="34" charset="-122"/>
                <a:cs typeface="Arial" pitchFamily="34" charset="-120"/>
              </a:rPr>
              <a:t>Expense briefing</a:t>
            </a:r>
            <a:endParaRPr lang="en-US" sz="1700" dirty="0"/>
          </a:p>
        </p:txBody>
      </p:sp>
      <p:sp>
        <p:nvSpPr>
          <p:cNvPr id="36" name="text_180"/>
          <p:cNvSpPr txBox="1"/>
          <p:nvPr/>
        </p:nvSpPr>
        <p:spPr>
          <a:xfrm>
            <a:off x="8485632" y="3584448"/>
            <a:ext cx="274320" cy="210312"/>
          </a:xfrm>
          <a:prstGeom prst="rect">
            <a:avLst/>
          </a:prstGeom>
          <a:noFill/>
          <a:ln/>
        </p:spPr>
        <p:txBody>
          <a:bodyPr wrap="square" lIns="0" tIns="0" rIns="0" bIns="0" rtlCol="0" anchor="ctr"/>
          <a:lstStyle/>
          <a:p>
            <a:pPr marL="0" indent="0" algn="l">
              <a:buNone/>
            </a:pPr>
            <a:r>
              <a:rPr lang="en-US" sz="1000" b="1" dirty="0">
                <a:solidFill>
                  <a:srgbClr val="007E80"/>
                </a:solidFill>
                <a:latin typeface="Arial" pitchFamily="34" charset="0"/>
                <a:ea typeface="Arial" pitchFamily="34" charset="-122"/>
                <a:cs typeface="Arial" pitchFamily="34" charset="-120"/>
              </a:rPr>
              <a:t>01</a:t>
            </a:r>
            <a:endParaRPr lang="en-US" sz="1000" dirty="0"/>
          </a:p>
        </p:txBody>
      </p:sp>
      <p:sp>
        <p:nvSpPr>
          <p:cNvPr id="37" name="text_181"/>
          <p:cNvSpPr txBox="1"/>
          <p:nvPr/>
        </p:nvSpPr>
        <p:spPr>
          <a:xfrm>
            <a:off x="8961120" y="3584448"/>
            <a:ext cx="2258568" cy="210312"/>
          </a:xfrm>
          <a:prstGeom prst="rect">
            <a:avLst/>
          </a:prstGeom>
          <a:noFill/>
          <a:ln/>
        </p:spPr>
        <p:txBody>
          <a:bodyPr wrap="square" lIns="0" tIns="0" rIns="0" bIns="0" rtlCol="0" anchor="ctr"/>
          <a:lstStyle/>
          <a:p>
            <a:pPr marL="0" indent="0" algn="l">
              <a:buNone/>
            </a:pPr>
            <a:r>
              <a:rPr lang="en-US" sz="1170" dirty="0">
                <a:solidFill>
                  <a:srgbClr val="55707A"/>
                </a:solidFill>
                <a:latin typeface="Arial" pitchFamily="34" charset="0"/>
                <a:ea typeface="Arial" pitchFamily="34" charset="-122"/>
                <a:cs typeface="Arial" pitchFamily="34" charset="-120"/>
              </a:rPr>
              <a:t>Overview</a:t>
            </a:r>
            <a:endParaRPr lang="en-US" sz="1170" dirty="0"/>
          </a:p>
        </p:txBody>
      </p:sp>
      <p:sp>
        <p:nvSpPr>
          <p:cNvPr id="38" name="line_182"/>
          <p:cNvSpPr/>
          <p:nvPr/>
        </p:nvSpPr>
        <p:spPr>
          <a:xfrm>
            <a:off x="8476488" y="3877056"/>
            <a:ext cx="2788920" cy="0"/>
          </a:xfrm>
          <a:prstGeom prst="line">
            <a:avLst/>
          </a:prstGeom>
          <a:noFill/>
          <a:ln w="8890">
            <a:solidFill>
              <a:srgbClr val="D6E2DF"/>
            </a:solidFill>
            <a:prstDash val="solid"/>
            <a:headEnd type="none"/>
            <a:tailEnd type="none"/>
          </a:ln>
        </p:spPr>
        <p:txBody>
          <a:bodyPr/>
          <a:lstStyle/>
          <a:p>
            <a:endParaRPr lang="en-IN"/>
          </a:p>
        </p:txBody>
      </p:sp>
      <p:sp>
        <p:nvSpPr>
          <p:cNvPr id="39" name="text_183"/>
          <p:cNvSpPr txBox="1"/>
          <p:nvPr/>
        </p:nvSpPr>
        <p:spPr>
          <a:xfrm>
            <a:off x="8485632" y="3950208"/>
            <a:ext cx="274320" cy="210312"/>
          </a:xfrm>
          <a:prstGeom prst="rect">
            <a:avLst/>
          </a:prstGeom>
          <a:noFill/>
          <a:ln/>
        </p:spPr>
        <p:txBody>
          <a:bodyPr wrap="square" lIns="0" tIns="0" rIns="0" bIns="0" rtlCol="0" anchor="ctr"/>
          <a:lstStyle/>
          <a:p>
            <a:pPr marL="0" indent="0" algn="l">
              <a:buNone/>
            </a:pPr>
            <a:r>
              <a:rPr lang="en-US" sz="1000" b="1" dirty="0">
                <a:solidFill>
                  <a:srgbClr val="007E80"/>
                </a:solidFill>
                <a:latin typeface="Arial" pitchFamily="34" charset="0"/>
                <a:ea typeface="Arial" pitchFamily="34" charset="-122"/>
                <a:cs typeface="Arial" pitchFamily="34" charset="-120"/>
              </a:rPr>
              <a:t>02</a:t>
            </a:r>
            <a:endParaRPr lang="en-US" sz="1000" dirty="0"/>
          </a:p>
        </p:txBody>
      </p:sp>
      <p:sp>
        <p:nvSpPr>
          <p:cNvPr id="40" name="text_184"/>
          <p:cNvSpPr txBox="1"/>
          <p:nvPr/>
        </p:nvSpPr>
        <p:spPr>
          <a:xfrm>
            <a:off x="8961120" y="3950208"/>
            <a:ext cx="2258568" cy="210312"/>
          </a:xfrm>
          <a:prstGeom prst="rect">
            <a:avLst/>
          </a:prstGeom>
          <a:noFill/>
          <a:ln/>
        </p:spPr>
        <p:txBody>
          <a:bodyPr wrap="square" lIns="0" tIns="0" rIns="0" bIns="0" rtlCol="0" anchor="ctr"/>
          <a:lstStyle/>
          <a:p>
            <a:pPr marL="0" indent="0" algn="l">
              <a:buNone/>
            </a:pPr>
            <a:r>
              <a:rPr lang="en-US" sz="1170" dirty="0">
                <a:solidFill>
                  <a:srgbClr val="55707A"/>
                </a:solidFill>
                <a:latin typeface="Arial" pitchFamily="34" charset="0"/>
                <a:ea typeface="Arial" pitchFamily="34" charset="-122"/>
                <a:cs typeface="Arial" pitchFamily="34" charset="-120"/>
              </a:rPr>
              <a:t>Category comparison</a:t>
            </a:r>
            <a:endParaRPr lang="en-US" sz="1170" dirty="0"/>
          </a:p>
        </p:txBody>
      </p:sp>
      <p:sp>
        <p:nvSpPr>
          <p:cNvPr id="41" name="line_185"/>
          <p:cNvSpPr/>
          <p:nvPr/>
        </p:nvSpPr>
        <p:spPr>
          <a:xfrm>
            <a:off x="8476488" y="4242816"/>
            <a:ext cx="2788920" cy="0"/>
          </a:xfrm>
          <a:prstGeom prst="line">
            <a:avLst/>
          </a:prstGeom>
          <a:noFill/>
          <a:ln w="8890">
            <a:solidFill>
              <a:srgbClr val="D6E2DF"/>
            </a:solidFill>
            <a:prstDash val="solid"/>
            <a:headEnd type="none"/>
            <a:tailEnd type="none"/>
          </a:ln>
        </p:spPr>
        <p:txBody>
          <a:bodyPr/>
          <a:lstStyle/>
          <a:p>
            <a:endParaRPr lang="en-IN"/>
          </a:p>
        </p:txBody>
      </p:sp>
      <p:sp>
        <p:nvSpPr>
          <p:cNvPr id="42" name="text_186"/>
          <p:cNvSpPr txBox="1"/>
          <p:nvPr/>
        </p:nvSpPr>
        <p:spPr>
          <a:xfrm>
            <a:off x="8485632" y="4315968"/>
            <a:ext cx="274320" cy="210312"/>
          </a:xfrm>
          <a:prstGeom prst="rect">
            <a:avLst/>
          </a:prstGeom>
          <a:noFill/>
          <a:ln/>
        </p:spPr>
        <p:txBody>
          <a:bodyPr wrap="square" lIns="0" tIns="0" rIns="0" bIns="0" rtlCol="0" anchor="ctr"/>
          <a:lstStyle/>
          <a:p>
            <a:pPr marL="0" indent="0" algn="l">
              <a:buNone/>
            </a:pPr>
            <a:r>
              <a:rPr lang="en-US" sz="1000" b="1" dirty="0">
                <a:solidFill>
                  <a:srgbClr val="007E80"/>
                </a:solidFill>
                <a:latin typeface="Arial" pitchFamily="34" charset="0"/>
                <a:ea typeface="Arial" pitchFamily="34" charset="-122"/>
                <a:cs typeface="Arial" pitchFamily="34" charset="-120"/>
              </a:rPr>
              <a:t>03</a:t>
            </a:r>
            <a:endParaRPr lang="en-US" sz="1000" dirty="0"/>
          </a:p>
        </p:txBody>
      </p:sp>
      <p:sp>
        <p:nvSpPr>
          <p:cNvPr id="43" name="text_187"/>
          <p:cNvSpPr txBox="1"/>
          <p:nvPr/>
        </p:nvSpPr>
        <p:spPr>
          <a:xfrm>
            <a:off x="8961120" y="4315968"/>
            <a:ext cx="2258568" cy="210312"/>
          </a:xfrm>
          <a:prstGeom prst="rect">
            <a:avLst/>
          </a:prstGeom>
          <a:noFill/>
          <a:ln/>
        </p:spPr>
        <p:txBody>
          <a:bodyPr wrap="square" lIns="0" tIns="0" rIns="0" bIns="0" rtlCol="0" anchor="ctr"/>
          <a:lstStyle/>
          <a:p>
            <a:pPr marL="0" indent="0" algn="l">
              <a:buNone/>
            </a:pPr>
            <a:r>
              <a:rPr lang="en-US" sz="1170" dirty="0">
                <a:solidFill>
                  <a:srgbClr val="55707A"/>
                </a:solidFill>
                <a:latin typeface="Arial" pitchFamily="34" charset="0"/>
                <a:ea typeface="Arial" pitchFamily="34" charset="-122"/>
                <a:cs typeface="Arial" pitchFamily="34" charset="-120"/>
              </a:rPr>
              <a:t>Observations &amp; actions</a:t>
            </a:r>
            <a:endParaRPr lang="en-US" sz="1170" dirty="0"/>
          </a:p>
        </p:txBody>
      </p:sp>
      <p:sp>
        <p:nvSpPr>
          <p:cNvPr id="44" name="text_188"/>
          <p:cNvSpPr txBox="1"/>
          <p:nvPr/>
        </p:nvSpPr>
        <p:spPr>
          <a:xfrm>
            <a:off x="8266176" y="5074920"/>
            <a:ext cx="3291840" cy="374904"/>
          </a:xfrm>
          <a:prstGeom prst="rect">
            <a:avLst/>
          </a:prstGeom>
          <a:noFill/>
          <a:ln/>
        </p:spPr>
        <p:txBody>
          <a:bodyPr wrap="square" lIns="0" tIns="0" rIns="0" bIns="0" rtlCol="0" anchor="ctr"/>
          <a:lstStyle/>
          <a:p>
            <a:pPr marL="0" indent="0" algn="l">
              <a:buNone/>
            </a:pPr>
            <a:r>
              <a:rPr lang="en-US" sz="1300" dirty="0">
                <a:solidFill>
                  <a:srgbClr val="ADC4C5"/>
                </a:solidFill>
                <a:latin typeface="Arial" pitchFamily="34" charset="0"/>
                <a:ea typeface="Arial" pitchFamily="34" charset="-122"/>
                <a:cs typeface="Arial" pitchFamily="34" charset="-120"/>
              </a:rPr>
              <a:t>Editable presentation + check summary</a:t>
            </a:r>
            <a:endParaRPr lang="en-US" sz="1300" dirty="0"/>
          </a:p>
        </p:txBody>
      </p:sp>
      <p:sp>
        <p:nvSpPr>
          <p:cNvPr id="45" name="shape_189"/>
          <p:cNvSpPr/>
          <p:nvPr/>
        </p:nvSpPr>
        <p:spPr>
          <a:xfrm>
            <a:off x="658368" y="5577840"/>
            <a:ext cx="10844784" cy="448056"/>
          </a:xfrm>
          <a:prstGeom prst="roundRect">
            <a:avLst>
              <a:gd name="adj" fmla="val 12245"/>
            </a:avLst>
          </a:prstGeom>
          <a:solidFill>
            <a:srgbClr val="1D333B"/>
          </a:solidFill>
          <a:ln w="12700">
            <a:solidFill>
              <a:srgbClr val="355158"/>
            </a:solidFill>
            <a:prstDash val="solid"/>
          </a:ln>
        </p:spPr>
        <p:txBody>
          <a:bodyPr/>
          <a:lstStyle/>
          <a:p>
            <a:endParaRPr lang="en-IN"/>
          </a:p>
        </p:txBody>
      </p:sp>
      <p:sp>
        <p:nvSpPr>
          <p:cNvPr id="46" name="text_190"/>
          <p:cNvSpPr txBox="1"/>
          <p:nvPr/>
        </p:nvSpPr>
        <p:spPr>
          <a:xfrm>
            <a:off x="896112" y="5687568"/>
            <a:ext cx="10378440" cy="210312"/>
          </a:xfrm>
          <a:prstGeom prst="rect">
            <a:avLst/>
          </a:prstGeom>
          <a:noFill/>
          <a:ln/>
        </p:spPr>
        <p:txBody>
          <a:bodyPr wrap="square" lIns="0" tIns="0" rIns="0" bIns="0" rtlCol="0" anchor="ctr"/>
          <a:lstStyle/>
          <a:p>
            <a:pPr marL="0" indent="0" algn="l">
              <a:buNone/>
            </a:pPr>
            <a:r>
              <a:rPr lang="en-US" sz="1500" b="1" dirty="0">
                <a:solidFill>
                  <a:srgbClr val="FFFFFF"/>
                </a:solidFill>
                <a:latin typeface="Arial" pitchFamily="34" charset="0"/>
                <a:ea typeface="Arial" pitchFamily="34" charset="-122"/>
                <a:cs typeface="Arial" pitchFamily="34" charset="-120"/>
              </a:rPr>
              <a:t>Missing input or conflicting figures?  Pause, ask and report the gap.</a:t>
            </a:r>
            <a:endParaRPr lang="en-US" sz="1500" dirty="0"/>
          </a:p>
        </p:txBody>
      </p:sp>
      <p:sp>
        <p:nvSpPr>
          <p:cNvPr id="47" name="line_191"/>
          <p:cNvSpPr/>
          <p:nvPr/>
        </p:nvSpPr>
        <p:spPr>
          <a:xfrm>
            <a:off x="603504" y="6364224"/>
            <a:ext cx="10972800" cy="0"/>
          </a:xfrm>
          <a:prstGeom prst="line">
            <a:avLst/>
          </a:prstGeom>
          <a:noFill/>
          <a:ln w="8890">
            <a:solidFill>
              <a:srgbClr val="355158"/>
            </a:solidFill>
            <a:prstDash val="solid"/>
            <a:headEnd type="none"/>
            <a:tailEnd type="none"/>
          </a:ln>
        </p:spPr>
        <p:txBody>
          <a:bodyPr/>
          <a:lstStyle/>
          <a:p>
            <a:endParaRPr lang="en-IN"/>
          </a:p>
        </p:txBody>
      </p:sp>
      <p:sp>
        <p:nvSpPr>
          <p:cNvPr id="48" name="text_192"/>
          <p:cNvSpPr txBox="1"/>
          <p:nvPr/>
        </p:nvSpPr>
        <p:spPr>
          <a:xfrm>
            <a:off x="621792" y="6473952"/>
            <a:ext cx="6309360" cy="146304"/>
          </a:xfrm>
          <a:prstGeom prst="rect">
            <a:avLst/>
          </a:prstGeom>
          <a:noFill/>
          <a:ln/>
        </p:spPr>
        <p:txBody>
          <a:bodyPr wrap="square" lIns="0" tIns="0" rIns="0" bIns="0" rtlCol="0" anchor="ctr"/>
          <a:lstStyle/>
          <a:p>
            <a:pPr marL="0" indent="0" algn="l">
              <a:buNone/>
            </a:pPr>
            <a:r>
              <a:rPr lang="en-US" sz="830" kern="0" spc="105" dirty="0">
                <a:solidFill>
                  <a:srgbClr val="ADC4C5"/>
                </a:solidFill>
                <a:latin typeface="Arial" pitchFamily="34" charset="0"/>
                <a:ea typeface="Arial" pitchFamily="34" charset="-122"/>
                <a:cs typeface="Arial" pitchFamily="34" charset="-120"/>
              </a:rPr>
              <a:t>AGENTIC AI  /  A PRACTICAL BUSINESS BRIEFING</a:t>
            </a:r>
            <a:endParaRPr lang="en-US" sz="830" dirty="0"/>
          </a:p>
        </p:txBody>
      </p:sp>
      <p:sp>
        <p:nvSpPr>
          <p:cNvPr id="49" name="text_193"/>
          <p:cNvSpPr txBox="1"/>
          <p:nvPr/>
        </p:nvSpPr>
        <p:spPr>
          <a:xfrm>
            <a:off x="6492240" y="6460236"/>
            <a:ext cx="4434840" cy="182880"/>
          </a:xfrm>
          <a:prstGeom prst="rect">
            <a:avLst/>
          </a:prstGeom>
          <a:noFill/>
          <a:ln/>
        </p:spPr>
        <p:txBody>
          <a:bodyPr wrap="square" lIns="0" tIns="0" rIns="0" bIns="0" rtlCol="0" anchor="ctr"/>
          <a:lstStyle/>
          <a:p>
            <a:pPr marL="0" indent="0" algn="r">
              <a:buNone/>
            </a:pPr>
            <a:r>
              <a:rPr lang="en-US" sz="810" dirty="0">
                <a:solidFill>
                  <a:srgbClr val="ADC4C5"/>
                </a:solidFill>
                <a:latin typeface="Arial" pitchFamily="34" charset="0"/>
                <a:ea typeface="Arial" pitchFamily="34" charset="-122"/>
                <a:cs typeface="Arial" pitchFamily="34" charset="-120"/>
              </a:rPr>
              <a:t>Illustrative workflow  •  No performance gains assumed</a:t>
            </a:r>
            <a:endParaRPr lang="en-US" sz="810" dirty="0"/>
          </a:p>
        </p:txBody>
      </p:sp>
      <p:sp>
        <p:nvSpPr>
          <p:cNvPr id="50" name="text_194"/>
          <p:cNvSpPr txBox="1"/>
          <p:nvPr/>
        </p:nvSpPr>
        <p:spPr>
          <a:xfrm>
            <a:off x="11091672" y="6441948"/>
            <a:ext cx="466344" cy="201168"/>
          </a:xfrm>
          <a:prstGeom prst="rect">
            <a:avLst/>
          </a:prstGeom>
          <a:noFill/>
          <a:ln/>
        </p:spPr>
        <p:txBody>
          <a:bodyPr wrap="square" lIns="0" tIns="0" rIns="0" bIns="0" rtlCol="0" anchor="ctr"/>
          <a:lstStyle/>
          <a:p>
            <a:pPr marL="0" indent="0" algn="r">
              <a:buNone/>
            </a:pPr>
            <a:r>
              <a:rPr lang="en-US" sz="1000" b="1" dirty="0">
                <a:solidFill>
                  <a:srgbClr val="69DFC8"/>
                </a:solidFill>
                <a:latin typeface="Arial" pitchFamily="34" charset="0"/>
                <a:ea typeface="Arial" pitchFamily="34" charset="-122"/>
                <a:cs typeface="Arial"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6"/>
        </a:solidFill>
        <a:effectLst/>
      </p:bgPr>
    </p:bg>
    <p:spTree>
      <p:nvGrpSpPr>
        <p:cNvPr id="1" name=""/>
        <p:cNvGrpSpPr/>
        <p:nvPr/>
      </p:nvGrpSpPr>
      <p:grpSpPr>
        <a:xfrm>
          <a:off x="0" y="0"/>
          <a:ext cx="0" cy="0"/>
          <a:chOff x="0" y="0"/>
          <a:chExt cx="0" cy="0"/>
        </a:xfrm>
      </p:grpSpPr>
      <p:sp>
        <p:nvSpPr>
          <p:cNvPr id="2" name="text_195"/>
          <p:cNvSpPr txBox="1"/>
          <p:nvPr/>
        </p:nvSpPr>
        <p:spPr>
          <a:xfrm>
            <a:off x="621792" y="448056"/>
            <a:ext cx="10058400" cy="219456"/>
          </a:xfrm>
          <a:prstGeom prst="rect">
            <a:avLst/>
          </a:prstGeom>
          <a:noFill/>
          <a:ln/>
        </p:spPr>
        <p:txBody>
          <a:bodyPr wrap="square" lIns="0" tIns="0" rIns="0" bIns="0" rtlCol="0" anchor="ctr"/>
          <a:lstStyle/>
          <a:p>
            <a:pPr marL="0" indent="0" algn="l">
              <a:buNone/>
            </a:pPr>
            <a:r>
              <a:rPr lang="en-US" sz="1050" b="1" kern="0" spc="200" dirty="0">
                <a:solidFill>
                  <a:srgbClr val="007E80"/>
                </a:solidFill>
                <a:latin typeface="Arial" pitchFamily="34" charset="0"/>
                <a:ea typeface="Arial" pitchFamily="34" charset="-122"/>
                <a:cs typeface="Arial" pitchFamily="34" charset="-120"/>
              </a:rPr>
              <a:t>04 / BUSINESS APPLICATIONS</a:t>
            </a:r>
            <a:endParaRPr lang="en-US" sz="1050" dirty="0"/>
          </a:p>
        </p:txBody>
      </p:sp>
      <p:sp>
        <p:nvSpPr>
          <p:cNvPr id="3" name="text_196"/>
          <p:cNvSpPr txBox="1"/>
          <p:nvPr/>
        </p:nvSpPr>
        <p:spPr>
          <a:xfrm>
            <a:off x="621792" y="905256"/>
            <a:ext cx="10972800" cy="630936"/>
          </a:xfrm>
          <a:prstGeom prst="rect">
            <a:avLst/>
          </a:prstGeom>
          <a:noFill/>
          <a:ln/>
        </p:spPr>
        <p:txBody>
          <a:bodyPr wrap="square" lIns="0" tIns="0" rIns="0" bIns="0" rtlCol="0" anchor="ctr"/>
          <a:lstStyle/>
          <a:p>
            <a:pPr marL="0" indent="0" algn="l">
              <a:buNone/>
            </a:pPr>
            <a:r>
              <a:rPr lang="en-US" sz="3100" b="1" kern="0" spc="-60" dirty="0">
                <a:solidFill>
                  <a:srgbClr val="152F37"/>
                </a:solidFill>
                <a:latin typeface="Arial" pitchFamily="34" charset="0"/>
                <a:ea typeface="Arial" pitchFamily="34" charset="-122"/>
                <a:cs typeface="Arial" pitchFamily="34" charset="-120"/>
              </a:rPr>
              <a:t>Choose work with clear inputs and outputs.</a:t>
            </a:r>
            <a:endParaRPr lang="en-US" sz="3100" dirty="0"/>
          </a:p>
        </p:txBody>
      </p:sp>
      <p:sp>
        <p:nvSpPr>
          <p:cNvPr id="4" name="text_197"/>
          <p:cNvSpPr txBox="1"/>
          <p:nvPr/>
        </p:nvSpPr>
        <p:spPr>
          <a:xfrm>
            <a:off x="640080" y="1609344"/>
            <a:ext cx="10835640" cy="347472"/>
          </a:xfrm>
          <a:prstGeom prst="rect">
            <a:avLst/>
          </a:prstGeom>
          <a:noFill/>
          <a:ln/>
        </p:spPr>
        <p:txBody>
          <a:bodyPr wrap="square" lIns="0" tIns="0" rIns="0" bIns="0" rtlCol="0" anchor="ctr"/>
          <a:lstStyle/>
          <a:p>
            <a:pPr marL="0" indent="0" algn="l">
              <a:buNone/>
            </a:pPr>
            <a:r>
              <a:rPr lang="en-US" sz="1650" dirty="0">
                <a:solidFill>
                  <a:srgbClr val="55707A"/>
                </a:solidFill>
                <a:latin typeface="Arial" pitchFamily="34" charset="0"/>
                <a:ea typeface="Arial" pitchFamily="34" charset="-122"/>
                <a:cs typeface="Arial" pitchFamily="34" charset="-120"/>
              </a:rPr>
              <a:t>Useful pilot candidates combine accessible evidence, limited actions and a reviewable result.</a:t>
            </a:r>
            <a:endParaRPr lang="en-US" sz="1650" dirty="0"/>
          </a:p>
        </p:txBody>
      </p:sp>
      <p:sp>
        <p:nvSpPr>
          <p:cNvPr id="5" name="shape_198"/>
          <p:cNvSpPr/>
          <p:nvPr/>
        </p:nvSpPr>
        <p:spPr>
          <a:xfrm>
            <a:off x="640080" y="2176272"/>
            <a:ext cx="5312664" cy="1645920"/>
          </a:xfrm>
          <a:prstGeom prst="roundRect">
            <a:avLst>
              <a:gd name="adj" fmla="val 5000"/>
            </a:avLst>
          </a:prstGeom>
          <a:solidFill>
            <a:srgbClr val="FFFFFF"/>
          </a:solidFill>
          <a:ln w="12700">
            <a:solidFill>
              <a:srgbClr val="D6E2DF"/>
            </a:solidFill>
            <a:prstDash val="solid"/>
          </a:ln>
        </p:spPr>
        <p:txBody>
          <a:bodyPr/>
          <a:lstStyle/>
          <a:p>
            <a:endParaRPr lang="en-IN"/>
          </a:p>
        </p:txBody>
      </p:sp>
      <p:sp>
        <p:nvSpPr>
          <p:cNvPr id="6" name="shape_199"/>
          <p:cNvSpPr/>
          <p:nvPr/>
        </p:nvSpPr>
        <p:spPr>
          <a:xfrm>
            <a:off x="640080" y="2176272"/>
            <a:ext cx="64008" cy="1645920"/>
          </a:xfrm>
          <a:prstGeom prst="rect">
            <a:avLst/>
          </a:prstGeom>
          <a:solidFill>
            <a:srgbClr val="007E80"/>
          </a:solidFill>
          <a:ln w="12700">
            <a:solidFill>
              <a:srgbClr val="007E80"/>
            </a:solidFill>
            <a:prstDash val="solid"/>
          </a:ln>
        </p:spPr>
        <p:txBody>
          <a:bodyPr/>
          <a:lstStyle/>
          <a:p>
            <a:endParaRPr lang="en-IN"/>
          </a:p>
        </p:txBody>
      </p:sp>
      <p:sp>
        <p:nvSpPr>
          <p:cNvPr id="7" name="shape_200"/>
          <p:cNvSpPr/>
          <p:nvPr/>
        </p:nvSpPr>
        <p:spPr>
          <a:xfrm>
            <a:off x="877824" y="2441448"/>
            <a:ext cx="758952" cy="768096"/>
          </a:xfrm>
          <a:prstGeom prst="roundRect">
            <a:avLst>
              <a:gd name="adj" fmla="val 12048"/>
            </a:avLst>
          </a:prstGeom>
          <a:solidFill>
            <a:srgbClr val="E4F5EE"/>
          </a:solidFill>
          <a:ln w="12700">
            <a:solidFill>
              <a:srgbClr val="E4F5EE"/>
            </a:solidFill>
            <a:prstDash val="solid"/>
          </a:ln>
        </p:spPr>
        <p:txBody>
          <a:bodyPr/>
          <a:lstStyle/>
          <a:p>
            <a:endParaRPr lang="en-IN"/>
          </a:p>
        </p:txBody>
      </p:sp>
      <p:sp>
        <p:nvSpPr>
          <p:cNvPr id="8" name="line_201"/>
          <p:cNvSpPr/>
          <p:nvPr/>
        </p:nvSpPr>
        <p:spPr>
          <a:xfrm>
            <a:off x="1043330" y="3019349"/>
            <a:ext cx="416052" cy="0"/>
          </a:xfrm>
          <a:prstGeom prst="line">
            <a:avLst/>
          </a:prstGeom>
          <a:noFill/>
          <a:ln w="22860">
            <a:solidFill>
              <a:srgbClr val="007E80"/>
            </a:solidFill>
            <a:prstDash val="solid"/>
            <a:headEnd type="none"/>
            <a:tailEnd type="none"/>
          </a:ln>
        </p:spPr>
        <p:txBody>
          <a:bodyPr/>
          <a:lstStyle/>
          <a:p>
            <a:endParaRPr lang="en-IN"/>
          </a:p>
        </p:txBody>
      </p:sp>
      <p:sp>
        <p:nvSpPr>
          <p:cNvPr id="9" name="line_202"/>
          <p:cNvSpPr/>
          <p:nvPr/>
        </p:nvSpPr>
        <p:spPr>
          <a:xfrm flipV="1">
            <a:off x="1056132" y="2641702"/>
            <a:ext cx="0" cy="384048"/>
          </a:xfrm>
          <a:prstGeom prst="line">
            <a:avLst/>
          </a:prstGeom>
          <a:noFill/>
          <a:ln w="22860">
            <a:solidFill>
              <a:srgbClr val="007E80"/>
            </a:solidFill>
            <a:prstDash val="solid"/>
            <a:headEnd type="none"/>
            <a:tailEnd type="none"/>
          </a:ln>
        </p:spPr>
        <p:txBody>
          <a:bodyPr/>
          <a:lstStyle/>
          <a:p>
            <a:endParaRPr lang="en-IN"/>
          </a:p>
        </p:txBody>
      </p:sp>
      <p:sp>
        <p:nvSpPr>
          <p:cNvPr id="10" name="shape_203"/>
          <p:cNvSpPr/>
          <p:nvPr/>
        </p:nvSpPr>
        <p:spPr>
          <a:xfrm>
            <a:off x="1126541" y="2840126"/>
            <a:ext cx="64008" cy="172822"/>
          </a:xfrm>
          <a:prstGeom prst="rect">
            <a:avLst/>
          </a:prstGeom>
          <a:solidFill>
            <a:srgbClr val="007E80"/>
          </a:solidFill>
          <a:ln w="12700">
            <a:solidFill>
              <a:srgbClr val="007E80"/>
            </a:solidFill>
            <a:prstDash val="solid"/>
          </a:ln>
        </p:spPr>
        <p:txBody>
          <a:bodyPr/>
          <a:lstStyle/>
          <a:p>
            <a:endParaRPr lang="en-IN"/>
          </a:p>
        </p:txBody>
      </p:sp>
      <p:sp>
        <p:nvSpPr>
          <p:cNvPr id="11" name="shape_204"/>
          <p:cNvSpPr/>
          <p:nvPr/>
        </p:nvSpPr>
        <p:spPr>
          <a:xfrm>
            <a:off x="1241755" y="2737714"/>
            <a:ext cx="64008" cy="275234"/>
          </a:xfrm>
          <a:prstGeom prst="rect">
            <a:avLst/>
          </a:prstGeom>
          <a:solidFill>
            <a:srgbClr val="007E80"/>
          </a:solidFill>
          <a:ln w="12700">
            <a:solidFill>
              <a:srgbClr val="007E80"/>
            </a:solidFill>
            <a:prstDash val="solid"/>
          </a:ln>
        </p:spPr>
        <p:txBody>
          <a:bodyPr/>
          <a:lstStyle/>
          <a:p>
            <a:endParaRPr lang="en-IN"/>
          </a:p>
        </p:txBody>
      </p:sp>
      <p:sp>
        <p:nvSpPr>
          <p:cNvPr id="12" name="shape_205"/>
          <p:cNvSpPr/>
          <p:nvPr/>
        </p:nvSpPr>
        <p:spPr>
          <a:xfrm>
            <a:off x="1356970" y="2641702"/>
            <a:ext cx="64008" cy="371246"/>
          </a:xfrm>
          <a:prstGeom prst="rect">
            <a:avLst/>
          </a:prstGeom>
          <a:solidFill>
            <a:srgbClr val="007E80"/>
          </a:solidFill>
          <a:ln w="12700">
            <a:solidFill>
              <a:srgbClr val="007E80"/>
            </a:solidFill>
            <a:prstDash val="solid"/>
          </a:ln>
        </p:spPr>
        <p:txBody>
          <a:bodyPr/>
          <a:lstStyle/>
          <a:p>
            <a:endParaRPr lang="en-IN"/>
          </a:p>
        </p:txBody>
      </p:sp>
      <p:sp>
        <p:nvSpPr>
          <p:cNvPr id="13" name="text_206"/>
          <p:cNvSpPr txBox="1"/>
          <p:nvPr/>
        </p:nvSpPr>
        <p:spPr>
          <a:xfrm>
            <a:off x="1837944" y="2386584"/>
            <a:ext cx="3840480" cy="347472"/>
          </a:xfrm>
          <a:prstGeom prst="rect">
            <a:avLst/>
          </a:prstGeom>
          <a:noFill/>
          <a:ln/>
        </p:spPr>
        <p:txBody>
          <a:bodyPr wrap="square" lIns="0" tIns="0" rIns="0" bIns="0" rtlCol="0" anchor="ctr"/>
          <a:lstStyle/>
          <a:p>
            <a:pPr marL="0" indent="0" algn="l">
              <a:buNone/>
            </a:pPr>
            <a:r>
              <a:rPr lang="en-US" sz="2200" b="1" dirty="0">
                <a:solidFill>
                  <a:srgbClr val="152F37"/>
                </a:solidFill>
                <a:latin typeface="Arial" pitchFamily="34" charset="0"/>
                <a:ea typeface="Arial" pitchFamily="34" charset="-122"/>
                <a:cs typeface="Arial" pitchFamily="34" charset="-120"/>
              </a:rPr>
              <a:t>Finance</a:t>
            </a:r>
            <a:endParaRPr lang="en-US" sz="2200" dirty="0"/>
          </a:p>
        </p:txBody>
      </p:sp>
      <p:sp>
        <p:nvSpPr>
          <p:cNvPr id="14" name="text_207"/>
          <p:cNvSpPr txBox="1"/>
          <p:nvPr/>
        </p:nvSpPr>
        <p:spPr>
          <a:xfrm>
            <a:off x="1837944" y="2852928"/>
            <a:ext cx="3840480" cy="530352"/>
          </a:xfrm>
          <a:prstGeom prst="rect">
            <a:avLst/>
          </a:prstGeom>
          <a:noFill/>
          <a:ln/>
        </p:spPr>
        <p:txBody>
          <a:bodyPr wrap="square" lIns="0" tIns="0" rIns="0" bIns="0" rtlCol="0" anchor="ctr"/>
          <a:lstStyle/>
          <a:p>
            <a:pPr marL="0" indent="0" algn="l">
              <a:buNone/>
            </a:pPr>
            <a:r>
              <a:rPr lang="en-US" sz="1470" dirty="0">
                <a:solidFill>
                  <a:srgbClr val="55707A"/>
                </a:solidFill>
                <a:latin typeface="Arial" pitchFamily="34" charset="0"/>
                <a:ea typeface="Arial" pitchFamily="34" charset="-122"/>
                <a:cs typeface="Arial" pitchFamily="34" charset="-120"/>
              </a:rPr>
              <a:t>Compare actuals with budget;</a:t>
            </a:r>
            <a:endParaRPr lang="en-US" sz="1470" dirty="0"/>
          </a:p>
          <a:p>
            <a:pPr marL="0" indent="0" algn="l">
              <a:buNone/>
            </a:pPr>
            <a:r>
              <a:rPr lang="en-US" sz="1470" dirty="0">
                <a:solidFill>
                  <a:srgbClr val="55707A"/>
                </a:solidFill>
                <a:latin typeface="Arial" pitchFamily="34" charset="0"/>
                <a:ea typeface="Arial" pitchFamily="34" charset="-122"/>
                <a:cs typeface="Arial" pitchFamily="34" charset="-120"/>
              </a:rPr>
              <a:t>surface exceptions for review.</a:t>
            </a:r>
            <a:endParaRPr lang="en-US" sz="1470" dirty="0"/>
          </a:p>
        </p:txBody>
      </p:sp>
      <p:sp>
        <p:nvSpPr>
          <p:cNvPr id="15" name="text_208"/>
          <p:cNvSpPr txBox="1"/>
          <p:nvPr/>
        </p:nvSpPr>
        <p:spPr>
          <a:xfrm>
            <a:off x="1837944" y="3511296"/>
            <a:ext cx="713232" cy="146304"/>
          </a:xfrm>
          <a:prstGeom prst="rect">
            <a:avLst/>
          </a:prstGeom>
          <a:noFill/>
          <a:ln/>
        </p:spPr>
        <p:txBody>
          <a:bodyPr wrap="square" lIns="0" tIns="0" rIns="0" bIns="0" rtlCol="0" anchor="ctr"/>
          <a:lstStyle/>
          <a:p>
            <a:pPr marL="0" indent="0" algn="l">
              <a:buNone/>
            </a:pPr>
            <a:r>
              <a:rPr lang="en-US" sz="910" b="1" kern="0" spc="70" dirty="0">
                <a:solidFill>
                  <a:srgbClr val="007E80"/>
                </a:solidFill>
                <a:latin typeface="Arial" pitchFamily="34" charset="0"/>
                <a:ea typeface="Arial" pitchFamily="34" charset="-122"/>
                <a:cs typeface="Arial" pitchFamily="34" charset="-120"/>
              </a:rPr>
              <a:t>OUTPUT</a:t>
            </a:r>
            <a:endParaRPr lang="en-US" sz="910" dirty="0"/>
          </a:p>
        </p:txBody>
      </p:sp>
      <p:sp>
        <p:nvSpPr>
          <p:cNvPr id="16" name="text_209"/>
          <p:cNvSpPr txBox="1"/>
          <p:nvPr/>
        </p:nvSpPr>
        <p:spPr>
          <a:xfrm>
            <a:off x="2578608" y="3456432"/>
            <a:ext cx="3063240" cy="246888"/>
          </a:xfrm>
          <a:prstGeom prst="rect">
            <a:avLst/>
          </a:prstGeom>
          <a:noFill/>
          <a:ln/>
        </p:spPr>
        <p:txBody>
          <a:bodyPr wrap="square" lIns="0" tIns="0" rIns="0" bIns="0" rtlCol="0" anchor="ctr"/>
          <a:lstStyle/>
          <a:p>
            <a:pPr marL="0" indent="0" algn="l">
              <a:buNone/>
            </a:pPr>
            <a:r>
              <a:rPr lang="en-US" sz="1200" b="1" dirty="0">
                <a:solidFill>
                  <a:srgbClr val="152F37"/>
                </a:solidFill>
                <a:latin typeface="Arial" pitchFamily="34" charset="0"/>
                <a:ea typeface="Arial" pitchFamily="34" charset="-122"/>
                <a:cs typeface="Arial" pitchFamily="34" charset="-120"/>
              </a:rPr>
              <a:t>A checked variance brief</a:t>
            </a:r>
            <a:endParaRPr lang="en-US" sz="1200" dirty="0"/>
          </a:p>
        </p:txBody>
      </p:sp>
      <p:sp>
        <p:nvSpPr>
          <p:cNvPr id="17" name="shape_210"/>
          <p:cNvSpPr/>
          <p:nvPr/>
        </p:nvSpPr>
        <p:spPr>
          <a:xfrm>
            <a:off x="6236208" y="2176272"/>
            <a:ext cx="5312664" cy="1645920"/>
          </a:xfrm>
          <a:prstGeom prst="roundRect">
            <a:avLst>
              <a:gd name="adj" fmla="val 5000"/>
            </a:avLst>
          </a:prstGeom>
          <a:solidFill>
            <a:srgbClr val="FFFFFF"/>
          </a:solidFill>
          <a:ln w="12700">
            <a:solidFill>
              <a:srgbClr val="D6E2DF"/>
            </a:solidFill>
            <a:prstDash val="solid"/>
          </a:ln>
        </p:spPr>
        <p:txBody>
          <a:bodyPr/>
          <a:lstStyle/>
          <a:p>
            <a:endParaRPr lang="en-IN"/>
          </a:p>
        </p:txBody>
      </p:sp>
      <p:sp>
        <p:nvSpPr>
          <p:cNvPr id="18" name="shape_211"/>
          <p:cNvSpPr/>
          <p:nvPr/>
        </p:nvSpPr>
        <p:spPr>
          <a:xfrm>
            <a:off x="6236208" y="2176272"/>
            <a:ext cx="64008" cy="1645920"/>
          </a:xfrm>
          <a:prstGeom prst="rect">
            <a:avLst/>
          </a:prstGeom>
          <a:solidFill>
            <a:srgbClr val="7B70C3"/>
          </a:solidFill>
          <a:ln w="12700">
            <a:solidFill>
              <a:srgbClr val="7B70C3"/>
            </a:solidFill>
            <a:prstDash val="solid"/>
          </a:ln>
        </p:spPr>
        <p:txBody>
          <a:bodyPr/>
          <a:lstStyle/>
          <a:p>
            <a:endParaRPr lang="en-IN"/>
          </a:p>
        </p:txBody>
      </p:sp>
      <p:sp>
        <p:nvSpPr>
          <p:cNvPr id="19" name="shape_212"/>
          <p:cNvSpPr/>
          <p:nvPr/>
        </p:nvSpPr>
        <p:spPr>
          <a:xfrm>
            <a:off x="6473952" y="2441448"/>
            <a:ext cx="758952" cy="768096"/>
          </a:xfrm>
          <a:prstGeom prst="roundRect">
            <a:avLst>
              <a:gd name="adj" fmla="val 12048"/>
            </a:avLst>
          </a:prstGeom>
          <a:solidFill>
            <a:srgbClr val="EDEAF7"/>
          </a:solidFill>
          <a:ln w="12700">
            <a:solidFill>
              <a:srgbClr val="EDEAF7"/>
            </a:solidFill>
            <a:prstDash val="solid"/>
          </a:ln>
        </p:spPr>
        <p:txBody>
          <a:bodyPr/>
          <a:lstStyle/>
          <a:p>
            <a:endParaRPr lang="en-IN"/>
          </a:p>
        </p:txBody>
      </p:sp>
      <p:sp>
        <p:nvSpPr>
          <p:cNvPr id="20" name="line_213"/>
          <p:cNvSpPr/>
          <p:nvPr/>
        </p:nvSpPr>
        <p:spPr>
          <a:xfrm>
            <a:off x="6716268" y="2680106"/>
            <a:ext cx="230429" cy="140818"/>
          </a:xfrm>
          <a:prstGeom prst="line">
            <a:avLst/>
          </a:prstGeom>
          <a:noFill/>
          <a:ln w="22860">
            <a:solidFill>
              <a:srgbClr val="7B70C3"/>
            </a:solidFill>
            <a:prstDash val="solid"/>
            <a:headEnd type="none"/>
            <a:tailEnd type="none"/>
          </a:ln>
        </p:spPr>
        <p:txBody>
          <a:bodyPr/>
          <a:lstStyle/>
          <a:p>
            <a:endParaRPr lang="en-IN"/>
          </a:p>
        </p:txBody>
      </p:sp>
      <p:sp>
        <p:nvSpPr>
          <p:cNvPr id="21" name="line_214"/>
          <p:cNvSpPr/>
          <p:nvPr/>
        </p:nvSpPr>
        <p:spPr>
          <a:xfrm flipV="1">
            <a:off x="6716268" y="2820924"/>
            <a:ext cx="230429" cy="140818"/>
          </a:xfrm>
          <a:prstGeom prst="line">
            <a:avLst/>
          </a:prstGeom>
          <a:noFill/>
          <a:ln w="22860">
            <a:solidFill>
              <a:srgbClr val="7B70C3"/>
            </a:solidFill>
            <a:prstDash val="solid"/>
            <a:headEnd type="none"/>
            <a:tailEnd type="none"/>
          </a:ln>
        </p:spPr>
        <p:txBody>
          <a:bodyPr/>
          <a:lstStyle/>
          <a:p>
            <a:endParaRPr lang="en-IN"/>
          </a:p>
        </p:txBody>
      </p:sp>
      <p:sp>
        <p:nvSpPr>
          <p:cNvPr id="22" name="circle_215"/>
          <p:cNvSpPr/>
          <p:nvPr/>
        </p:nvSpPr>
        <p:spPr>
          <a:xfrm>
            <a:off x="6645859" y="2609698"/>
            <a:ext cx="140818" cy="140818"/>
          </a:xfrm>
          <a:prstGeom prst="ellipse">
            <a:avLst/>
          </a:prstGeom>
          <a:solidFill>
            <a:srgbClr val="FFFFFF">
              <a:alpha val="0"/>
            </a:srgbClr>
          </a:solidFill>
          <a:ln w="21590">
            <a:solidFill>
              <a:srgbClr val="7B70C3"/>
            </a:solidFill>
            <a:prstDash val="solid"/>
          </a:ln>
        </p:spPr>
        <p:txBody>
          <a:bodyPr/>
          <a:lstStyle/>
          <a:p>
            <a:endParaRPr lang="en-IN"/>
          </a:p>
        </p:txBody>
      </p:sp>
      <p:sp>
        <p:nvSpPr>
          <p:cNvPr id="23" name="circle_216"/>
          <p:cNvSpPr/>
          <p:nvPr/>
        </p:nvSpPr>
        <p:spPr>
          <a:xfrm>
            <a:off x="6645859" y="2891333"/>
            <a:ext cx="140818" cy="140818"/>
          </a:xfrm>
          <a:prstGeom prst="ellipse">
            <a:avLst/>
          </a:prstGeom>
          <a:solidFill>
            <a:srgbClr val="FFFFFF">
              <a:alpha val="0"/>
            </a:srgbClr>
          </a:solidFill>
          <a:ln w="21590">
            <a:solidFill>
              <a:srgbClr val="7B70C3"/>
            </a:solidFill>
            <a:prstDash val="solid"/>
          </a:ln>
        </p:spPr>
        <p:txBody>
          <a:bodyPr/>
          <a:lstStyle/>
          <a:p>
            <a:endParaRPr lang="en-IN"/>
          </a:p>
        </p:txBody>
      </p:sp>
      <p:sp>
        <p:nvSpPr>
          <p:cNvPr id="24" name="circle_217"/>
          <p:cNvSpPr/>
          <p:nvPr/>
        </p:nvSpPr>
        <p:spPr>
          <a:xfrm>
            <a:off x="6940296" y="2750515"/>
            <a:ext cx="140818" cy="140818"/>
          </a:xfrm>
          <a:prstGeom prst="ellipse">
            <a:avLst/>
          </a:prstGeom>
          <a:solidFill>
            <a:srgbClr val="FFFFFF">
              <a:alpha val="0"/>
            </a:srgbClr>
          </a:solidFill>
          <a:ln w="21590">
            <a:solidFill>
              <a:srgbClr val="7B70C3"/>
            </a:solidFill>
            <a:prstDash val="solid"/>
          </a:ln>
        </p:spPr>
        <p:txBody>
          <a:bodyPr/>
          <a:lstStyle/>
          <a:p>
            <a:endParaRPr lang="en-IN"/>
          </a:p>
        </p:txBody>
      </p:sp>
      <p:sp>
        <p:nvSpPr>
          <p:cNvPr id="25" name="text_218"/>
          <p:cNvSpPr txBox="1"/>
          <p:nvPr/>
        </p:nvSpPr>
        <p:spPr>
          <a:xfrm>
            <a:off x="7434072" y="2386584"/>
            <a:ext cx="3840480" cy="347472"/>
          </a:xfrm>
          <a:prstGeom prst="rect">
            <a:avLst/>
          </a:prstGeom>
          <a:noFill/>
          <a:ln/>
        </p:spPr>
        <p:txBody>
          <a:bodyPr wrap="square" lIns="0" tIns="0" rIns="0" bIns="0" rtlCol="0" anchor="ctr"/>
          <a:lstStyle/>
          <a:p>
            <a:pPr marL="0" indent="0" algn="l">
              <a:buNone/>
            </a:pPr>
            <a:r>
              <a:rPr lang="en-US" sz="2200" b="1" dirty="0">
                <a:solidFill>
                  <a:srgbClr val="152F37"/>
                </a:solidFill>
                <a:latin typeface="Arial" pitchFamily="34" charset="0"/>
                <a:ea typeface="Arial" pitchFamily="34" charset="-122"/>
                <a:cs typeface="Arial" pitchFamily="34" charset="-120"/>
              </a:rPr>
              <a:t>Operations</a:t>
            </a:r>
            <a:endParaRPr lang="en-US" sz="2200" dirty="0"/>
          </a:p>
        </p:txBody>
      </p:sp>
      <p:sp>
        <p:nvSpPr>
          <p:cNvPr id="26" name="text_219"/>
          <p:cNvSpPr txBox="1"/>
          <p:nvPr/>
        </p:nvSpPr>
        <p:spPr>
          <a:xfrm>
            <a:off x="7434072" y="2852928"/>
            <a:ext cx="3840480" cy="530352"/>
          </a:xfrm>
          <a:prstGeom prst="rect">
            <a:avLst/>
          </a:prstGeom>
          <a:noFill/>
          <a:ln/>
        </p:spPr>
        <p:txBody>
          <a:bodyPr wrap="square" lIns="0" tIns="0" rIns="0" bIns="0" rtlCol="0" anchor="ctr"/>
          <a:lstStyle/>
          <a:p>
            <a:pPr marL="0" indent="0" algn="l">
              <a:buNone/>
            </a:pPr>
            <a:r>
              <a:rPr lang="en-US" sz="1470" dirty="0">
                <a:solidFill>
                  <a:srgbClr val="55707A"/>
                </a:solidFill>
                <a:latin typeface="Arial" pitchFamily="34" charset="0"/>
                <a:ea typeface="Arial" pitchFamily="34" charset="-122"/>
                <a:cs typeface="Arial" pitchFamily="34" charset="-120"/>
              </a:rPr>
              <a:t>Classify receipts and organise</a:t>
            </a:r>
            <a:endParaRPr lang="en-US" sz="1470" dirty="0"/>
          </a:p>
          <a:p>
            <a:pPr marL="0" indent="0" algn="l">
              <a:buNone/>
            </a:pPr>
            <a:r>
              <a:rPr lang="en-US" sz="1470" dirty="0">
                <a:solidFill>
                  <a:srgbClr val="55707A"/>
                </a:solidFill>
                <a:latin typeface="Arial" pitchFamily="34" charset="0"/>
                <a:ea typeface="Arial" pitchFamily="34" charset="-122"/>
                <a:cs typeface="Arial" pitchFamily="34" charset="-120"/>
              </a:rPr>
              <a:t>approved copies without duplicates.</a:t>
            </a:r>
            <a:endParaRPr lang="en-US" sz="1470" dirty="0"/>
          </a:p>
        </p:txBody>
      </p:sp>
      <p:sp>
        <p:nvSpPr>
          <p:cNvPr id="27" name="text_220"/>
          <p:cNvSpPr txBox="1"/>
          <p:nvPr/>
        </p:nvSpPr>
        <p:spPr>
          <a:xfrm>
            <a:off x="7434072" y="3511296"/>
            <a:ext cx="713232" cy="146304"/>
          </a:xfrm>
          <a:prstGeom prst="rect">
            <a:avLst/>
          </a:prstGeom>
          <a:noFill/>
          <a:ln/>
        </p:spPr>
        <p:txBody>
          <a:bodyPr wrap="square" lIns="0" tIns="0" rIns="0" bIns="0" rtlCol="0" anchor="ctr"/>
          <a:lstStyle/>
          <a:p>
            <a:pPr marL="0" indent="0" algn="l">
              <a:buNone/>
            </a:pPr>
            <a:r>
              <a:rPr lang="en-US" sz="910" b="1" kern="0" spc="70" dirty="0">
                <a:solidFill>
                  <a:srgbClr val="7B70C3"/>
                </a:solidFill>
                <a:latin typeface="Arial" pitchFamily="34" charset="0"/>
                <a:ea typeface="Arial" pitchFamily="34" charset="-122"/>
                <a:cs typeface="Arial" pitchFamily="34" charset="-120"/>
              </a:rPr>
              <a:t>OUTPUT</a:t>
            </a:r>
            <a:endParaRPr lang="en-US" sz="910" dirty="0"/>
          </a:p>
        </p:txBody>
      </p:sp>
      <p:sp>
        <p:nvSpPr>
          <p:cNvPr id="28" name="text_221"/>
          <p:cNvSpPr txBox="1"/>
          <p:nvPr/>
        </p:nvSpPr>
        <p:spPr>
          <a:xfrm>
            <a:off x="8174736" y="3456432"/>
            <a:ext cx="3063240" cy="246888"/>
          </a:xfrm>
          <a:prstGeom prst="rect">
            <a:avLst/>
          </a:prstGeom>
          <a:noFill/>
          <a:ln/>
        </p:spPr>
        <p:txBody>
          <a:bodyPr wrap="square" lIns="0" tIns="0" rIns="0" bIns="0" rtlCol="0" anchor="ctr"/>
          <a:lstStyle/>
          <a:p>
            <a:pPr marL="0" indent="0" algn="l">
              <a:buNone/>
            </a:pPr>
            <a:r>
              <a:rPr lang="en-US" sz="1200" b="1" dirty="0">
                <a:solidFill>
                  <a:srgbClr val="152F37"/>
                </a:solidFill>
                <a:latin typeface="Arial" pitchFamily="34" charset="0"/>
                <a:ea typeface="Arial" pitchFamily="34" charset="-122"/>
                <a:cs typeface="Arial" pitchFamily="34" charset="-120"/>
              </a:rPr>
              <a:t>A traceable file register</a:t>
            </a:r>
            <a:endParaRPr lang="en-US" sz="1200" dirty="0"/>
          </a:p>
        </p:txBody>
      </p:sp>
      <p:sp>
        <p:nvSpPr>
          <p:cNvPr id="29" name="shape_222"/>
          <p:cNvSpPr/>
          <p:nvPr/>
        </p:nvSpPr>
        <p:spPr>
          <a:xfrm>
            <a:off x="640080" y="4069080"/>
            <a:ext cx="5312664" cy="1645920"/>
          </a:xfrm>
          <a:prstGeom prst="roundRect">
            <a:avLst>
              <a:gd name="adj" fmla="val 5000"/>
            </a:avLst>
          </a:prstGeom>
          <a:solidFill>
            <a:srgbClr val="FFFFFF"/>
          </a:solidFill>
          <a:ln w="12700">
            <a:solidFill>
              <a:srgbClr val="D6E2DF"/>
            </a:solidFill>
            <a:prstDash val="solid"/>
          </a:ln>
        </p:spPr>
        <p:txBody>
          <a:bodyPr/>
          <a:lstStyle/>
          <a:p>
            <a:endParaRPr lang="en-IN"/>
          </a:p>
        </p:txBody>
      </p:sp>
      <p:sp>
        <p:nvSpPr>
          <p:cNvPr id="30" name="shape_223"/>
          <p:cNvSpPr/>
          <p:nvPr/>
        </p:nvSpPr>
        <p:spPr>
          <a:xfrm>
            <a:off x="640080" y="4069080"/>
            <a:ext cx="64008" cy="1645920"/>
          </a:xfrm>
          <a:prstGeom prst="rect">
            <a:avLst/>
          </a:prstGeom>
          <a:solidFill>
            <a:srgbClr val="007E80"/>
          </a:solidFill>
          <a:ln w="12700">
            <a:solidFill>
              <a:srgbClr val="007E80"/>
            </a:solidFill>
            <a:prstDash val="solid"/>
          </a:ln>
        </p:spPr>
        <p:txBody>
          <a:bodyPr/>
          <a:lstStyle/>
          <a:p>
            <a:endParaRPr lang="en-IN"/>
          </a:p>
        </p:txBody>
      </p:sp>
      <p:sp>
        <p:nvSpPr>
          <p:cNvPr id="31" name="shape_224"/>
          <p:cNvSpPr/>
          <p:nvPr/>
        </p:nvSpPr>
        <p:spPr>
          <a:xfrm>
            <a:off x="877824" y="4334256"/>
            <a:ext cx="758952" cy="768096"/>
          </a:xfrm>
          <a:prstGeom prst="roundRect">
            <a:avLst>
              <a:gd name="adj" fmla="val 12048"/>
            </a:avLst>
          </a:prstGeom>
          <a:solidFill>
            <a:srgbClr val="E4F5EE"/>
          </a:solidFill>
          <a:ln w="12700">
            <a:solidFill>
              <a:srgbClr val="E4F5EE"/>
            </a:solidFill>
            <a:prstDash val="solid"/>
          </a:ln>
        </p:spPr>
        <p:txBody>
          <a:bodyPr/>
          <a:lstStyle/>
          <a:p>
            <a:endParaRPr lang="en-IN"/>
          </a:p>
        </p:txBody>
      </p:sp>
      <p:sp>
        <p:nvSpPr>
          <p:cNvPr id="32" name="circle_225"/>
          <p:cNvSpPr/>
          <p:nvPr/>
        </p:nvSpPr>
        <p:spPr>
          <a:xfrm>
            <a:off x="1043330" y="4496105"/>
            <a:ext cx="294437" cy="294437"/>
          </a:xfrm>
          <a:prstGeom prst="ellipse">
            <a:avLst/>
          </a:prstGeom>
          <a:solidFill>
            <a:srgbClr val="FFFFFF">
              <a:alpha val="0"/>
            </a:srgbClr>
          </a:solidFill>
          <a:ln w="21590">
            <a:solidFill>
              <a:srgbClr val="007E80"/>
            </a:solidFill>
            <a:prstDash val="solid"/>
          </a:ln>
        </p:spPr>
        <p:txBody>
          <a:bodyPr/>
          <a:lstStyle/>
          <a:p>
            <a:endParaRPr lang="en-IN"/>
          </a:p>
        </p:txBody>
      </p:sp>
      <p:sp>
        <p:nvSpPr>
          <p:cNvPr id="33" name="line_226"/>
          <p:cNvSpPr/>
          <p:nvPr/>
        </p:nvSpPr>
        <p:spPr>
          <a:xfrm>
            <a:off x="1292962" y="4764938"/>
            <a:ext cx="172822" cy="172822"/>
          </a:xfrm>
          <a:prstGeom prst="line">
            <a:avLst/>
          </a:prstGeom>
          <a:noFill/>
          <a:ln w="31750">
            <a:solidFill>
              <a:srgbClr val="007E80"/>
            </a:solidFill>
            <a:prstDash val="solid"/>
            <a:headEnd type="none"/>
            <a:tailEnd type="none"/>
          </a:ln>
        </p:spPr>
        <p:txBody>
          <a:bodyPr/>
          <a:lstStyle/>
          <a:p>
            <a:endParaRPr lang="en-IN"/>
          </a:p>
        </p:txBody>
      </p:sp>
      <p:sp>
        <p:nvSpPr>
          <p:cNvPr id="34" name="line_227"/>
          <p:cNvSpPr/>
          <p:nvPr/>
        </p:nvSpPr>
        <p:spPr>
          <a:xfrm>
            <a:off x="1132942" y="4579315"/>
            <a:ext cx="108814" cy="0"/>
          </a:xfrm>
          <a:prstGeom prst="line">
            <a:avLst/>
          </a:prstGeom>
          <a:noFill/>
          <a:ln w="16510">
            <a:solidFill>
              <a:srgbClr val="007E80"/>
            </a:solidFill>
            <a:prstDash val="solid"/>
            <a:headEnd type="none"/>
            <a:tailEnd type="none"/>
          </a:ln>
        </p:spPr>
        <p:txBody>
          <a:bodyPr/>
          <a:lstStyle/>
          <a:p>
            <a:endParaRPr lang="en-IN"/>
          </a:p>
        </p:txBody>
      </p:sp>
      <p:sp>
        <p:nvSpPr>
          <p:cNvPr id="35" name="line_228"/>
          <p:cNvSpPr/>
          <p:nvPr/>
        </p:nvSpPr>
        <p:spPr>
          <a:xfrm>
            <a:off x="1132942" y="4649724"/>
            <a:ext cx="76810" cy="0"/>
          </a:xfrm>
          <a:prstGeom prst="line">
            <a:avLst/>
          </a:prstGeom>
          <a:noFill/>
          <a:ln w="16510">
            <a:solidFill>
              <a:srgbClr val="007E80"/>
            </a:solidFill>
            <a:prstDash val="solid"/>
            <a:headEnd type="none"/>
            <a:tailEnd type="none"/>
          </a:ln>
        </p:spPr>
        <p:txBody>
          <a:bodyPr/>
          <a:lstStyle/>
          <a:p>
            <a:endParaRPr lang="en-IN"/>
          </a:p>
        </p:txBody>
      </p:sp>
      <p:sp>
        <p:nvSpPr>
          <p:cNvPr id="36" name="text_229"/>
          <p:cNvSpPr txBox="1"/>
          <p:nvPr/>
        </p:nvSpPr>
        <p:spPr>
          <a:xfrm>
            <a:off x="1837944" y="4279392"/>
            <a:ext cx="3840480" cy="347472"/>
          </a:xfrm>
          <a:prstGeom prst="rect">
            <a:avLst/>
          </a:prstGeom>
          <a:noFill/>
          <a:ln/>
        </p:spPr>
        <p:txBody>
          <a:bodyPr wrap="square" lIns="0" tIns="0" rIns="0" bIns="0" rtlCol="0" anchor="ctr"/>
          <a:lstStyle/>
          <a:p>
            <a:pPr marL="0" indent="0" algn="l">
              <a:buNone/>
            </a:pPr>
            <a:r>
              <a:rPr lang="en-US" sz="2200" b="1" dirty="0">
                <a:solidFill>
                  <a:srgbClr val="152F37"/>
                </a:solidFill>
                <a:latin typeface="Arial" pitchFamily="34" charset="0"/>
                <a:ea typeface="Arial" pitchFamily="34" charset="-122"/>
                <a:cs typeface="Arial" pitchFamily="34" charset="-120"/>
              </a:rPr>
              <a:t>Research</a:t>
            </a:r>
            <a:endParaRPr lang="en-US" sz="2200" dirty="0"/>
          </a:p>
        </p:txBody>
      </p:sp>
      <p:sp>
        <p:nvSpPr>
          <p:cNvPr id="37" name="text_230"/>
          <p:cNvSpPr txBox="1"/>
          <p:nvPr/>
        </p:nvSpPr>
        <p:spPr>
          <a:xfrm>
            <a:off x="1837944" y="4745736"/>
            <a:ext cx="3840480" cy="530352"/>
          </a:xfrm>
          <a:prstGeom prst="rect">
            <a:avLst/>
          </a:prstGeom>
          <a:noFill/>
          <a:ln/>
        </p:spPr>
        <p:txBody>
          <a:bodyPr wrap="square" lIns="0" tIns="0" rIns="0" bIns="0" rtlCol="0" anchor="ctr"/>
          <a:lstStyle/>
          <a:p>
            <a:pPr marL="0" indent="0" algn="l">
              <a:buNone/>
            </a:pPr>
            <a:r>
              <a:rPr lang="en-US" sz="1470" dirty="0">
                <a:solidFill>
                  <a:srgbClr val="55707A"/>
                </a:solidFill>
                <a:latin typeface="Arial" pitchFamily="34" charset="0"/>
                <a:ea typeface="Arial" pitchFamily="34" charset="-122"/>
                <a:cs typeface="Arial" pitchFamily="34" charset="-120"/>
              </a:rPr>
              <a:t>Find permitted sources and</a:t>
            </a:r>
            <a:endParaRPr lang="en-US" sz="1470" dirty="0"/>
          </a:p>
          <a:p>
            <a:pPr marL="0" indent="0" algn="l">
              <a:buNone/>
            </a:pPr>
            <a:r>
              <a:rPr lang="en-US" sz="1470" dirty="0">
                <a:solidFill>
                  <a:srgbClr val="55707A"/>
                </a:solidFill>
                <a:latin typeface="Arial" pitchFamily="34" charset="0"/>
                <a:ea typeface="Arial" pitchFamily="34" charset="-122"/>
                <a:cs typeface="Arial" pitchFamily="34" charset="-120"/>
              </a:rPr>
              <a:t>compare their supporting evidence.</a:t>
            </a:r>
            <a:endParaRPr lang="en-US" sz="1470" dirty="0"/>
          </a:p>
        </p:txBody>
      </p:sp>
      <p:sp>
        <p:nvSpPr>
          <p:cNvPr id="38" name="text_231"/>
          <p:cNvSpPr txBox="1"/>
          <p:nvPr/>
        </p:nvSpPr>
        <p:spPr>
          <a:xfrm>
            <a:off x="1837944" y="5404104"/>
            <a:ext cx="713232" cy="146304"/>
          </a:xfrm>
          <a:prstGeom prst="rect">
            <a:avLst/>
          </a:prstGeom>
          <a:noFill/>
          <a:ln/>
        </p:spPr>
        <p:txBody>
          <a:bodyPr wrap="square" lIns="0" tIns="0" rIns="0" bIns="0" rtlCol="0" anchor="ctr"/>
          <a:lstStyle/>
          <a:p>
            <a:pPr marL="0" indent="0" algn="l">
              <a:buNone/>
            </a:pPr>
            <a:r>
              <a:rPr lang="en-US" sz="910" b="1" kern="0" spc="70" dirty="0">
                <a:solidFill>
                  <a:srgbClr val="007E80"/>
                </a:solidFill>
                <a:latin typeface="Arial" pitchFamily="34" charset="0"/>
                <a:ea typeface="Arial" pitchFamily="34" charset="-122"/>
                <a:cs typeface="Arial" pitchFamily="34" charset="-120"/>
              </a:rPr>
              <a:t>OUTPUT</a:t>
            </a:r>
            <a:endParaRPr lang="en-US" sz="910" dirty="0"/>
          </a:p>
        </p:txBody>
      </p:sp>
      <p:sp>
        <p:nvSpPr>
          <p:cNvPr id="39" name="text_232"/>
          <p:cNvSpPr txBox="1"/>
          <p:nvPr/>
        </p:nvSpPr>
        <p:spPr>
          <a:xfrm>
            <a:off x="2578608" y="5349240"/>
            <a:ext cx="3063240" cy="246888"/>
          </a:xfrm>
          <a:prstGeom prst="rect">
            <a:avLst/>
          </a:prstGeom>
          <a:noFill/>
          <a:ln/>
        </p:spPr>
        <p:txBody>
          <a:bodyPr wrap="square" lIns="0" tIns="0" rIns="0" bIns="0" rtlCol="0" anchor="ctr"/>
          <a:lstStyle/>
          <a:p>
            <a:pPr marL="0" indent="0" algn="l">
              <a:buNone/>
            </a:pPr>
            <a:r>
              <a:rPr lang="en-US" sz="1200" b="1" dirty="0">
                <a:solidFill>
                  <a:srgbClr val="152F37"/>
                </a:solidFill>
                <a:latin typeface="Arial" pitchFamily="34" charset="0"/>
                <a:ea typeface="Arial" pitchFamily="34" charset="-122"/>
                <a:cs typeface="Arial" pitchFamily="34" charset="-120"/>
              </a:rPr>
              <a:t>A referenced decision note</a:t>
            </a:r>
            <a:endParaRPr lang="en-US" sz="1200" dirty="0"/>
          </a:p>
        </p:txBody>
      </p:sp>
      <p:sp>
        <p:nvSpPr>
          <p:cNvPr id="40" name="shape_233"/>
          <p:cNvSpPr/>
          <p:nvPr/>
        </p:nvSpPr>
        <p:spPr>
          <a:xfrm>
            <a:off x="6236208" y="4069080"/>
            <a:ext cx="5312664" cy="1645920"/>
          </a:xfrm>
          <a:prstGeom prst="roundRect">
            <a:avLst>
              <a:gd name="adj" fmla="val 5000"/>
            </a:avLst>
          </a:prstGeom>
          <a:solidFill>
            <a:srgbClr val="FFFFFF"/>
          </a:solidFill>
          <a:ln w="12700">
            <a:solidFill>
              <a:srgbClr val="D6E2DF"/>
            </a:solidFill>
            <a:prstDash val="solid"/>
          </a:ln>
        </p:spPr>
        <p:txBody>
          <a:bodyPr/>
          <a:lstStyle/>
          <a:p>
            <a:endParaRPr lang="en-IN"/>
          </a:p>
        </p:txBody>
      </p:sp>
      <p:sp>
        <p:nvSpPr>
          <p:cNvPr id="41" name="shape_234"/>
          <p:cNvSpPr/>
          <p:nvPr/>
        </p:nvSpPr>
        <p:spPr>
          <a:xfrm>
            <a:off x="6236208" y="4069080"/>
            <a:ext cx="64008" cy="1645920"/>
          </a:xfrm>
          <a:prstGeom prst="rect">
            <a:avLst/>
          </a:prstGeom>
          <a:solidFill>
            <a:srgbClr val="A36C19"/>
          </a:solidFill>
          <a:ln w="12700">
            <a:solidFill>
              <a:srgbClr val="A36C19"/>
            </a:solidFill>
            <a:prstDash val="solid"/>
          </a:ln>
        </p:spPr>
        <p:txBody>
          <a:bodyPr/>
          <a:lstStyle/>
          <a:p>
            <a:endParaRPr lang="en-IN"/>
          </a:p>
        </p:txBody>
      </p:sp>
      <p:sp>
        <p:nvSpPr>
          <p:cNvPr id="42" name="shape_235"/>
          <p:cNvSpPr/>
          <p:nvPr/>
        </p:nvSpPr>
        <p:spPr>
          <a:xfrm>
            <a:off x="6473952" y="4334256"/>
            <a:ext cx="758952" cy="768096"/>
          </a:xfrm>
          <a:prstGeom prst="roundRect">
            <a:avLst>
              <a:gd name="adj" fmla="val 12048"/>
            </a:avLst>
          </a:prstGeom>
          <a:solidFill>
            <a:srgbClr val="FCF3E4"/>
          </a:solidFill>
          <a:ln w="12700">
            <a:solidFill>
              <a:srgbClr val="FCF3E4"/>
            </a:solidFill>
            <a:prstDash val="solid"/>
          </a:ln>
        </p:spPr>
        <p:txBody>
          <a:bodyPr/>
          <a:lstStyle/>
          <a:p>
            <a:endParaRPr lang="en-IN"/>
          </a:p>
        </p:txBody>
      </p:sp>
      <p:sp>
        <p:nvSpPr>
          <p:cNvPr id="43" name="shape_236"/>
          <p:cNvSpPr/>
          <p:nvPr/>
        </p:nvSpPr>
        <p:spPr>
          <a:xfrm>
            <a:off x="6636258" y="4515307"/>
            <a:ext cx="416052" cy="300838"/>
          </a:xfrm>
          <a:prstGeom prst="roundRect">
            <a:avLst>
              <a:gd name="adj" fmla="val 9119"/>
            </a:avLst>
          </a:prstGeom>
          <a:solidFill>
            <a:srgbClr val="FFFFFF">
              <a:alpha val="0"/>
            </a:srgbClr>
          </a:solidFill>
          <a:ln w="12700">
            <a:solidFill>
              <a:srgbClr val="A36C19"/>
            </a:solidFill>
            <a:prstDash val="solid"/>
          </a:ln>
        </p:spPr>
        <p:txBody>
          <a:bodyPr/>
          <a:lstStyle/>
          <a:p>
            <a:endParaRPr lang="en-IN"/>
          </a:p>
        </p:txBody>
      </p:sp>
      <p:sp>
        <p:nvSpPr>
          <p:cNvPr id="44" name="line_237"/>
          <p:cNvSpPr/>
          <p:nvPr/>
        </p:nvSpPr>
        <p:spPr>
          <a:xfrm>
            <a:off x="6697066" y="4816145"/>
            <a:ext cx="0" cy="115214"/>
          </a:xfrm>
          <a:prstGeom prst="line">
            <a:avLst/>
          </a:prstGeom>
          <a:noFill/>
          <a:ln w="22860">
            <a:solidFill>
              <a:srgbClr val="A36C19"/>
            </a:solidFill>
            <a:prstDash val="solid"/>
            <a:headEnd type="none"/>
            <a:tailEnd type="none"/>
          </a:ln>
        </p:spPr>
        <p:txBody>
          <a:bodyPr/>
          <a:lstStyle/>
          <a:p>
            <a:endParaRPr lang="en-IN"/>
          </a:p>
        </p:txBody>
      </p:sp>
      <p:sp>
        <p:nvSpPr>
          <p:cNvPr id="45" name="line_238"/>
          <p:cNvSpPr/>
          <p:nvPr/>
        </p:nvSpPr>
        <p:spPr>
          <a:xfrm flipV="1">
            <a:off x="6697066" y="4816145"/>
            <a:ext cx="121615" cy="115214"/>
          </a:xfrm>
          <a:prstGeom prst="line">
            <a:avLst/>
          </a:prstGeom>
          <a:noFill/>
          <a:ln w="22860">
            <a:solidFill>
              <a:srgbClr val="A36C19"/>
            </a:solidFill>
            <a:prstDash val="solid"/>
            <a:headEnd type="none"/>
            <a:tailEnd type="none"/>
          </a:ln>
        </p:spPr>
        <p:txBody>
          <a:bodyPr/>
          <a:lstStyle/>
          <a:p>
            <a:endParaRPr lang="en-IN"/>
          </a:p>
        </p:txBody>
      </p:sp>
      <p:sp>
        <p:nvSpPr>
          <p:cNvPr id="46" name="line_239"/>
          <p:cNvSpPr/>
          <p:nvPr/>
        </p:nvSpPr>
        <p:spPr>
          <a:xfrm>
            <a:off x="6722669" y="4611319"/>
            <a:ext cx="236830" cy="0"/>
          </a:xfrm>
          <a:prstGeom prst="line">
            <a:avLst/>
          </a:prstGeom>
          <a:noFill/>
          <a:ln w="22860">
            <a:solidFill>
              <a:srgbClr val="A36C19"/>
            </a:solidFill>
            <a:prstDash val="solid"/>
            <a:headEnd type="none"/>
            <a:tailEnd type="none"/>
          </a:ln>
        </p:spPr>
        <p:txBody>
          <a:bodyPr/>
          <a:lstStyle/>
          <a:p>
            <a:endParaRPr lang="en-IN"/>
          </a:p>
        </p:txBody>
      </p:sp>
      <p:sp>
        <p:nvSpPr>
          <p:cNvPr id="47" name="line_240"/>
          <p:cNvSpPr/>
          <p:nvPr/>
        </p:nvSpPr>
        <p:spPr>
          <a:xfrm>
            <a:off x="6722669" y="4700930"/>
            <a:ext cx="166421" cy="0"/>
          </a:xfrm>
          <a:prstGeom prst="line">
            <a:avLst/>
          </a:prstGeom>
          <a:noFill/>
          <a:ln w="22860">
            <a:solidFill>
              <a:srgbClr val="A36C19"/>
            </a:solidFill>
            <a:prstDash val="solid"/>
            <a:headEnd type="none"/>
            <a:tailEnd type="none"/>
          </a:ln>
        </p:spPr>
        <p:txBody>
          <a:bodyPr/>
          <a:lstStyle/>
          <a:p>
            <a:endParaRPr lang="en-IN"/>
          </a:p>
        </p:txBody>
      </p:sp>
      <p:sp>
        <p:nvSpPr>
          <p:cNvPr id="48" name="text_241"/>
          <p:cNvSpPr txBox="1"/>
          <p:nvPr/>
        </p:nvSpPr>
        <p:spPr>
          <a:xfrm>
            <a:off x="7434072" y="4279392"/>
            <a:ext cx="3840480" cy="347472"/>
          </a:xfrm>
          <a:prstGeom prst="rect">
            <a:avLst/>
          </a:prstGeom>
          <a:noFill/>
          <a:ln/>
        </p:spPr>
        <p:txBody>
          <a:bodyPr wrap="square" lIns="0" tIns="0" rIns="0" bIns="0" rtlCol="0" anchor="ctr"/>
          <a:lstStyle/>
          <a:p>
            <a:pPr marL="0" indent="0" algn="l">
              <a:buNone/>
            </a:pPr>
            <a:r>
              <a:rPr lang="en-US" sz="2200" b="1" dirty="0">
                <a:solidFill>
                  <a:srgbClr val="152F37"/>
                </a:solidFill>
                <a:latin typeface="Arial" pitchFamily="34" charset="0"/>
                <a:ea typeface="Arial" pitchFamily="34" charset="-122"/>
                <a:cs typeface="Arial" pitchFamily="34" charset="-120"/>
              </a:rPr>
              <a:t>Customer support</a:t>
            </a:r>
            <a:endParaRPr lang="en-US" sz="2200" dirty="0"/>
          </a:p>
        </p:txBody>
      </p:sp>
      <p:sp>
        <p:nvSpPr>
          <p:cNvPr id="49" name="text_242"/>
          <p:cNvSpPr txBox="1"/>
          <p:nvPr/>
        </p:nvSpPr>
        <p:spPr>
          <a:xfrm>
            <a:off x="7434072" y="4745736"/>
            <a:ext cx="3840480" cy="530352"/>
          </a:xfrm>
          <a:prstGeom prst="rect">
            <a:avLst/>
          </a:prstGeom>
          <a:noFill/>
          <a:ln/>
        </p:spPr>
        <p:txBody>
          <a:bodyPr wrap="square" lIns="0" tIns="0" rIns="0" bIns="0" rtlCol="0" anchor="ctr"/>
          <a:lstStyle/>
          <a:p>
            <a:pPr marL="0" indent="0" algn="l">
              <a:buNone/>
            </a:pPr>
            <a:r>
              <a:rPr lang="en-US" sz="1470" dirty="0">
                <a:solidFill>
                  <a:srgbClr val="55707A"/>
                </a:solidFill>
                <a:latin typeface="Arial" pitchFamily="34" charset="0"/>
                <a:ea typeface="Arial" pitchFamily="34" charset="-122"/>
                <a:cs typeface="Arial" pitchFamily="34" charset="-120"/>
              </a:rPr>
              <a:t>Retrieve case details and</a:t>
            </a:r>
            <a:endParaRPr lang="en-US" sz="1470" dirty="0"/>
          </a:p>
          <a:p>
            <a:pPr marL="0" indent="0" algn="l">
              <a:buNone/>
            </a:pPr>
            <a:r>
              <a:rPr lang="en-US" sz="1470" dirty="0">
                <a:solidFill>
                  <a:srgbClr val="55707A"/>
                </a:solidFill>
                <a:latin typeface="Arial" pitchFamily="34" charset="0"/>
                <a:ea typeface="Arial" pitchFamily="34" charset="-122"/>
                <a:cs typeface="Arial" pitchFamily="34" charset="-120"/>
              </a:rPr>
              <a:t>propose the next response.</a:t>
            </a:r>
            <a:endParaRPr lang="en-US" sz="1470" dirty="0"/>
          </a:p>
        </p:txBody>
      </p:sp>
      <p:sp>
        <p:nvSpPr>
          <p:cNvPr id="50" name="text_243"/>
          <p:cNvSpPr txBox="1"/>
          <p:nvPr/>
        </p:nvSpPr>
        <p:spPr>
          <a:xfrm>
            <a:off x="7434072" y="5404104"/>
            <a:ext cx="713232" cy="146304"/>
          </a:xfrm>
          <a:prstGeom prst="rect">
            <a:avLst/>
          </a:prstGeom>
          <a:noFill/>
          <a:ln/>
        </p:spPr>
        <p:txBody>
          <a:bodyPr wrap="square" lIns="0" tIns="0" rIns="0" bIns="0" rtlCol="0" anchor="ctr"/>
          <a:lstStyle/>
          <a:p>
            <a:pPr marL="0" indent="0" algn="l">
              <a:buNone/>
            </a:pPr>
            <a:r>
              <a:rPr lang="en-US" sz="910" b="1" kern="0" spc="70" dirty="0">
                <a:solidFill>
                  <a:srgbClr val="A36C19"/>
                </a:solidFill>
                <a:latin typeface="Arial" pitchFamily="34" charset="0"/>
                <a:ea typeface="Arial" pitchFamily="34" charset="-122"/>
                <a:cs typeface="Arial" pitchFamily="34" charset="-120"/>
              </a:rPr>
              <a:t>OUTPUT</a:t>
            </a:r>
            <a:endParaRPr lang="en-US" sz="910" dirty="0"/>
          </a:p>
        </p:txBody>
      </p:sp>
      <p:sp>
        <p:nvSpPr>
          <p:cNvPr id="51" name="text_244"/>
          <p:cNvSpPr txBox="1"/>
          <p:nvPr/>
        </p:nvSpPr>
        <p:spPr>
          <a:xfrm>
            <a:off x="8174736" y="5349240"/>
            <a:ext cx="3063240" cy="246888"/>
          </a:xfrm>
          <a:prstGeom prst="rect">
            <a:avLst/>
          </a:prstGeom>
          <a:noFill/>
          <a:ln/>
        </p:spPr>
        <p:txBody>
          <a:bodyPr wrap="square" lIns="0" tIns="0" rIns="0" bIns="0" rtlCol="0" anchor="ctr"/>
          <a:lstStyle/>
          <a:p>
            <a:pPr marL="0" indent="0" algn="l">
              <a:buNone/>
            </a:pPr>
            <a:r>
              <a:rPr lang="en-US" sz="1200" b="1" dirty="0">
                <a:solidFill>
                  <a:srgbClr val="152F37"/>
                </a:solidFill>
                <a:latin typeface="Arial" pitchFamily="34" charset="0"/>
                <a:ea typeface="Arial" pitchFamily="34" charset="-122"/>
                <a:cs typeface="Arial" pitchFamily="34" charset="-120"/>
              </a:rPr>
              <a:t>A draft for human review</a:t>
            </a:r>
            <a:endParaRPr lang="en-US" sz="1200" dirty="0"/>
          </a:p>
        </p:txBody>
      </p:sp>
      <p:sp>
        <p:nvSpPr>
          <p:cNvPr id="52" name="line_245"/>
          <p:cNvSpPr/>
          <p:nvPr/>
        </p:nvSpPr>
        <p:spPr>
          <a:xfrm>
            <a:off x="603504" y="6364224"/>
            <a:ext cx="10972800" cy="0"/>
          </a:xfrm>
          <a:prstGeom prst="line">
            <a:avLst/>
          </a:prstGeom>
          <a:noFill/>
          <a:ln w="8890">
            <a:solidFill>
              <a:srgbClr val="D6E2DF"/>
            </a:solidFill>
            <a:prstDash val="solid"/>
            <a:headEnd type="none"/>
            <a:tailEnd type="none"/>
          </a:ln>
        </p:spPr>
        <p:txBody>
          <a:bodyPr/>
          <a:lstStyle/>
          <a:p>
            <a:endParaRPr lang="en-IN"/>
          </a:p>
        </p:txBody>
      </p:sp>
      <p:sp>
        <p:nvSpPr>
          <p:cNvPr id="53" name="text_246"/>
          <p:cNvSpPr txBox="1"/>
          <p:nvPr/>
        </p:nvSpPr>
        <p:spPr>
          <a:xfrm>
            <a:off x="621792" y="6473952"/>
            <a:ext cx="6309360" cy="146304"/>
          </a:xfrm>
          <a:prstGeom prst="rect">
            <a:avLst/>
          </a:prstGeom>
          <a:noFill/>
          <a:ln/>
        </p:spPr>
        <p:txBody>
          <a:bodyPr wrap="square" lIns="0" tIns="0" rIns="0" bIns="0" rtlCol="0" anchor="ctr"/>
          <a:lstStyle/>
          <a:p>
            <a:pPr marL="0" indent="0" algn="l">
              <a:buNone/>
            </a:pPr>
            <a:r>
              <a:rPr lang="en-US" sz="830" kern="0" spc="105" dirty="0">
                <a:solidFill>
                  <a:srgbClr val="55707A"/>
                </a:solidFill>
                <a:latin typeface="Arial" pitchFamily="34" charset="0"/>
                <a:ea typeface="Arial" pitchFamily="34" charset="-122"/>
                <a:cs typeface="Arial" pitchFamily="34" charset="-120"/>
              </a:rPr>
              <a:t>AGENTIC AI  /  A PRACTICAL BUSINESS BRIEFING</a:t>
            </a:r>
            <a:endParaRPr lang="en-US" sz="830" dirty="0"/>
          </a:p>
        </p:txBody>
      </p:sp>
      <p:sp>
        <p:nvSpPr>
          <p:cNvPr id="54" name="text_247"/>
          <p:cNvSpPr txBox="1"/>
          <p:nvPr/>
        </p:nvSpPr>
        <p:spPr>
          <a:xfrm>
            <a:off x="6492240" y="6460236"/>
            <a:ext cx="4434840" cy="182880"/>
          </a:xfrm>
          <a:prstGeom prst="rect">
            <a:avLst/>
          </a:prstGeom>
          <a:noFill/>
          <a:ln/>
        </p:spPr>
        <p:txBody>
          <a:bodyPr wrap="square" lIns="0" tIns="0" rIns="0" bIns="0" rtlCol="0" anchor="ctr"/>
          <a:lstStyle/>
          <a:p>
            <a:pPr marL="0" indent="0" algn="r">
              <a:buNone/>
            </a:pPr>
            <a:r>
              <a:rPr lang="en-US" sz="810" dirty="0">
                <a:solidFill>
                  <a:srgbClr val="55707A"/>
                </a:solidFill>
                <a:latin typeface="Arial" pitchFamily="34" charset="0"/>
                <a:ea typeface="Arial" pitchFamily="34" charset="-122"/>
                <a:cs typeface="Arial" pitchFamily="34" charset="-120"/>
              </a:rPr>
              <a:t>Illustrative candidates  •  Tools and access must be verified</a:t>
            </a:r>
            <a:endParaRPr lang="en-US" sz="810" dirty="0"/>
          </a:p>
        </p:txBody>
      </p:sp>
      <p:sp>
        <p:nvSpPr>
          <p:cNvPr id="55" name="text_248"/>
          <p:cNvSpPr txBox="1"/>
          <p:nvPr/>
        </p:nvSpPr>
        <p:spPr>
          <a:xfrm>
            <a:off x="11091672" y="6441948"/>
            <a:ext cx="466344" cy="201168"/>
          </a:xfrm>
          <a:prstGeom prst="rect">
            <a:avLst/>
          </a:prstGeom>
          <a:noFill/>
          <a:ln/>
        </p:spPr>
        <p:txBody>
          <a:bodyPr wrap="square" lIns="0" tIns="0" rIns="0" bIns="0" rtlCol="0" anchor="ctr"/>
          <a:lstStyle/>
          <a:p>
            <a:pPr marL="0" indent="0" algn="r">
              <a:buNone/>
            </a:pPr>
            <a:r>
              <a:rPr lang="en-US" sz="1000" b="1" dirty="0">
                <a:solidFill>
                  <a:srgbClr val="007E80"/>
                </a:solidFill>
                <a:latin typeface="Arial" pitchFamily="34" charset="0"/>
                <a:ea typeface="Arial" pitchFamily="34" charset="-122"/>
                <a:cs typeface="Arial"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6"/>
        </a:solidFill>
        <a:effectLst/>
      </p:bgPr>
    </p:bg>
    <p:spTree>
      <p:nvGrpSpPr>
        <p:cNvPr id="1" name=""/>
        <p:cNvGrpSpPr/>
        <p:nvPr/>
      </p:nvGrpSpPr>
      <p:grpSpPr>
        <a:xfrm>
          <a:off x="0" y="0"/>
          <a:ext cx="0" cy="0"/>
          <a:chOff x="0" y="0"/>
          <a:chExt cx="0" cy="0"/>
        </a:xfrm>
      </p:grpSpPr>
      <p:sp>
        <p:nvSpPr>
          <p:cNvPr id="2" name="text_249"/>
          <p:cNvSpPr txBox="1"/>
          <p:nvPr/>
        </p:nvSpPr>
        <p:spPr>
          <a:xfrm>
            <a:off x="621792" y="448056"/>
            <a:ext cx="10058400" cy="219456"/>
          </a:xfrm>
          <a:prstGeom prst="rect">
            <a:avLst/>
          </a:prstGeom>
          <a:noFill/>
          <a:ln/>
        </p:spPr>
        <p:txBody>
          <a:bodyPr wrap="square" lIns="0" tIns="0" rIns="0" bIns="0" rtlCol="0" anchor="ctr"/>
          <a:lstStyle/>
          <a:p>
            <a:pPr marL="0" indent="0" algn="l">
              <a:buNone/>
            </a:pPr>
            <a:r>
              <a:rPr lang="en-US" sz="1050" b="1" kern="0" spc="200" dirty="0">
                <a:solidFill>
                  <a:srgbClr val="007E80"/>
                </a:solidFill>
                <a:latin typeface="Arial" pitchFamily="34" charset="0"/>
                <a:ea typeface="Arial" pitchFamily="34" charset="-122"/>
                <a:cs typeface="Arial" pitchFamily="34" charset="-120"/>
              </a:rPr>
              <a:t>05 / GOVERNANCE AND TRUST</a:t>
            </a:r>
            <a:endParaRPr lang="en-US" sz="1050" dirty="0"/>
          </a:p>
        </p:txBody>
      </p:sp>
      <p:sp>
        <p:nvSpPr>
          <p:cNvPr id="3" name="text_250"/>
          <p:cNvSpPr txBox="1"/>
          <p:nvPr/>
        </p:nvSpPr>
        <p:spPr>
          <a:xfrm>
            <a:off x="621792" y="905256"/>
            <a:ext cx="10972800" cy="630936"/>
          </a:xfrm>
          <a:prstGeom prst="rect">
            <a:avLst/>
          </a:prstGeom>
          <a:noFill/>
          <a:ln/>
        </p:spPr>
        <p:txBody>
          <a:bodyPr wrap="square" lIns="0" tIns="0" rIns="0" bIns="0" rtlCol="0" anchor="ctr"/>
          <a:lstStyle/>
          <a:p>
            <a:pPr marL="0" indent="0" algn="l">
              <a:buNone/>
            </a:pPr>
            <a:r>
              <a:rPr lang="en-US" sz="3100" b="1" kern="0" spc="-60" dirty="0">
                <a:solidFill>
                  <a:srgbClr val="152F37"/>
                </a:solidFill>
                <a:latin typeface="Arial" pitchFamily="34" charset="0"/>
                <a:ea typeface="Arial" pitchFamily="34" charset="-122"/>
                <a:cs typeface="Arial" pitchFamily="34" charset="-120"/>
              </a:rPr>
              <a:t>Control the actions. Verify the outcomes.</a:t>
            </a:r>
            <a:endParaRPr lang="en-US" sz="3100" dirty="0"/>
          </a:p>
        </p:txBody>
      </p:sp>
      <p:sp>
        <p:nvSpPr>
          <p:cNvPr id="4" name="text_251"/>
          <p:cNvSpPr txBox="1"/>
          <p:nvPr/>
        </p:nvSpPr>
        <p:spPr>
          <a:xfrm>
            <a:off x="640080" y="1609344"/>
            <a:ext cx="10835640" cy="347472"/>
          </a:xfrm>
          <a:prstGeom prst="rect">
            <a:avLst/>
          </a:prstGeom>
          <a:noFill/>
          <a:ln/>
        </p:spPr>
        <p:txBody>
          <a:bodyPr wrap="square" lIns="0" tIns="0" rIns="0" bIns="0" rtlCol="0" anchor="ctr"/>
          <a:lstStyle/>
          <a:p>
            <a:pPr marL="0" indent="0" algn="l">
              <a:buNone/>
            </a:pPr>
            <a:r>
              <a:rPr lang="en-US" sz="1650" dirty="0">
                <a:solidFill>
                  <a:srgbClr val="55707A"/>
                </a:solidFill>
                <a:latin typeface="Arial" pitchFamily="34" charset="0"/>
                <a:ea typeface="Arial" pitchFamily="34" charset="-122"/>
                <a:cs typeface="Arial" pitchFamily="34" charset="-120"/>
              </a:rPr>
              <a:t>More autonomy needs clearer boundaries—not less accountability.</a:t>
            </a:r>
            <a:endParaRPr lang="en-US" sz="1650" dirty="0"/>
          </a:p>
        </p:txBody>
      </p:sp>
      <p:sp>
        <p:nvSpPr>
          <p:cNvPr id="5" name="shape_252"/>
          <p:cNvSpPr/>
          <p:nvPr/>
        </p:nvSpPr>
        <p:spPr>
          <a:xfrm>
            <a:off x="640080" y="2176272"/>
            <a:ext cx="3410712" cy="3721608"/>
          </a:xfrm>
          <a:prstGeom prst="roundRect">
            <a:avLst>
              <a:gd name="adj" fmla="val 2681"/>
            </a:avLst>
          </a:prstGeom>
          <a:solidFill>
            <a:srgbClr val="142329"/>
          </a:solidFill>
          <a:ln w="12700">
            <a:solidFill>
              <a:srgbClr val="142329"/>
            </a:solidFill>
            <a:prstDash val="solid"/>
          </a:ln>
        </p:spPr>
        <p:txBody>
          <a:bodyPr/>
          <a:lstStyle/>
          <a:p>
            <a:endParaRPr lang="en-IN"/>
          </a:p>
        </p:txBody>
      </p:sp>
      <p:sp>
        <p:nvSpPr>
          <p:cNvPr id="6" name="shape_253"/>
          <p:cNvSpPr/>
          <p:nvPr/>
        </p:nvSpPr>
        <p:spPr>
          <a:xfrm>
            <a:off x="1040221" y="2780965"/>
            <a:ext cx="496702" cy="372527"/>
          </a:xfrm>
          <a:prstGeom prst="roundRect">
            <a:avLst>
              <a:gd name="adj" fmla="val 7364"/>
            </a:avLst>
          </a:prstGeom>
          <a:solidFill>
            <a:srgbClr val="FFFFFF">
              <a:alpha val="0"/>
            </a:srgbClr>
          </a:solidFill>
          <a:ln w="12700">
            <a:solidFill>
              <a:srgbClr val="69DFC8"/>
            </a:solidFill>
            <a:prstDash val="solid"/>
          </a:ln>
        </p:spPr>
        <p:txBody>
          <a:bodyPr/>
          <a:lstStyle/>
          <a:p>
            <a:endParaRPr lang="en-IN"/>
          </a:p>
        </p:txBody>
      </p:sp>
      <p:sp>
        <p:nvSpPr>
          <p:cNvPr id="7" name="line_254"/>
          <p:cNvSpPr/>
          <p:nvPr/>
        </p:nvSpPr>
        <p:spPr>
          <a:xfrm flipV="1">
            <a:off x="1146658" y="2612441"/>
            <a:ext cx="0" cy="168524"/>
          </a:xfrm>
          <a:prstGeom prst="line">
            <a:avLst/>
          </a:prstGeom>
          <a:noFill/>
          <a:ln w="22860">
            <a:solidFill>
              <a:srgbClr val="69DFC8"/>
            </a:solidFill>
            <a:prstDash val="solid"/>
            <a:headEnd type="none"/>
            <a:tailEnd type="none"/>
          </a:ln>
        </p:spPr>
        <p:txBody>
          <a:bodyPr/>
          <a:lstStyle/>
          <a:p>
            <a:endParaRPr lang="en-IN"/>
          </a:p>
        </p:txBody>
      </p:sp>
      <p:sp>
        <p:nvSpPr>
          <p:cNvPr id="8" name="line_255"/>
          <p:cNvSpPr/>
          <p:nvPr/>
        </p:nvSpPr>
        <p:spPr>
          <a:xfrm>
            <a:off x="1146658" y="2612441"/>
            <a:ext cx="283830" cy="0"/>
          </a:xfrm>
          <a:prstGeom prst="line">
            <a:avLst/>
          </a:prstGeom>
          <a:noFill/>
          <a:ln w="22860">
            <a:solidFill>
              <a:srgbClr val="69DFC8"/>
            </a:solidFill>
            <a:prstDash val="solid"/>
            <a:headEnd type="none"/>
            <a:tailEnd type="none"/>
          </a:ln>
        </p:spPr>
        <p:txBody>
          <a:bodyPr/>
          <a:lstStyle/>
          <a:p>
            <a:endParaRPr lang="en-IN"/>
          </a:p>
        </p:txBody>
      </p:sp>
      <p:sp>
        <p:nvSpPr>
          <p:cNvPr id="9" name="line_256"/>
          <p:cNvSpPr/>
          <p:nvPr/>
        </p:nvSpPr>
        <p:spPr>
          <a:xfrm>
            <a:off x="1430487" y="2612441"/>
            <a:ext cx="0" cy="168524"/>
          </a:xfrm>
          <a:prstGeom prst="line">
            <a:avLst/>
          </a:prstGeom>
          <a:noFill/>
          <a:ln w="22860">
            <a:solidFill>
              <a:srgbClr val="69DFC8"/>
            </a:solidFill>
            <a:prstDash val="solid"/>
            <a:headEnd type="none"/>
            <a:tailEnd type="none"/>
          </a:ln>
        </p:spPr>
        <p:txBody>
          <a:bodyPr/>
          <a:lstStyle/>
          <a:p>
            <a:endParaRPr lang="en-IN"/>
          </a:p>
        </p:txBody>
      </p:sp>
      <p:sp>
        <p:nvSpPr>
          <p:cNvPr id="10" name="circle_257"/>
          <p:cNvSpPr/>
          <p:nvPr/>
        </p:nvSpPr>
        <p:spPr>
          <a:xfrm>
            <a:off x="1257529" y="2905140"/>
            <a:ext cx="62088" cy="62088"/>
          </a:xfrm>
          <a:prstGeom prst="ellipse">
            <a:avLst/>
          </a:prstGeom>
          <a:solidFill>
            <a:srgbClr val="69DFC8"/>
          </a:solidFill>
          <a:ln w="12700">
            <a:solidFill>
              <a:srgbClr val="69DFC8"/>
            </a:solidFill>
            <a:prstDash val="solid"/>
          </a:ln>
        </p:spPr>
        <p:txBody>
          <a:bodyPr/>
          <a:lstStyle/>
          <a:p>
            <a:endParaRPr lang="en-IN"/>
          </a:p>
        </p:txBody>
      </p:sp>
      <p:sp>
        <p:nvSpPr>
          <p:cNvPr id="11" name="line_258"/>
          <p:cNvSpPr/>
          <p:nvPr/>
        </p:nvSpPr>
        <p:spPr>
          <a:xfrm>
            <a:off x="1288572" y="2940619"/>
            <a:ext cx="0" cy="97566"/>
          </a:xfrm>
          <a:prstGeom prst="line">
            <a:avLst/>
          </a:prstGeom>
          <a:noFill/>
          <a:ln w="22860">
            <a:solidFill>
              <a:srgbClr val="69DFC8"/>
            </a:solidFill>
            <a:prstDash val="solid"/>
            <a:headEnd type="none"/>
            <a:tailEnd type="none"/>
          </a:ln>
        </p:spPr>
        <p:txBody>
          <a:bodyPr/>
          <a:lstStyle/>
          <a:p>
            <a:endParaRPr lang="en-IN"/>
          </a:p>
        </p:txBody>
      </p:sp>
      <p:sp>
        <p:nvSpPr>
          <p:cNvPr id="12" name="text_259"/>
          <p:cNvSpPr txBox="1"/>
          <p:nvPr/>
        </p:nvSpPr>
        <p:spPr>
          <a:xfrm>
            <a:off x="950976" y="3502152"/>
            <a:ext cx="2834640" cy="1426464"/>
          </a:xfrm>
          <a:prstGeom prst="rect">
            <a:avLst/>
          </a:prstGeom>
          <a:noFill/>
          <a:ln/>
        </p:spPr>
        <p:txBody>
          <a:bodyPr wrap="square" lIns="0" tIns="0" rIns="0" bIns="0" rtlCol="0" anchor="ctr"/>
          <a:lstStyle/>
          <a:p>
            <a:pPr marL="0" indent="0" algn="l">
              <a:buNone/>
            </a:pPr>
            <a:r>
              <a:rPr lang="en-US" sz="2600" b="1" dirty="0">
                <a:solidFill>
                  <a:srgbClr val="FFFFFF"/>
                </a:solidFill>
                <a:latin typeface="Arial" pitchFamily="34" charset="0"/>
                <a:ea typeface="Arial" pitchFamily="34" charset="-122"/>
                <a:cs typeface="Arial" pitchFamily="34" charset="-120"/>
              </a:rPr>
              <a:t>A confident</a:t>
            </a:r>
            <a:endParaRPr lang="en-US" sz="2600" dirty="0"/>
          </a:p>
          <a:p>
            <a:pPr marL="0" indent="0" algn="l">
              <a:buNone/>
            </a:pPr>
            <a:r>
              <a:rPr lang="en-US" sz="2600" b="1" dirty="0">
                <a:solidFill>
                  <a:srgbClr val="FFFFFF"/>
                </a:solidFill>
                <a:latin typeface="Arial" pitchFamily="34" charset="0"/>
                <a:ea typeface="Arial" pitchFamily="34" charset="-122"/>
                <a:cs typeface="Arial" pitchFamily="34" charset="-120"/>
              </a:rPr>
              <a:t>answer is not</a:t>
            </a:r>
            <a:endParaRPr lang="en-US" sz="2600" dirty="0"/>
          </a:p>
          <a:p>
            <a:pPr marL="0" indent="0" algn="l">
              <a:buNone/>
            </a:pPr>
            <a:r>
              <a:rPr lang="en-US" sz="2600" b="1" dirty="0">
                <a:solidFill>
                  <a:srgbClr val="FFFFFF"/>
                </a:solidFill>
                <a:latin typeface="Arial" pitchFamily="34" charset="0"/>
                <a:ea typeface="Arial" pitchFamily="34" charset="-122"/>
                <a:cs typeface="Arial" pitchFamily="34" charset="-120"/>
              </a:rPr>
              <a:t>a completed task.</a:t>
            </a:r>
            <a:endParaRPr lang="en-US" sz="2600" dirty="0"/>
          </a:p>
        </p:txBody>
      </p:sp>
      <p:sp>
        <p:nvSpPr>
          <p:cNvPr id="13" name="text_260"/>
          <p:cNvSpPr txBox="1"/>
          <p:nvPr/>
        </p:nvSpPr>
        <p:spPr>
          <a:xfrm>
            <a:off x="969264" y="5385816"/>
            <a:ext cx="2752344" cy="246888"/>
          </a:xfrm>
          <a:prstGeom prst="rect">
            <a:avLst/>
          </a:prstGeom>
          <a:noFill/>
          <a:ln/>
        </p:spPr>
        <p:txBody>
          <a:bodyPr wrap="square" lIns="0" tIns="0" rIns="0" bIns="0" rtlCol="0" anchor="ctr"/>
          <a:lstStyle/>
          <a:p>
            <a:pPr marL="0" indent="0" algn="l">
              <a:buNone/>
            </a:pPr>
            <a:r>
              <a:rPr lang="en-US" sz="1330" dirty="0">
                <a:solidFill>
                  <a:srgbClr val="ADC4C5"/>
                </a:solidFill>
                <a:latin typeface="Arial" pitchFamily="34" charset="0"/>
                <a:ea typeface="Arial" pitchFamily="34" charset="-122"/>
                <a:cs typeface="Arial" pitchFamily="34" charset="-120"/>
              </a:rPr>
              <a:t>Check what actually changed.</a:t>
            </a:r>
            <a:endParaRPr lang="en-US" sz="1330" dirty="0"/>
          </a:p>
        </p:txBody>
      </p:sp>
      <p:sp>
        <p:nvSpPr>
          <p:cNvPr id="14" name="text_261"/>
          <p:cNvSpPr txBox="1"/>
          <p:nvPr/>
        </p:nvSpPr>
        <p:spPr>
          <a:xfrm>
            <a:off x="4416552" y="2313432"/>
            <a:ext cx="420624" cy="246888"/>
          </a:xfrm>
          <a:prstGeom prst="rect">
            <a:avLst/>
          </a:prstGeom>
          <a:noFill/>
          <a:ln/>
        </p:spPr>
        <p:txBody>
          <a:bodyPr wrap="square" lIns="0" tIns="0" rIns="0" bIns="0" rtlCol="0" anchor="ctr"/>
          <a:lstStyle/>
          <a:p>
            <a:pPr marL="0" indent="0" algn="l">
              <a:buNone/>
            </a:pPr>
            <a:r>
              <a:rPr lang="en-US" sz="1150" b="1" dirty="0">
                <a:solidFill>
                  <a:srgbClr val="007E80"/>
                </a:solidFill>
                <a:latin typeface="Arial" pitchFamily="34" charset="0"/>
                <a:ea typeface="Arial" pitchFamily="34" charset="-122"/>
                <a:cs typeface="Arial" pitchFamily="34" charset="-120"/>
              </a:rPr>
              <a:t>01</a:t>
            </a:r>
            <a:endParaRPr lang="en-US" sz="1150" dirty="0"/>
          </a:p>
        </p:txBody>
      </p:sp>
      <p:sp>
        <p:nvSpPr>
          <p:cNvPr id="15" name="text_262"/>
          <p:cNvSpPr txBox="1"/>
          <p:nvPr/>
        </p:nvSpPr>
        <p:spPr>
          <a:xfrm>
            <a:off x="5029200" y="2249424"/>
            <a:ext cx="6492240" cy="338328"/>
          </a:xfrm>
          <a:prstGeom prst="rect">
            <a:avLst/>
          </a:prstGeom>
          <a:noFill/>
          <a:ln/>
        </p:spPr>
        <p:txBody>
          <a:bodyPr wrap="square" lIns="0" tIns="0" rIns="0" bIns="0" rtlCol="0" anchor="ctr"/>
          <a:lstStyle/>
          <a:p>
            <a:pPr marL="0" indent="0" algn="l">
              <a:buNone/>
            </a:pPr>
            <a:r>
              <a:rPr lang="en-US" sz="2000" b="1" dirty="0">
                <a:solidFill>
                  <a:srgbClr val="152F37"/>
                </a:solidFill>
                <a:latin typeface="Arial" pitchFamily="34" charset="0"/>
                <a:ea typeface="Arial" pitchFamily="34" charset="-122"/>
                <a:cs typeface="Arial" pitchFamily="34" charset="-120"/>
              </a:rPr>
              <a:t>Limit access</a:t>
            </a:r>
            <a:endParaRPr lang="en-US" sz="2000" dirty="0"/>
          </a:p>
        </p:txBody>
      </p:sp>
      <p:sp>
        <p:nvSpPr>
          <p:cNvPr id="16" name="text_263"/>
          <p:cNvSpPr txBox="1"/>
          <p:nvPr/>
        </p:nvSpPr>
        <p:spPr>
          <a:xfrm>
            <a:off x="5029200" y="2697480"/>
            <a:ext cx="6492240" cy="356616"/>
          </a:xfrm>
          <a:prstGeom prst="rect">
            <a:avLst/>
          </a:prstGeom>
          <a:noFill/>
          <a:ln/>
        </p:spPr>
        <p:txBody>
          <a:bodyPr wrap="square" lIns="0" tIns="0" rIns="0" bIns="0" rtlCol="0" anchor="ctr"/>
          <a:lstStyle/>
          <a:p>
            <a:pPr marL="0" indent="0" algn="l">
              <a:buNone/>
            </a:pPr>
            <a:r>
              <a:rPr lang="en-US" sz="1460" dirty="0">
                <a:solidFill>
                  <a:srgbClr val="55707A"/>
                </a:solidFill>
                <a:latin typeface="Arial" pitchFamily="34" charset="0"/>
                <a:ea typeface="Arial" pitchFamily="34" charset="-122"/>
                <a:cs typeface="Arial" pitchFamily="34" charset="-120"/>
              </a:rPr>
              <a:t>Grant only the files, tools and actions needed.</a:t>
            </a:r>
            <a:endParaRPr lang="en-US" sz="1460" dirty="0"/>
          </a:p>
        </p:txBody>
      </p:sp>
      <p:sp>
        <p:nvSpPr>
          <p:cNvPr id="17" name="line_264"/>
          <p:cNvSpPr/>
          <p:nvPr/>
        </p:nvSpPr>
        <p:spPr>
          <a:xfrm>
            <a:off x="4425696" y="3081528"/>
            <a:ext cx="7123176" cy="0"/>
          </a:xfrm>
          <a:prstGeom prst="line">
            <a:avLst/>
          </a:prstGeom>
          <a:noFill/>
          <a:ln w="8890">
            <a:solidFill>
              <a:srgbClr val="D6E2DF"/>
            </a:solidFill>
            <a:prstDash val="solid"/>
            <a:headEnd type="none"/>
            <a:tailEnd type="none"/>
          </a:ln>
        </p:spPr>
        <p:txBody>
          <a:bodyPr/>
          <a:lstStyle/>
          <a:p>
            <a:endParaRPr lang="en-IN"/>
          </a:p>
        </p:txBody>
      </p:sp>
      <p:sp>
        <p:nvSpPr>
          <p:cNvPr id="18" name="text_265"/>
          <p:cNvSpPr txBox="1"/>
          <p:nvPr/>
        </p:nvSpPr>
        <p:spPr>
          <a:xfrm>
            <a:off x="4416552" y="3255264"/>
            <a:ext cx="420624" cy="246888"/>
          </a:xfrm>
          <a:prstGeom prst="rect">
            <a:avLst/>
          </a:prstGeom>
          <a:noFill/>
          <a:ln/>
        </p:spPr>
        <p:txBody>
          <a:bodyPr wrap="square" lIns="0" tIns="0" rIns="0" bIns="0" rtlCol="0" anchor="ctr"/>
          <a:lstStyle/>
          <a:p>
            <a:pPr marL="0" indent="0" algn="l">
              <a:buNone/>
            </a:pPr>
            <a:r>
              <a:rPr lang="en-US" sz="1150" b="1" dirty="0">
                <a:solidFill>
                  <a:srgbClr val="007E80"/>
                </a:solidFill>
                <a:latin typeface="Arial" pitchFamily="34" charset="0"/>
                <a:ea typeface="Arial" pitchFamily="34" charset="-122"/>
                <a:cs typeface="Arial" pitchFamily="34" charset="-120"/>
              </a:rPr>
              <a:t>02</a:t>
            </a:r>
            <a:endParaRPr lang="en-US" sz="1150" dirty="0"/>
          </a:p>
        </p:txBody>
      </p:sp>
      <p:sp>
        <p:nvSpPr>
          <p:cNvPr id="19" name="text_266"/>
          <p:cNvSpPr txBox="1"/>
          <p:nvPr/>
        </p:nvSpPr>
        <p:spPr>
          <a:xfrm>
            <a:off x="5029200" y="3191256"/>
            <a:ext cx="6492240" cy="338328"/>
          </a:xfrm>
          <a:prstGeom prst="rect">
            <a:avLst/>
          </a:prstGeom>
          <a:noFill/>
          <a:ln/>
        </p:spPr>
        <p:txBody>
          <a:bodyPr wrap="square" lIns="0" tIns="0" rIns="0" bIns="0" rtlCol="0" anchor="ctr"/>
          <a:lstStyle/>
          <a:p>
            <a:pPr marL="0" indent="0" algn="l">
              <a:buNone/>
            </a:pPr>
            <a:r>
              <a:rPr lang="en-US" sz="2000" b="1" dirty="0">
                <a:solidFill>
                  <a:srgbClr val="152F37"/>
                </a:solidFill>
                <a:latin typeface="Arial" pitchFamily="34" charset="0"/>
                <a:ea typeface="Arial" pitchFamily="34" charset="-122"/>
                <a:cs typeface="Arial" pitchFamily="34" charset="-120"/>
              </a:rPr>
              <a:t>Separate instructions from data</a:t>
            </a:r>
            <a:endParaRPr lang="en-US" sz="2000" dirty="0"/>
          </a:p>
        </p:txBody>
      </p:sp>
      <p:sp>
        <p:nvSpPr>
          <p:cNvPr id="20" name="text_267"/>
          <p:cNvSpPr txBox="1"/>
          <p:nvPr/>
        </p:nvSpPr>
        <p:spPr>
          <a:xfrm>
            <a:off x="5029200" y="3639312"/>
            <a:ext cx="6492240" cy="356616"/>
          </a:xfrm>
          <a:prstGeom prst="rect">
            <a:avLst/>
          </a:prstGeom>
          <a:noFill/>
          <a:ln/>
        </p:spPr>
        <p:txBody>
          <a:bodyPr wrap="square" lIns="0" tIns="0" rIns="0" bIns="0" rtlCol="0" anchor="ctr"/>
          <a:lstStyle/>
          <a:p>
            <a:pPr marL="0" indent="0" algn="l">
              <a:buNone/>
            </a:pPr>
            <a:r>
              <a:rPr lang="en-US" sz="1460" dirty="0">
                <a:solidFill>
                  <a:srgbClr val="55707A"/>
                </a:solidFill>
                <a:latin typeface="Arial" pitchFamily="34" charset="0"/>
                <a:ea typeface="Arial" pitchFamily="34" charset="-122"/>
                <a:cs typeface="Arial" pitchFamily="34" charset="-120"/>
              </a:rPr>
              <a:t>Treat external documents and webpages as untrusted.</a:t>
            </a:r>
            <a:endParaRPr lang="en-US" sz="1460" dirty="0"/>
          </a:p>
        </p:txBody>
      </p:sp>
      <p:sp>
        <p:nvSpPr>
          <p:cNvPr id="21" name="line_268"/>
          <p:cNvSpPr/>
          <p:nvPr/>
        </p:nvSpPr>
        <p:spPr>
          <a:xfrm>
            <a:off x="4425696" y="4023360"/>
            <a:ext cx="7123176" cy="0"/>
          </a:xfrm>
          <a:prstGeom prst="line">
            <a:avLst/>
          </a:prstGeom>
          <a:noFill/>
          <a:ln w="8890">
            <a:solidFill>
              <a:srgbClr val="D6E2DF"/>
            </a:solidFill>
            <a:prstDash val="solid"/>
            <a:headEnd type="none"/>
            <a:tailEnd type="none"/>
          </a:ln>
        </p:spPr>
        <p:txBody>
          <a:bodyPr/>
          <a:lstStyle/>
          <a:p>
            <a:endParaRPr lang="en-IN"/>
          </a:p>
        </p:txBody>
      </p:sp>
      <p:sp>
        <p:nvSpPr>
          <p:cNvPr id="22" name="text_269"/>
          <p:cNvSpPr txBox="1"/>
          <p:nvPr/>
        </p:nvSpPr>
        <p:spPr>
          <a:xfrm>
            <a:off x="4416552" y="4197096"/>
            <a:ext cx="420624" cy="246888"/>
          </a:xfrm>
          <a:prstGeom prst="rect">
            <a:avLst/>
          </a:prstGeom>
          <a:noFill/>
          <a:ln/>
        </p:spPr>
        <p:txBody>
          <a:bodyPr wrap="square" lIns="0" tIns="0" rIns="0" bIns="0" rtlCol="0" anchor="ctr"/>
          <a:lstStyle/>
          <a:p>
            <a:pPr marL="0" indent="0" algn="l">
              <a:buNone/>
            </a:pPr>
            <a:r>
              <a:rPr lang="en-US" sz="1150" b="1" dirty="0">
                <a:solidFill>
                  <a:srgbClr val="007E80"/>
                </a:solidFill>
                <a:latin typeface="Arial" pitchFamily="34" charset="0"/>
                <a:ea typeface="Arial" pitchFamily="34" charset="-122"/>
                <a:cs typeface="Arial" pitchFamily="34" charset="-120"/>
              </a:rPr>
              <a:t>03</a:t>
            </a:r>
            <a:endParaRPr lang="en-US" sz="1150" dirty="0"/>
          </a:p>
        </p:txBody>
      </p:sp>
      <p:sp>
        <p:nvSpPr>
          <p:cNvPr id="23" name="text_270"/>
          <p:cNvSpPr txBox="1"/>
          <p:nvPr/>
        </p:nvSpPr>
        <p:spPr>
          <a:xfrm>
            <a:off x="5029200" y="4133088"/>
            <a:ext cx="6492240" cy="338328"/>
          </a:xfrm>
          <a:prstGeom prst="rect">
            <a:avLst/>
          </a:prstGeom>
          <a:noFill/>
          <a:ln/>
        </p:spPr>
        <p:txBody>
          <a:bodyPr wrap="square" lIns="0" tIns="0" rIns="0" bIns="0" rtlCol="0" anchor="ctr"/>
          <a:lstStyle/>
          <a:p>
            <a:pPr marL="0" indent="0" algn="l">
              <a:buNone/>
            </a:pPr>
            <a:r>
              <a:rPr lang="en-US" sz="2000" b="1" dirty="0">
                <a:solidFill>
                  <a:srgbClr val="152F37"/>
                </a:solidFill>
                <a:latin typeface="Arial" pitchFamily="34" charset="0"/>
                <a:ea typeface="Arial" pitchFamily="34" charset="-122"/>
                <a:cs typeface="Arial" pitchFamily="34" charset="-120"/>
              </a:rPr>
              <a:t>Approve consequential actions</a:t>
            </a:r>
            <a:endParaRPr lang="en-US" sz="2000" dirty="0"/>
          </a:p>
        </p:txBody>
      </p:sp>
      <p:sp>
        <p:nvSpPr>
          <p:cNvPr id="24" name="text_271"/>
          <p:cNvSpPr txBox="1"/>
          <p:nvPr/>
        </p:nvSpPr>
        <p:spPr>
          <a:xfrm>
            <a:off x="5029200" y="4581144"/>
            <a:ext cx="6492240" cy="356616"/>
          </a:xfrm>
          <a:prstGeom prst="rect">
            <a:avLst/>
          </a:prstGeom>
          <a:noFill/>
          <a:ln/>
        </p:spPr>
        <p:txBody>
          <a:bodyPr wrap="square" lIns="0" tIns="0" rIns="0" bIns="0" rtlCol="0" anchor="ctr"/>
          <a:lstStyle/>
          <a:p>
            <a:pPr marL="0" indent="0" algn="l">
              <a:buNone/>
            </a:pPr>
            <a:r>
              <a:rPr lang="en-US" sz="1460" dirty="0">
                <a:solidFill>
                  <a:srgbClr val="55707A"/>
                </a:solidFill>
                <a:latin typeface="Arial" pitchFamily="34" charset="0"/>
                <a:ea typeface="Arial" pitchFamily="34" charset="-122"/>
                <a:cs typeface="Arial" pitchFamily="34" charset="-120"/>
              </a:rPr>
              <a:t>Preview writes; prevent duplicate or repeated operations.</a:t>
            </a:r>
            <a:endParaRPr lang="en-US" sz="1460" dirty="0"/>
          </a:p>
        </p:txBody>
      </p:sp>
      <p:sp>
        <p:nvSpPr>
          <p:cNvPr id="25" name="line_272"/>
          <p:cNvSpPr/>
          <p:nvPr/>
        </p:nvSpPr>
        <p:spPr>
          <a:xfrm>
            <a:off x="4425696" y="4965192"/>
            <a:ext cx="7123176" cy="0"/>
          </a:xfrm>
          <a:prstGeom prst="line">
            <a:avLst/>
          </a:prstGeom>
          <a:noFill/>
          <a:ln w="8890">
            <a:solidFill>
              <a:srgbClr val="D6E2DF"/>
            </a:solidFill>
            <a:prstDash val="solid"/>
            <a:headEnd type="none"/>
            <a:tailEnd type="none"/>
          </a:ln>
        </p:spPr>
        <p:txBody>
          <a:bodyPr/>
          <a:lstStyle/>
          <a:p>
            <a:endParaRPr lang="en-IN"/>
          </a:p>
        </p:txBody>
      </p:sp>
      <p:sp>
        <p:nvSpPr>
          <p:cNvPr id="26" name="text_273"/>
          <p:cNvSpPr txBox="1"/>
          <p:nvPr/>
        </p:nvSpPr>
        <p:spPr>
          <a:xfrm>
            <a:off x="4416552" y="5138928"/>
            <a:ext cx="420624" cy="246888"/>
          </a:xfrm>
          <a:prstGeom prst="rect">
            <a:avLst/>
          </a:prstGeom>
          <a:noFill/>
          <a:ln/>
        </p:spPr>
        <p:txBody>
          <a:bodyPr wrap="square" lIns="0" tIns="0" rIns="0" bIns="0" rtlCol="0" anchor="ctr"/>
          <a:lstStyle/>
          <a:p>
            <a:pPr marL="0" indent="0" algn="l">
              <a:buNone/>
            </a:pPr>
            <a:r>
              <a:rPr lang="en-US" sz="1150" b="1" dirty="0">
                <a:solidFill>
                  <a:srgbClr val="007E80"/>
                </a:solidFill>
                <a:latin typeface="Arial" pitchFamily="34" charset="0"/>
                <a:ea typeface="Arial" pitchFamily="34" charset="-122"/>
                <a:cs typeface="Arial" pitchFamily="34" charset="-120"/>
              </a:rPr>
              <a:t>04</a:t>
            </a:r>
            <a:endParaRPr lang="en-US" sz="1150" dirty="0"/>
          </a:p>
        </p:txBody>
      </p:sp>
      <p:sp>
        <p:nvSpPr>
          <p:cNvPr id="27" name="text_274"/>
          <p:cNvSpPr txBox="1"/>
          <p:nvPr/>
        </p:nvSpPr>
        <p:spPr>
          <a:xfrm>
            <a:off x="5029200" y="5074920"/>
            <a:ext cx="6492240" cy="338328"/>
          </a:xfrm>
          <a:prstGeom prst="rect">
            <a:avLst/>
          </a:prstGeom>
          <a:noFill/>
          <a:ln/>
        </p:spPr>
        <p:txBody>
          <a:bodyPr wrap="square" lIns="0" tIns="0" rIns="0" bIns="0" rtlCol="0" anchor="ctr"/>
          <a:lstStyle/>
          <a:p>
            <a:pPr marL="0" indent="0" algn="l">
              <a:buNone/>
            </a:pPr>
            <a:r>
              <a:rPr lang="en-US" sz="2000" b="1" dirty="0">
                <a:solidFill>
                  <a:srgbClr val="152F37"/>
                </a:solidFill>
                <a:latin typeface="Arial" pitchFamily="34" charset="0"/>
                <a:ea typeface="Arial" pitchFamily="34" charset="-122"/>
                <a:cs typeface="Arial" pitchFamily="34" charset="-120"/>
              </a:rPr>
              <a:t>Keep evidence and a stop path</a:t>
            </a:r>
            <a:endParaRPr lang="en-US" sz="2000" dirty="0"/>
          </a:p>
        </p:txBody>
      </p:sp>
      <p:sp>
        <p:nvSpPr>
          <p:cNvPr id="28" name="text_275"/>
          <p:cNvSpPr txBox="1"/>
          <p:nvPr/>
        </p:nvSpPr>
        <p:spPr>
          <a:xfrm>
            <a:off x="5029200" y="5522976"/>
            <a:ext cx="6492240" cy="356616"/>
          </a:xfrm>
          <a:prstGeom prst="rect">
            <a:avLst/>
          </a:prstGeom>
          <a:noFill/>
          <a:ln/>
        </p:spPr>
        <p:txBody>
          <a:bodyPr wrap="square" lIns="0" tIns="0" rIns="0" bIns="0" rtlCol="0" anchor="ctr"/>
          <a:lstStyle/>
          <a:p>
            <a:pPr marL="0" indent="0" algn="l">
              <a:buNone/>
            </a:pPr>
            <a:r>
              <a:rPr lang="en-US" sz="1460" dirty="0">
                <a:solidFill>
                  <a:srgbClr val="55707A"/>
                </a:solidFill>
                <a:latin typeface="Arial" pitchFamily="34" charset="0"/>
                <a:ea typeface="Arial" pitchFamily="34" charset="-122"/>
                <a:cs typeface="Arial" pitchFamily="34" charset="-120"/>
              </a:rPr>
              <a:t>Log actions, verify outputs and escalate uncertainty.</a:t>
            </a:r>
            <a:endParaRPr lang="en-US" sz="1460" dirty="0"/>
          </a:p>
        </p:txBody>
      </p:sp>
      <p:sp>
        <p:nvSpPr>
          <p:cNvPr id="29" name="line_276"/>
          <p:cNvSpPr/>
          <p:nvPr/>
        </p:nvSpPr>
        <p:spPr>
          <a:xfrm>
            <a:off x="603504" y="6364224"/>
            <a:ext cx="10972800" cy="0"/>
          </a:xfrm>
          <a:prstGeom prst="line">
            <a:avLst/>
          </a:prstGeom>
          <a:noFill/>
          <a:ln w="8890">
            <a:solidFill>
              <a:srgbClr val="D6E2DF"/>
            </a:solidFill>
            <a:prstDash val="solid"/>
            <a:headEnd type="none"/>
            <a:tailEnd type="none"/>
          </a:ln>
        </p:spPr>
        <p:txBody>
          <a:bodyPr/>
          <a:lstStyle/>
          <a:p>
            <a:endParaRPr lang="en-IN"/>
          </a:p>
        </p:txBody>
      </p:sp>
      <p:sp>
        <p:nvSpPr>
          <p:cNvPr id="30" name="text_277"/>
          <p:cNvSpPr txBox="1"/>
          <p:nvPr/>
        </p:nvSpPr>
        <p:spPr>
          <a:xfrm>
            <a:off x="621792" y="6473952"/>
            <a:ext cx="6309360" cy="146304"/>
          </a:xfrm>
          <a:prstGeom prst="rect">
            <a:avLst/>
          </a:prstGeom>
          <a:noFill/>
          <a:ln/>
        </p:spPr>
        <p:txBody>
          <a:bodyPr wrap="square" lIns="0" tIns="0" rIns="0" bIns="0" rtlCol="0" anchor="ctr"/>
          <a:lstStyle/>
          <a:p>
            <a:pPr marL="0" indent="0" algn="l">
              <a:buNone/>
            </a:pPr>
            <a:r>
              <a:rPr lang="en-US" sz="830" kern="0" spc="105" dirty="0">
                <a:solidFill>
                  <a:srgbClr val="55707A"/>
                </a:solidFill>
                <a:latin typeface="Arial" pitchFamily="34" charset="0"/>
                <a:ea typeface="Arial" pitchFamily="34" charset="-122"/>
                <a:cs typeface="Arial" pitchFamily="34" charset="-120"/>
              </a:rPr>
              <a:t>AGENTIC AI  /  A PRACTICAL BUSINESS BRIEFING</a:t>
            </a:r>
            <a:endParaRPr lang="en-US" sz="830" dirty="0"/>
          </a:p>
        </p:txBody>
      </p:sp>
      <p:sp>
        <p:nvSpPr>
          <p:cNvPr id="31" name="text_278"/>
          <p:cNvSpPr txBox="1"/>
          <p:nvPr/>
        </p:nvSpPr>
        <p:spPr>
          <a:xfrm>
            <a:off x="6492240" y="6460236"/>
            <a:ext cx="4434840" cy="182880"/>
          </a:xfrm>
          <a:prstGeom prst="rect">
            <a:avLst/>
          </a:prstGeom>
          <a:noFill/>
          <a:ln/>
        </p:spPr>
        <p:txBody>
          <a:bodyPr wrap="square" lIns="0" tIns="0" rIns="0" bIns="0" rtlCol="0" anchor="ctr"/>
          <a:lstStyle/>
          <a:p>
            <a:pPr marL="0" indent="0" algn="r">
              <a:buNone/>
            </a:pPr>
            <a:r>
              <a:rPr lang="en-US" sz="810" dirty="0">
                <a:solidFill>
                  <a:srgbClr val="55707A"/>
                </a:solidFill>
                <a:latin typeface="Arial" pitchFamily="34" charset="0"/>
                <a:ea typeface="Arial" pitchFamily="34" charset="-122"/>
                <a:cs typeface="Arial" pitchFamily="34" charset="-120"/>
              </a:rPr>
              <a:t>Sources: [2], [3]  •  Controls reduce risk; they do not eliminate it</a:t>
            </a:r>
            <a:endParaRPr lang="en-US" sz="810" dirty="0"/>
          </a:p>
        </p:txBody>
      </p:sp>
      <p:sp>
        <p:nvSpPr>
          <p:cNvPr id="32" name="text_279"/>
          <p:cNvSpPr txBox="1"/>
          <p:nvPr/>
        </p:nvSpPr>
        <p:spPr>
          <a:xfrm>
            <a:off x="11091672" y="6441948"/>
            <a:ext cx="466344" cy="201168"/>
          </a:xfrm>
          <a:prstGeom prst="rect">
            <a:avLst/>
          </a:prstGeom>
          <a:noFill/>
          <a:ln/>
        </p:spPr>
        <p:txBody>
          <a:bodyPr wrap="square" lIns="0" tIns="0" rIns="0" bIns="0" rtlCol="0" anchor="ctr"/>
          <a:lstStyle/>
          <a:p>
            <a:pPr marL="0" indent="0" algn="r">
              <a:buNone/>
            </a:pPr>
            <a:r>
              <a:rPr lang="en-US" sz="1000" b="1" dirty="0">
                <a:solidFill>
                  <a:srgbClr val="007E80"/>
                </a:solidFill>
                <a:latin typeface="Arial" pitchFamily="34" charset="0"/>
                <a:ea typeface="Arial" pitchFamily="34" charset="-122"/>
                <a:cs typeface="Arial"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329"/>
        </a:solidFill>
        <a:effectLst/>
      </p:bgPr>
    </p:bg>
    <p:spTree>
      <p:nvGrpSpPr>
        <p:cNvPr id="1" name=""/>
        <p:cNvGrpSpPr/>
        <p:nvPr/>
      </p:nvGrpSpPr>
      <p:grpSpPr>
        <a:xfrm>
          <a:off x="0" y="0"/>
          <a:ext cx="0" cy="0"/>
          <a:chOff x="0" y="0"/>
          <a:chExt cx="0" cy="0"/>
        </a:xfrm>
      </p:grpSpPr>
      <p:sp>
        <p:nvSpPr>
          <p:cNvPr id="2" name="text_280"/>
          <p:cNvSpPr txBox="1"/>
          <p:nvPr/>
        </p:nvSpPr>
        <p:spPr>
          <a:xfrm>
            <a:off x="621792" y="448056"/>
            <a:ext cx="10058400" cy="219456"/>
          </a:xfrm>
          <a:prstGeom prst="rect">
            <a:avLst/>
          </a:prstGeom>
          <a:noFill/>
          <a:ln/>
        </p:spPr>
        <p:txBody>
          <a:bodyPr wrap="square" lIns="0" tIns="0" rIns="0" bIns="0" rtlCol="0" anchor="ctr"/>
          <a:lstStyle/>
          <a:p>
            <a:pPr marL="0" indent="0" algn="l">
              <a:buNone/>
            </a:pPr>
            <a:r>
              <a:rPr lang="en-US" sz="1050" b="1" kern="0" spc="200" dirty="0">
                <a:solidFill>
                  <a:srgbClr val="69DFC8"/>
                </a:solidFill>
                <a:latin typeface="Arial" pitchFamily="34" charset="0"/>
                <a:ea typeface="Arial" pitchFamily="34" charset="-122"/>
                <a:cs typeface="Arial" pitchFamily="34" charset="-120"/>
              </a:rPr>
              <a:t>06 / A PRACTICAL STARTING POINT</a:t>
            </a:r>
            <a:endParaRPr lang="en-US" sz="1050" dirty="0"/>
          </a:p>
        </p:txBody>
      </p:sp>
      <p:sp>
        <p:nvSpPr>
          <p:cNvPr id="3" name="text_281"/>
          <p:cNvSpPr txBox="1"/>
          <p:nvPr/>
        </p:nvSpPr>
        <p:spPr>
          <a:xfrm>
            <a:off x="621792" y="905256"/>
            <a:ext cx="10972800" cy="630936"/>
          </a:xfrm>
          <a:prstGeom prst="rect">
            <a:avLst/>
          </a:prstGeom>
          <a:noFill/>
          <a:ln/>
        </p:spPr>
        <p:txBody>
          <a:bodyPr wrap="square" lIns="0" tIns="0" rIns="0" bIns="0" rtlCol="0" anchor="ctr"/>
          <a:lstStyle/>
          <a:p>
            <a:pPr marL="0" indent="0" algn="l">
              <a:buNone/>
            </a:pPr>
            <a:r>
              <a:rPr lang="en-US" sz="3100" b="1" kern="0" spc="-60" dirty="0">
                <a:solidFill>
                  <a:srgbClr val="FFFFFF"/>
                </a:solidFill>
                <a:latin typeface="Arial" pitchFamily="34" charset="0"/>
                <a:ea typeface="Arial" pitchFamily="34" charset="-122"/>
                <a:cs typeface="Arial" pitchFamily="34" charset="-120"/>
              </a:rPr>
              <a:t>Start small. Scale what you can prove.</a:t>
            </a:r>
            <a:endParaRPr lang="en-US" sz="3100" dirty="0"/>
          </a:p>
        </p:txBody>
      </p:sp>
      <p:sp>
        <p:nvSpPr>
          <p:cNvPr id="4" name="text_282"/>
          <p:cNvSpPr txBox="1"/>
          <p:nvPr/>
        </p:nvSpPr>
        <p:spPr>
          <a:xfrm>
            <a:off x="640080" y="1609344"/>
            <a:ext cx="10835640" cy="347472"/>
          </a:xfrm>
          <a:prstGeom prst="rect">
            <a:avLst/>
          </a:prstGeom>
          <a:noFill/>
          <a:ln/>
        </p:spPr>
        <p:txBody>
          <a:bodyPr wrap="square" lIns="0" tIns="0" rIns="0" bIns="0" rtlCol="0" anchor="ctr"/>
          <a:lstStyle/>
          <a:p>
            <a:pPr marL="0" indent="0" algn="l">
              <a:buNone/>
            </a:pPr>
            <a:r>
              <a:rPr lang="en-US" sz="1650" dirty="0">
                <a:solidFill>
                  <a:srgbClr val="ADC4C5"/>
                </a:solidFill>
                <a:latin typeface="Arial" pitchFamily="34" charset="0"/>
                <a:ea typeface="Arial" pitchFamily="34" charset="-122"/>
                <a:cs typeface="Arial" pitchFamily="34" charset="-120"/>
              </a:rPr>
              <a:t>One bounded task, a clear owner and evidence of improvement.</a:t>
            </a:r>
            <a:endParaRPr lang="en-US" sz="1650" dirty="0"/>
          </a:p>
        </p:txBody>
      </p:sp>
      <p:sp>
        <p:nvSpPr>
          <p:cNvPr id="5" name="circle_283"/>
          <p:cNvSpPr/>
          <p:nvPr/>
        </p:nvSpPr>
        <p:spPr>
          <a:xfrm>
            <a:off x="704088" y="2286000"/>
            <a:ext cx="402336" cy="402336"/>
          </a:xfrm>
          <a:prstGeom prst="ellipse">
            <a:avLst/>
          </a:prstGeom>
          <a:solidFill>
            <a:srgbClr val="69DFC8"/>
          </a:solidFill>
          <a:ln w="12700">
            <a:solidFill>
              <a:srgbClr val="69DFC8"/>
            </a:solidFill>
            <a:prstDash val="solid"/>
          </a:ln>
        </p:spPr>
        <p:txBody>
          <a:bodyPr/>
          <a:lstStyle/>
          <a:p>
            <a:endParaRPr lang="en-IN"/>
          </a:p>
        </p:txBody>
      </p:sp>
      <p:sp>
        <p:nvSpPr>
          <p:cNvPr id="6" name="text_284"/>
          <p:cNvSpPr txBox="1"/>
          <p:nvPr/>
        </p:nvSpPr>
        <p:spPr>
          <a:xfrm>
            <a:off x="704088" y="2286000"/>
            <a:ext cx="402336" cy="402336"/>
          </a:xfrm>
          <a:prstGeom prst="rect">
            <a:avLst/>
          </a:prstGeom>
          <a:noFill/>
          <a:ln/>
        </p:spPr>
        <p:txBody>
          <a:bodyPr wrap="square" lIns="0" tIns="0" rIns="0" bIns="0" rtlCol="0" anchor="ctr"/>
          <a:lstStyle/>
          <a:p>
            <a:pPr marL="0" indent="0" algn="ctr">
              <a:buNone/>
            </a:pPr>
            <a:r>
              <a:rPr lang="en-US" sz="1100" b="1" dirty="0">
                <a:solidFill>
                  <a:srgbClr val="142329"/>
                </a:solidFill>
                <a:latin typeface="Arial" pitchFamily="34" charset="0"/>
                <a:ea typeface="Arial" pitchFamily="34" charset="-122"/>
                <a:cs typeface="Arial" pitchFamily="34" charset="-120"/>
              </a:rPr>
              <a:t>01</a:t>
            </a:r>
            <a:endParaRPr lang="en-US" sz="1100" dirty="0"/>
          </a:p>
        </p:txBody>
      </p:sp>
      <p:sp>
        <p:nvSpPr>
          <p:cNvPr id="7" name="line_285"/>
          <p:cNvSpPr/>
          <p:nvPr/>
        </p:nvSpPr>
        <p:spPr>
          <a:xfrm>
            <a:off x="1188720" y="2487168"/>
            <a:ext cx="2167128" cy="0"/>
          </a:xfrm>
          <a:prstGeom prst="line">
            <a:avLst/>
          </a:prstGeom>
          <a:noFill/>
          <a:ln w="13970">
            <a:solidFill>
              <a:srgbClr val="355158"/>
            </a:solidFill>
            <a:prstDash val="solid"/>
            <a:headEnd type="none"/>
            <a:tailEnd type="triangle"/>
          </a:ln>
        </p:spPr>
        <p:txBody>
          <a:bodyPr/>
          <a:lstStyle/>
          <a:p>
            <a:endParaRPr lang="en-IN"/>
          </a:p>
        </p:txBody>
      </p:sp>
      <p:sp>
        <p:nvSpPr>
          <p:cNvPr id="8" name="text_286"/>
          <p:cNvSpPr txBox="1"/>
          <p:nvPr/>
        </p:nvSpPr>
        <p:spPr>
          <a:xfrm>
            <a:off x="704088" y="2953512"/>
            <a:ext cx="2468880" cy="365760"/>
          </a:xfrm>
          <a:prstGeom prst="rect">
            <a:avLst/>
          </a:prstGeom>
          <a:noFill/>
          <a:ln/>
        </p:spPr>
        <p:txBody>
          <a:bodyPr wrap="square" lIns="0" tIns="0" rIns="0" bIns="0" rtlCol="0" anchor="ctr"/>
          <a:lstStyle/>
          <a:p>
            <a:pPr marL="0" indent="0" algn="l">
              <a:buNone/>
            </a:pPr>
            <a:r>
              <a:rPr lang="en-US" sz="2300" b="1" dirty="0">
                <a:solidFill>
                  <a:srgbClr val="FFFFFF"/>
                </a:solidFill>
                <a:latin typeface="Arial" pitchFamily="34" charset="0"/>
                <a:ea typeface="Arial" pitchFamily="34" charset="-122"/>
                <a:cs typeface="Arial" pitchFamily="34" charset="-120"/>
              </a:rPr>
              <a:t>Choose</a:t>
            </a:r>
            <a:endParaRPr lang="en-US" sz="2300" dirty="0"/>
          </a:p>
        </p:txBody>
      </p:sp>
      <p:sp>
        <p:nvSpPr>
          <p:cNvPr id="9" name="text_287"/>
          <p:cNvSpPr txBox="1"/>
          <p:nvPr/>
        </p:nvSpPr>
        <p:spPr>
          <a:xfrm>
            <a:off x="704088" y="3493008"/>
            <a:ext cx="2423160" cy="603504"/>
          </a:xfrm>
          <a:prstGeom prst="rect">
            <a:avLst/>
          </a:prstGeom>
          <a:noFill/>
          <a:ln/>
        </p:spPr>
        <p:txBody>
          <a:bodyPr wrap="square" lIns="0" tIns="0" rIns="0" bIns="0" rtlCol="0" anchor="ctr"/>
          <a:lstStyle/>
          <a:p>
            <a:pPr marL="0" indent="0" algn="l">
              <a:buNone/>
            </a:pPr>
            <a:r>
              <a:rPr lang="en-US" sz="1550" dirty="0">
                <a:solidFill>
                  <a:srgbClr val="ADC4C5"/>
                </a:solidFill>
                <a:latin typeface="Arial" pitchFamily="34" charset="0"/>
                <a:ea typeface="Arial" pitchFamily="34" charset="-122"/>
                <a:cs typeface="Arial" pitchFamily="34" charset="-120"/>
              </a:rPr>
              <a:t>Define the task</a:t>
            </a:r>
            <a:endParaRPr lang="en-US" sz="1550" dirty="0"/>
          </a:p>
          <a:p>
            <a:pPr marL="0" indent="0" algn="l">
              <a:buNone/>
            </a:pPr>
            <a:r>
              <a:rPr lang="en-US" sz="1550" dirty="0">
                <a:solidFill>
                  <a:srgbClr val="ADC4C5"/>
                </a:solidFill>
                <a:latin typeface="Arial" pitchFamily="34" charset="0"/>
                <a:ea typeface="Arial" pitchFamily="34" charset="-122"/>
                <a:cs typeface="Arial" pitchFamily="34" charset="-120"/>
              </a:rPr>
              <a:t>and success criteria.</a:t>
            </a:r>
            <a:endParaRPr lang="en-US" sz="1550" dirty="0"/>
          </a:p>
        </p:txBody>
      </p:sp>
      <p:sp>
        <p:nvSpPr>
          <p:cNvPr id="10" name="circle_288"/>
          <p:cNvSpPr/>
          <p:nvPr/>
        </p:nvSpPr>
        <p:spPr>
          <a:xfrm>
            <a:off x="3520440" y="2286000"/>
            <a:ext cx="402336" cy="402336"/>
          </a:xfrm>
          <a:prstGeom prst="ellipse">
            <a:avLst/>
          </a:prstGeom>
          <a:solidFill>
            <a:srgbClr val="1D333B"/>
          </a:solidFill>
          <a:ln w="12700">
            <a:solidFill>
              <a:srgbClr val="355158"/>
            </a:solidFill>
            <a:prstDash val="solid"/>
          </a:ln>
        </p:spPr>
        <p:txBody>
          <a:bodyPr/>
          <a:lstStyle/>
          <a:p>
            <a:endParaRPr lang="en-IN"/>
          </a:p>
        </p:txBody>
      </p:sp>
      <p:sp>
        <p:nvSpPr>
          <p:cNvPr id="11" name="text_289"/>
          <p:cNvSpPr txBox="1"/>
          <p:nvPr/>
        </p:nvSpPr>
        <p:spPr>
          <a:xfrm>
            <a:off x="3520440" y="2286000"/>
            <a:ext cx="402336" cy="402336"/>
          </a:xfrm>
          <a:prstGeom prst="rect">
            <a:avLst/>
          </a:prstGeom>
          <a:noFill/>
          <a:ln/>
        </p:spPr>
        <p:txBody>
          <a:bodyPr wrap="square" lIns="0" tIns="0" rIns="0" bIns="0" rtlCol="0" anchor="ctr"/>
          <a:lstStyle/>
          <a:p>
            <a:pPr marL="0" indent="0" algn="ctr">
              <a:buNone/>
            </a:pPr>
            <a:r>
              <a:rPr lang="en-US" sz="1100" b="1" dirty="0">
                <a:solidFill>
                  <a:srgbClr val="69DFC8"/>
                </a:solidFill>
                <a:latin typeface="Arial" pitchFamily="34" charset="0"/>
                <a:ea typeface="Arial" pitchFamily="34" charset="-122"/>
                <a:cs typeface="Arial" pitchFamily="34" charset="-120"/>
              </a:rPr>
              <a:t>02</a:t>
            </a:r>
            <a:endParaRPr lang="en-US" sz="1100" dirty="0"/>
          </a:p>
        </p:txBody>
      </p:sp>
      <p:sp>
        <p:nvSpPr>
          <p:cNvPr id="12" name="line_290"/>
          <p:cNvSpPr/>
          <p:nvPr/>
        </p:nvSpPr>
        <p:spPr>
          <a:xfrm>
            <a:off x="4005072" y="2487168"/>
            <a:ext cx="2167128" cy="0"/>
          </a:xfrm>
          <a:prstGeom prst="line">
            <a:avLst/>
          </a:prstGeom>
          <a:noFill/>
          <a:ln w="13970">
            <a:solidFill>
              <a:srgbClr val="355158"/>
            </a:solidFill>
            <a:prstDash val="solid"/>
            <a:headEnd type="none"/>
            <a:tailEnd type="triangle"/>
          </a:ln>
        </p:spPr>
        <p:txBody>
          <a:bodyPr/>
          <a:lstStyle/>
          <a:p>
            <a:endParaRPr lang="en-IN"/>
          </a:p>
        </p:txBody>
      </p:sp>
      <p:sp>
        <p:nvSpPr>
          <p:cNvPr id="13" name="text_291"/>
          <p:cNvSpPr txBox="1"/>
          <p:nvPr/>
        </p:nvSpPr>
        <p:spPr>
          <a:xfrm>
            <a:off x="3520440" y="2953512"/>
            <a:ext cx="2468880" cy="365760"/>
          </a:xfrm>
          <a:prstGeom prst="rect">
            <a:avLst/>
          </a:prstGeom>
          <a:noFill/>
          <a:ln/>
        </p:spPr>
        <p:txBody>
          <a:bodyPr wrap="square" lIns="0" tIns="0" rIns="0" bIns="0" rtlCol="0" anchor="ctr"/>
          <a:lstStyle/>
          <a:p>
            <a:pPr marL="0" indent="0" algn="l">
              <a:buNone/>
            </a:pPr>
            <a:r>
              <a:rPr lang="en-US" sz="2300" b="1" dirty="0">
                <a:solidFill>
                  <a:srgbClr val="FFFFFF"/>
                </a:solidFill>
                <a:latin typeface="Arial" pitchFamily="34" charset="0"/>
                <a:ea typeface="Arial" pitchFamily="34" charset="-122"/>
                <a:cs typeface="Arial" pitchFamily="34" charset="-120"/>
              </a:rPr>
              <a:t>Pilot</a:t>
            </a:r>
            <a:endParaRPr lang="en-US" sz="2300" dirty="0"/>
          </a:p>
        </p:txBody>
      </p:sp>
      <p:sp>
        <p:nvSpPr>
          <p:cNvPr id="14" name="text_292"/>
          <p:cNvSpPr txBox="1"/>
          <p:nvPr/>
        </p:nvSpPr>
        <p:spPr>
          <a:xfrm>
            <a:off x="3520440" y="3493008"/>
            <a:ext cx="2423160" cy="603504"/>
          </a:xfrm>
          <a:prstGeom prst="rect">
            <a:avLst/>
          </a:prstGeom>
          <a:noFill/>
          <a:ln/>
        </p:spPr>
        <p:txBody>
          <a:bodyPr wrap="square" lIns="0" tIns="0" rIns="0" bIns="0" rtlCol="0" anchor="ctr"/>
          <a:lstStyle/>
          <a:p>
            <a:pPr marL="0" indent="0" algn="l">
              <a:buNone/>
            </a:pPr>
            <a:r>
              <a:rPr lang="en-US" sz="1550" dirty="0">
                <a:solidFill>
                  <a:srgbClr val="ADC4C5"/>
                </a:solidFill>
                <a:latin typeface="Arial" pitchFamily="34" charset="0"/>
                <a:ea typeface="Arial" pitchFamily="34" charset="-122"/>
                <a:cs typeface="Arial" pitchFamily="34" charset="-120"/>
              </a:rPr>
              <a:t>Use safe inputs</a:t>
            </a:r>
            <a:endParaRPr lang="en-US" sz="1550" dirty="0"/>
          </a:p>
          <a:p>
            <a:pPr marL="0" indent="0" algn="l">
              <a:buNone/>
            </a:pPr>
            <a:r>
              <a:rPr lang="en-US" sz="1550" dirty="0">
                <a:solidFill>
                  <a:srgbClr val="ADC4C5"/>
                </a:solidFill>
                <a:latin typeface="Arial" pitchFamily="34" charset="0"/>
                <a:ea typeface="Arial" pitchFamily="34" charset="-122"/>
                <a:cs typeface="Arial" pitchFamily="34" charset="-120"/>
              </a:rPr>
              <a:t>and limited permissions.</a:t>
            </a:r>
            <a:endParaRPr lang="en-US" sz="1550" dirty="0"/>
          </a:p>
        </p:txBody>
      </p:sp>
      <p:sp>
        <p:nvSpPr>
          <p:cNvPr id="15" name="circle_293"/>
          <p:cNvSpPr/>
          <p:nvPr/>
        </p:nvSpPr>
        <p:spPr>
          <a:xfrm>
            <a:off x="6336792" y="2286000"/>
            <a:ext cx="402336" cy="402336"/>
          </a:xfrm>
          <a:prstGeom prst="ellipse">
            <a:avLst/>
          </a:prstGeom>
          <a:solidFill>
            <a:srgbClr val="1D333B"/>
          </a:solidFill>
          <a:ln w="12700">
            <a:solidFill>
              <a:srgbClr val="355158"/>
            </a:solidFill>
            <a:prstDash val="solid"/>
          </a:ln>
        </p:spPr>
        <p:txBody>
          <a:bodyPr/>
          <a:lstStyle/>
          <a:p>
            <a:endParaRPr lang="en-IN"/>
          </a:p>
        </p:txBody>
      </p:sp>
      <p:sp>
        <p:nvSpPr>
          <p:cNvPr id="16" name="text_294"/>
          <p:cNvSpPr txBox="1"/>
          <p:nvPr/>
        </p:nvSpPr>
        <p:spPr>
          <a:xfrm>
            <a:off x="6336792" y="2286000"/>
            <a:ext cx="402336" cy="402336"/>
          </a:xfrm>
          <a:prstGeom prst="rect">
            <a:avLst/>
          </a:prstGeom>
          <a:noFill/>
          <a:ln/>
        </p:spPr>
        <p:txBody>
          <a:bodyPr wrap="square" lIns="0" tIns="0" rIns="0" bIns="0" rtlCol="0" anchor="ctr"/>
          <a:lstStyle/>
          <a:p>
            <a:pPr marL="0" indent="0" algn="ctr">
              <a:buNone/>
            </a:pPr>
            <a:r>
              <a:rPr lang="en-US" sz="1100" b="1" dirty="0">
                <a:solidFill>
                  <a:srgbClr val="69DFC8"/>
                </a:solidFill>
                <a:latin typeface="Arial" pitchFamily="34" charset="0"/>
                <a:ea typeface="Arial" pitchFamily="34" charset="-122"/>
                <a:cs typeface="Arial" pitchFamily="34" charset="-120"/>
              </a:rPr>
              <a:t>03</a:t>
            </a:r>
            <a:endParaRPr lang="en-US" sz="1100" dirty="0"/>
          </a:p>
        </p:txBody>
      </p:sp>
      <p:sp>
        <p:nvSpPr>
          <p:cNvPr id="17" name="line_295"/>
          <p:cNvSpPr/>
          <p:nvPr/>
        </p:nvSpPr>
        <p:spPr>
          <a:xfrm>
            <a:off x="6821424" y="2487168"/>
            <a:ext cx="2167128" cy="0"/>
          </a:xfrm>
          <a:prstGeom prst="line">
            <a:avLst/>
          </a:prstGeom>
          <a:noFill/>
          <a:ln w="13970">
            <a:solidFill>
              <a:srgbClr val="355158"/>
            </a:solidFill>
            <a:prstDash val="solid"/>
            <a:headEnd type="none"/>
            <a:tailEnd type="triangle"/>
          </a:ln>
        </p:spPr>
        <p:txBody>
          <a:bodyPr/>
          <a:lstStyle/>
          <a:p>
            <a:endParaRPr lang="en-IN"/>
          </a:p>
        </p:txBody>
      </p:sp>
      <p:sp>
        <p:nvSpPr>
          <p:cNvPr id="18" name="text_296"/>
          <p:cNvSpPr txBox="1"/>
          <p:nvPr/>
        </p:nvSpPr>
        <p:spPr>
          <a:xfrm>
            <a:off x="6336792" y="2953512"/>
            <a:ext cx="2468880" cy="365760"/>
          </a:xfrm>
          <a:prstGeom prst="rect">
            <a:avLst/>
          </a:prstGeom>
          <a:noFill/>
          <a:ln/>
        </p:spPr>
        <p:txBody>
          <a:bodyPr wrap="square" lIns="0" tIns="0" rIns="0" bIns="0" rtlCol="0" anchor="ctr"/>
          <a:lstStyle/>
          <a:p>
            <a:pPr marL="0" indent="0" algn="l">
              <a:buNone/>
            </a:pPr>
            <a:r>
              <a:rPr lang="en-US" sz="2300" b="1" dirty="0">
                <a:solidFill>
                  <a:srgbClr val="FFFFFF"/>
                </a:solidFill>
                <a:latin typeface="Arial" pitchFamily="34" charset="0"/>
                <a:ea typeface="Arial" pitchFamily="34" charset="-122"/>
                <a:cs typeface="Arial" pitchFamily="34" charset="-120"/>
              </a:rPr>
              <a:t>Evaluate</a:t>
            </a:r>
            <a:endParaRPr lang="en-US" sz="2300" dirty="0"/>
          </a:p>
        </p:txBody>
      </p:sp>
      <p:sp>
        <p:nvSpPr>
          <p:cNvPr id="19" name="text_297"/>
          <p:cNvSpPr txBox="1"/>
          <p:nvPr/>
        </p:nvSpPr>
        <p:spPr>
          <a:xfrm>
            <a:off x="6336792" y="3493008"/>
            <a:ext cx="2423160" cy="603504"/>
          </a:xfrm>
          <a:prstGeom prst="rect">
            <a:avLst/>
          </a:prstGeom>
          <a:noFill/>
          <a:ln/>
        </p:spPr>
        <p:txBody>
          <a:bodyPr wrap="square" lIns="0" tIns="0" rIns="0" bIns="0" rtlCol="0" anchor="ctr"/>
          <a:lstStyle/>
          <a:p>
            <a:pPr marL="0" indent="0" algn="l">
              <a:buNone/>
            </a:pPr>
            <a:r>
              <a:rPr lang="en-US" sz="1550" dirty="0">
                <a:solidFill>
                  <a:srgbClr val="ADC4C5"/>
                </a:solidFill>
                <a:latin typeface="Arial" pitchFamily="34" charset="0"/>
                <a:ea typeface="Arial" pitchFamily="34" charset="-122"/>
                <a:cs typeface="Arial" pitchFamily="34" charset="-120"/>
              </a:rPr>
              <a:t>Check outcomes</a:t>
            </a:r>
            <a:endParaRPr lang="en-US" sz="1550" dirty="0"/>
          </a:p>
          <a:p>
            <a:pPr marL="0" indent="0" algn="l">
              <a:buNone/>
            </a:pPr>
            <a:r>
              <a:rPr lang="en-US" sz="1550" dirty="0">
                <a:solidFill>
                  <a:srgbClr val="ADC4C5"/>
                </a:solidFill>
                <a:latin typeface="Arial" pitchFamily="34" charset="0"/>
                <a:ea typeface="Arial" pitchFamily="34" charset="-122"/>
                <a:cs typeface="Arial" pitchFamily="34" charset="-120"/>
              </a:rPr>
              <a:t>and edge cases.</a:t>
            </a:r>
            <a:endParaRPr lang="en-US" sz="1550" dirty="0"/>
          </a:p>
        </p:txBody>
      </p:sp>
      <p:sp>
        <p:nvSpPr>
          <p:cNvPr id="20" name="circle_298"/>
          <p:cNvSpPr/>
          <p:nvPr/>
        </p:nvSpPr>
        <p:spPr>
          <a:xfrm>
            <a:off x="9153144" y="2286000"/>
            <a:ext cx="402336" cy="402336"/>
          </a:xfrm>
          <a:prstGeom prst="ellipse">
            <a:avLst/>
          </a:prstGeom>
          <a:solidFill>
            <a:srgbClr val="1D333B"/>
          </a:solidFill>
          <a:ln w="12700">
            <a:solidFill>
              <a:srgbClr val="355158"/>
            </a:solidFill>
            <a:prstDash val="solid"/>
          </a:ln>
        </p:spPr>
        <p:txBody>
          <a:bodyPr/>
          <a:lstStyle/>
          <a:p>
            <a:endParaRPr lang="en-IN"/>
          </a:p>
        </p:txBody>
      </p:sp>
      <p:sp>
        <p:nvSpPr>
          <p:cNvPr id="21" name="text_299"/>
          <p:cNvSpPr txBox="1"/>
          <p:nvPr/>
        </p:nvSpPr>
        <p:spPr>
          <a:xfrm>
            <a:off x="9153144" y="2286000"/>
            <a:ext cx="402336" cy="402336"/>
          </a:xfrm>
          <a:prstGeom prst="rect">
            <a:avLst/>
          </a:prstGeom>
          <a:noFill/>
          <a:ln/>
        </p:spPr>
        <p:txBody>
          <a:bodyPr wrap="square" lIns="0" tIns="0" rIns="0" bIns="0" rtlCol="0" anchor="ctr"/>
          <a:lstStyle/>
          <a:p>
            <a:pPr marL="0" indent="0" algn="ctr">
              <a:buNone/>
            </a:pPr>
            <a:r>
              <a:rPr lang="en-US" sz="1100" b="1" dirty="0">
                <a:solidFill>
                  <a:srgbClr val="69DFC8"/>
                </a:solidFill>
                <a:latin typeface="Arial" pitchFamily="34" charset="0"/>
                <a:ea typeface="Arial" pitchFamily="34" charset="-122"/>
                <a:cs typeface="Arial" pitchFamily="34" charset="-120"/>
              </a:rPr>
              <a:t>04</a:t>
            </a:r>
            <a:endParaRPr lang="en-US" sz="1100" dirty="0"/>
          </a:p>
        </p:txBody>
      </p:sp>
      <p:sp>
        <p:nvSpPr>
          <p:cNvPr id="22" name="text_300"/>
          <p:cNvSpPr txBox="1"/>
          <p:nvPr/>
        </p:nvSpPr>
        <p:spPr>
          <a:xfrm>
            <a:off x="9153144" y="2953512"/>
            <a:ext cx="2468880" cy="365760"/>
          </a:xfrm>
          <a:prstGeom prst="rect">
            <a:avLst/>
          </a:prstGeom>
          <a:noFill/>
          <a:ln/>
        </p:spPr>
        <p:txBody>
          <a:bodyPr wrap="square" lIns="0" tIns="0" rIns="0" bIns="0" rtlCol="0" anchor="ctr"/>
          <a:lstStyle/>
          <a:p>
            <a:pPr marL="0" indent="0" algn="l">
              <a:buNone/>
            </a:pPr>
            <a:r>
              <a:rPr lang="en-US" sz="2300" b="1" dirty="0">
                <a:solidFill>
                  <a:srgbClr val="FFFFFF"/>
                </a:solidFill>
                <a:latin typeface="Arial" pitchFamily="34" charset="0"/>
                <a:ea typeface="Arial" pitchFamily="34" charset="-122"/>
                <a:cs typeface="Arial" pitchFamily="34" charset="-120"/>
              </a:rPr>
              <a:t>Expand</a:t>
            </a:r>
            <a:endParaRPr lang="en-US" sz="2300" dirty="0"/>
          </a:p>
        </p:txBody>
      </p:sp>
      <p:sp>
        <p:nvSpPr>
          <p:cNvPr id="23" name="text_301"/>
          <p:cNvSpPr txBox="1"/>
          <p:nvPr/>
        </p:nvSpPr>
        <p:spPr>
          <a:xfrm>
            <a:off x="9153144" y="3493008"/>
            <a:ext cx="2423160" cy="603504"/>
          </a:xfrm>
          <a:prstGeom prst="rect">
            <a:avLst/>
          </a:prstGeom>
          <a:noFill/>
          <a:ln/>
        </p:spPr>
        <p:txBody>
          <a:bodyPr wrap="square" lIns="0" tIns="0" rIns="0" bIns="0" rtlCol="0" anchor="ctr"/>
          <a:lstStyle/>
          <a:p>
            <a:pPr marL="0" indent="0" algn="l">
              <a:buNone/>
            </a:pPr>
            <a:r>
              <a:rPr lang="en-US" sz="1550" dirty="0">
                <a:solidFill>
                  <a:srgbClr val="ADC4C5"/>
                </a:solidFill>
                <a:latin typeface="Arial" pitchFamily="34" charset="0"/>
                <a:ea typeface="Arial" pitchFamily="34" charset="-122"/>
                <a:cs typeface="Arial" pitchFamily="34" charset="-120"/>
              </a:rPr>
              <a:t>Broaden scope only</a:t>
            </a:r>
            <a:endParaRPr lang="en-US" sz="1550" dirty="0"/>
          </a:p>
          <a:p>
            <a:pPr marL="0" indent="0" algn="l">
              <a:buNone/>
            </a:pPr>
            <a:r>
              <a:rPr lang="en-US" sz="1550" dirty="0">
                <a:solidFill>
                  <a:srgbClr val="ADC4C5"/>
                </a:solidFill>
                <a:latin typeface="Arial" pitchFamily="34" charset="0"/>
                <a:ea typeface="Arial" pitchFamily="34" charset="-122"/>
                <a:cs typeface="Arial" pitchFamily="34" charset="-120"/>
              </a:rPr>
              <a:t>after reliable results.</a:t>
            </a:r>
            <a:endParaRPr lang="en-US" sz="1550" dirty="0"/>
          </a:p>
        </p:txBody>
      </p:sp>
      <p:sp>
        <p:nvSpPr>
          <p:cNvPr id="24" name="shape_302"/>
          <p:cNvSpPr/>
          <p:nvPr/>
        </p:nvSpPr>
        <p:spPr>
          <a:xfrm>
            <a:off x="649224" y="4581144"/>
            <a:ext cx="10890504" cy="941832"/>
          </a:xfrm>
          <a:prstGeom prst="roundRect">
            <a:avLst>
              <a:gd name="adj" fmla="val 8738"/>
            </a:avLst>
          </a:prstGeom>
          <a:solidFill>
            <a:srgbClr val="1D333B"/>
          </a:solidFill>
          <a:ln w="12700">
            <a:solidFill>
              <a:srgbClr val="355158"/>
            </a:solidFill>
            <a:prstDash val="solid"/>
          </a:ln>
        </p:spPr>
        <p:txBody>
          <a:bodyPr/>
          <a:lstStyle/>
          <a:p>
            <a:endParaRPr lang="en-IN"/>
          </a:p>
        </p:txBody>
      </p:sp>
      <p:sp>
        <p:nvSpPr>
          <p:cNvPr id="25" name="text_303"/>
          <p:cNvSpPr txBox="1"/>
          <p:nvPr/>
        </p:nvSpPr>
        <p:spPr>
          <a:xfrm>
            <a:off x="932688" y="4791456"/>
            <a:ext cx="3291840" cy="164592"/>
          </a:xfrm>
          <a:prstGeom prst="rect">
            <a:avLst/>
          </a:prstGeom>
          <a:noFill/>
          <a:ln/>
        </p:spPr>
        <p:txBody>
          <a:bodyPr wrap="square" lIns="0" tIns="0" rIns="0" bIns="0" rtlCol="0" anchor="ctr"/>
          <a:lstStyle/>
          <a:p>
            <a:pPr marL="0" indent="0" algn="l">
              <a:buNone/>
            </a:pPr>
            <a:r>
              <a:rPr lang="en-US" sz="1050" b="1" kern="0" spc="100" dirty="0">
                <a:solidFill>
                  <a:srgbClr val="69DFC8"/>
                </a:solidFill>
                <a:latin typeface="Arial" pitchFamily="34" charset="0"/>
                <a:ea typeface="Arial" pitchFamily="34" charset="-122"/>
                <a:cs typeface="Arial" pitchFamily="34" charset="-120"/>
              </a:rPr>
              <a:t>QUALITY</a:t>
            </a:r>
            <a:endParaRPr lang="en-US" sz="1050" dirty="0"/>
          </a:p>
        </p:txBody>
      </p:sp>
      <p:sp>
        <p:nvSpPr>
          <p:cNvPr id="26" name="text_304"/>
          <p:cNvSpPr txBox="1"/>
          <p:nvPr/>
        </p:nvSpPr>
        <p:spPr>
          <a:xfrm>
            <a:off x="932688" y="5120640"/>
            <a:ext cx="3291840" cy="210312"/>
          </a:xfrm>
          <a:prstGeom prst="rect">
            <a:avLst/>
          </a:prstGeom>
          <a:noFill/>
          <a:ln/>
        </p:spPr>
        <p:txBody>
          <a:bodyPr wrap="square" lIns="0" tIns="0" rIns="0" bIns="0" rtlCol="0" anchor="ctr"/>
          <a:lstStyle/>
          <a:p>
            <a:pPr marL="0" indent="0" algn="l">
              <a:buNone/>
            </a:pPr>
            <a:r>
              <a:rPr lang="en-US" sz="1220" dirty="0">
                <a:solidFill>
                  <a:srgbClr val="FFFFFF"/>
                </a:solidFill>
                <a:latin typeface="Arial" pitchFamily="34" charset="0"/>
                <a:ea typeface="Arial" pitchFamily="34" charset="-122"/>
                <a:cs typeface="Arial" pitchFamily="34" charset="-120"/>
              </a:rPr>
              <a:t>Successful outcomes + accuracy</a:t>
            </a:r>
            <a:endParaRPr lang="en-US" sz="1220" dirty="0"/>
          </a:p>
        </p:txBody>
      </p:sp>
      <p:sp>
        <p:nvSpPr>
          <p:cNvPr id="27" name="line_305"/>
          <p:cNvSpPr/>
          <p:nvPr/>
        </p:nvSpPr>
        <p:spPr>
          <a:xfrm>
            <a:off x="4233672" y="4764024"/>
            <a:ext cx="0" cy="585216"/>
          </a:xfrm>
          <a:prstGeom prst="line">
            <a:avLst/>
          </a:prstGeom>
          <a:noFill/>
          <a:ln w="8890">
            <a:solidFill>
              <a:srgbClr val="355158"/>
            </a:solidFill>
            <a:prstDash val="solid"/>
            <a:headEnd type="none"/>
            <a:tailEnd type="none"/>
          </a:ln>
        </p:spPr>
        <p:txBody>
          <a:bodyPr/>
          <a:lstStyle/>
          <a:p>
            <a:endParaRPr lang="en-IN"/>
          </a:p>
        </p:txBody>
      </p:sp>
      <p:sp>
        <p:nvSpPr>
          <p:cNvPr id="28" name="text_306"/>
          <p:cNvSpPr txBox="1"/>
          <p:nvPr/>
        </p:nvSpPr>
        <p:spPr>
          <a:xfrm>
            <a:off x="4498848" y="4791456"/>
            <a:ext cx="3291840" cy="164592"/>
          </a:xfrm>
          <a:prstGeom prst="rect">
            <a:avLst/>
          </a:prstGeom>
          <a:noFill/>
          <a:ln/>
        </p:spPr>
        <p:txBody>
          <a:bodyPr wrap="square" lIns="0" tIns="0" rIns="0" bIns="0" rtlCol="0" anchor="ctr"/>
          <a:lstStyle/>
          <a:p>
            <a:pPr marL="0" indent="0" algn="l">
              <a:buNone/>
            </a:pPr>
            <a:r>
              <a:rPr lang="en-US" sz="1050" b="1" kern="0" spc="100" dirty="0">
                <a:solidFill>
                  <a:srgbClr val="69DFC8"/>
                </a:solidFill>
                <a:latin typeface="Arial" pitchFamily="34" charset="0"/>
                <a:ea typeface="Arial" pitchFamily="34" charset="-122"/>
                <a:cs typeface="Arial" pitchFamily="34" charset="-120"/>
              </a:rPr>
              <a:t>EFFICIENCY</a:t>
            </a:r>
            <a:endParaRPr lang="en-US" sz="1050" dirty="0"/>
          </a:p>
        </p:txBody>
      </p:sp>
      <p:sp>
        <p:nvSpPr>
          <p:cNvPr id="29" name="text_307"/>
          <p:cNvSpPr txBox="1"/>
          <p:nvPr/>
        </p:nvSpPr>
        <p:spPr>
          <a:xfrm>
            <a:off x="4498848" y="5120640"/>
            <a:ext cx="3291840" cy="210312"/>
          </a:xfrm>
          <a:prstGeom prst="rect">
            <a:avLst/>
          </a:prstGeom>
          <a:noFill/>
          <a:ln/>
        </p:spPr>
        <p:txBody>
          <a:bodyPr wrap="square" lIns="0" tIns="0" rIns="0" bIns="0" rtlCol="0" anchor="ctr"/>
          <a:lstStyle/>
          <a:p>
            <a:pPr marL="0" indent="0" algn="l">
              <a:buNone/>
            </a:pPr>
            <a:r>
              <a:rPr lang="en-US" sz="1220" dirty="0">
                <a:solidFill>
                  <a:srgbClr val="FFFFFF"/>
                </a:solidFill>
                <a:latin typeface="Arial" pitchFamily="34" charset="0"/>
                <a:ea typeface="Arial" pitchFamily="34" charset="-122"/>
                <a:cs typeface="Arial" pitchFamily="34" charset="-120"/>
              </a:rPr>
              <a:t>Elapsed time + human rework</a:t>
            </a:r>
            <a:endParaRPr lang="en-US" sz="1220" dirty="0"/>
          </a:p>
        </p:txBody>
      </p:sp>
      <p:sp>
        <p:nvSpPr>
          <p:cNvPr id="30" name="line_308"/>
          <p:cNvSpPr/>
          <p:nvPr/>
        </p:nvSpPr>
        <p:spPr>
          <a:xfrm>
            <a:off x="7799832" y="4764024"/>
            <a:ext cx="0" cy="585216"/>
          </a:xfrm>
          <a:prstGeom prst="line">
            <a:avLst/>
          </a:prstGeom>
          <a:noFill/>
          <a:ln w="8890">
            <a:solidFill>
              <a:srgbClr val="355158"/>
            </a:solidFill>
            <a:prstDash val="solid"/>
            <a:headEnd type="none"/>
            <a:tailEnd type="none"/>
          </a:ln>
        </p:spPr>
        <p:txBody>
          <a:bodyPr/>
          <a:lstStyle/>
          <a:p>
            <a:endParaRPr lang="en-IN"/>
          </a:p>
        </p:txBody>
      </p:sp>
      <p:sp>
        <p:nvSpPr>
          <p:cNvPr id="31" name="text_309"/>
          <p:cNvSpPr txBox="1"/>
          <p:nvPr/>
        </p:nvSpPr>
        <p:spPr>
          <a:xfrm>
            <a:off x="8065008" y="4791456"/>
            <a:ext cx="3291840" cy="164592"/>
          </a:xfrm>
          <a:prstGeom prst="rect">
            <a:avLst/>
          </a:prstGeom>
          <a:noFill/>
          <a:ln/>
        </p:spPr>
        <p:txBody>
          <a:bodyPr wrap="square" lIns="0" tIns="0" rIns="0" bIns="0" rtlCol="0" anchor="ctr"/>
          <a:lstStyle/>
          <a:p>
            <a:pPr marL="0" indent="0" algn="l">
              <a:buNone/>
            </a:pPr>
            <a:r>
              <a:rPr lang="en-US" sz="1050" b="1" kern="0" spc="100" dirty="0">
                <a:solidFill>
                  <a:srgbClr val="69DFC8"/>
                </a:solidFill>
                <a:latin typeface="Arial" pitchFamily="34" charset="0"/>
                <a:ea typeface="Arial" pitchFamily="34" charset="-122"/>
                <a:cs typeface="Arial" pitchFamily="34" charset="-120"/>
              </a:rPr>
              <a:t>CONTROL</a:t>
            </a:r>
            <a:endParaRPr lang="en-US" sz="1050" dirty="0"/>
          </a:p>
        </p:txBody>
      </p:sp>
      <p:sp>
        <p:nvSpPr>
          <p:cNvPr id="32" name="text_310"/>
          <p:cNvSpPr txBox="1"/>
          <p:nvPr/>
        </p:nvSpPr>
        <p:spPr>
          <a:xfrm>
            <a:off x="8065008" y="5120640"/>
            <a:ext cx="3291840" cy="210312"/>
          </a:xfrm>
          <a:prstGeom prst="rect">
            <a:avLst/>
          </a:prstGeom>
          <a:noFill/>
          <a:ln/>
        </p:spPr>
        <p:txBody>
          <a:bodyPr wrap="square" lIns="0" tIns="0" rIns="0" bIns="0" rtlCol="0" anchor="ctr"/>
          <a:lstStyle/>
          <a:p>
            <a:pPr marL="0" indent="0" algn="l">
              <a:buNone/>
            </a:pPr>
            <a:r>
              <a:rPr lang="en-US" sz="1220" dirty="0">
                <a:solidFill>
                  <a:srgbClr val="FFFFFF"/>
                </a:solidFill>
                <a:latin typeface="Arial" pitchFamily="34" charset="0"/>
                <a:ea typeface="Arial" pitchFamily="34" charset="-122"/>
                <a:cs typeface="Arial" pitchFamily="34" charset="-120"/>
              </a:rPr>
              <a:t>Failures + permission violations</a:t>
            </a:r>
            <a:endParaRPr lang="en-US" sz="1220" dirty="0"/>
          </a:p>
        </p:txBody>
      </p:sp>
      <p:sp>
        <p:nvSpPr>
          <p:cNvPr id="33" name="text_311"/>
          <p:cNvSpPr txBox="1"/>
          <p:nvPr/>
        </p:nvSpPr>
        <p:spPr>
          <a:xfrm>
            <a:off x="685800" y="5815584"/>
            <a:ext cx="10835640" cy="310896"/>
          </a:xfrm>
          <a:prstGeom prst="rect">
            <a:avLst/>
          </a:prstGeom>
          <a:noFill/>
          <a:ln/>
        </p:spPr>
        <p:txBody>
          <a:bodyPr wrap="square" lIns="0" tIns="0" rIns="0" bIns="0" rtlCol="0" anchor="ctr"/>
          <a:lstStyle/>
          <a:p>
            <a:pPr marL="0" indent="0" algn="l">
              <a:buNone/>
            </a:pPr>
            <a:r>
              <a:rPr lang="en-US" sz="2100" b="1" dirty="0">
                <a:solidFill>
                  <a:srgbClr val="FFFFFF"/>
                </a:solidFill>
                <a:latin typeface="Arial" pitchFamily="34" charset="0"/>
                <a:ea typeface="Arial" pitchFamily="34" charset="-122"/>
                <a:cs typeface="Arial" pitchFamily="34" charset="-120"/>
              </a:rPr>
              <a:t>Better outcomes—not just more automation.</a:t>
            </a:r>
            <a:endParaRPr lang="en-US" sz="2100" dirty="0"/>
          </a:p>
        </p:txBody>
      </p:sp>
      <p:sp>
        <p:nvSpPr>
          <p:cNvPr id="34" name="line_312"/>
          <p:cNvSpPr/>
          <p:nvPr/>
        </p:nvSpPr>
        <p:spPr>
          <a:xfrm>
            <a:off x="603504" y="6364224"/>
            <a:ext cx="10972800" cy="0"/>
          </a:xfrm>
          <a:prstGeom prst="line">
            <a:avLst/>
          </a:prstGeom>
          <a:noFill/>
          <a:ln w="8890">
            <a:solidFill>
              <a:srgbClr val="355158"/>
            </a:solidFill>
            <a:prstDash val="solid"/>
            <a:headEnd type="none"/>
            <a:tailEnd type="none"/>
          </a:ln>
        </p:spPr>
        <p:txBody>
          <a:bodyPr/>
          <a:lstStyle/>
          <a:p>
            <a:endParaRPr lang="en-IN"/>
          </a:p>
        </p:txBody>
      </p:sp>
      <p:sp>
        <p:nvSpPr>
          <p:cNvPr id="35" name="text_313"/>
          <p:cNvSpPr txBox="1"/>
          <p:nvPr/>
        </p:nvSpPr>
        <p:spPr>
          <a:xfrm>
            <a:off x="621792" y="6473952"/>
            <a:ext cx="6309360" cy="146304"/>
          </a:xfrm>
          <a:prstGeom prst="rect">
            <a:avLst/>
          </a:prstGeom>
          <a:noFill/>
          <a:ln/>
        </p:spPr>
        <p:txBody>
          <a:bodyPr wrap="square" lIns="0" tIns="0" rIns="0" bIns="0" rtlCol="0" anchor="ctr"/>
          <a:lstStyle/>
          <a:p>
            <a:pPr marL="0" indent="0" algn="l">
              <a:buNone/>
            </a:pPr>
            <a:r>
              <a:rPr lang="en-US" sz="830" kern="0" spc="105" dirty="0">
                <a:solidFill>
                  <a:srgbClr val="ADC4C5"/>
                </a:solidFill>
                <a:latin typeface="Arial" pitchFamily="34" charset="0"/>
                <a:ea typeface="Arial" pitchFamily="34" charset="-122"/>
                <a:cs typeface="Arial" pitchFamily="34" charset="-120"/>
              </a:rPr>
              <a:t>AGENTIC AI  /  A PRACTICAL BUSINESS BRIEFING</a:t>
            </a:r>
            <a:endParaRPr lang="en-US" sz="830" dirty="0"/>
          </a:p>
        </p:txBody>
      </p:sp>
      <p:sp>
        <p:nvSpPr>
          <p:cNvPr id="36" name="text_314"/>
          <p:cNvSpPr txBox="1"/>
          <p:nvPr/>
        </p:nvSpPr>
        <p:spPr>
          <a:xfrm>
            <a:off x="6492240" y="6460236"/>
            <a:ext cx="4434840" cy="182880"/>
          </a:xfrm>
          <a:prstGeom prst="rect">
            <a:avLst/>
          </a:prstGeom>
          <a:noFill/>
          <a:ln/>
        </p:spPr>
        <p:txBody>
          <a:bodyPr wrap="square" lIns="0" tIns="0" rIns="0" bIns="0" rtlCol="0" anchor="ctr"/>
          <a:lstStyle/>
          <a:p>
            <a:pPr marL="0" indent="0" algn="r">
              <a:buNone/>
            </a:pPr>
            <a:r>
              <a:rPr lang="en-US" sz="810" dirty="0">
                <a:solidFill>
                  <a:srgbClr val="ADC4C5"/>
                </a:solidFill>
                <a:latin typeface="Arial" pitchFamily="34" charset="0"/>
                <a:ea typeface="Arial" pitchFamily="34" charset="-122"/>
                <a:cs typeface="Arial" pitchFamily="34" charset="-120"/>
              </a:rPr>
              <a:t>Sources: [2], [3]  •  Full references in speaker notes</a:t>
            </a:r>
            <a:endParaRPr lang="en-US" sz="810" dirty="0"/>
          </a:p>
        </p:txBody>
      </p:sp>
      <p:sp>
        <p:nvSpPr>
          <p:cNvPr id="37" name="text_315"/>
          <p:cNvSpPr txBox="1"/>
          <p:nvPr/>
        </p:nvSpPr>
        <p:spPr>
          <a:xfrm>
            <a:off x="11091672" y="6441948"/>
            <a:ext cx="466344" cy="201168"/>
          </a:xfrm>
          <a:prstGeom prst="rect">
            <a:avLst/>
          </a:prstGeom>
          <a:noFill/>
          <a:ln/>
        </p:spPr>
        <p:txBody>
          <a:bodyPr wrap="square" lIns="0" tIns="0" rIns="0" bIns="0" rtlCol="0" anchor="ctr"/>
          <a:lstStyle/>
          <a:p>
            <a:pPr marL="0" indent="0" algn="r">
              <a:buNone/>
            </a:pPr>
            <a:r>
              <a:rPr lang="en-US" sz="1000" b="1" dirty="0">
                <a:solidFill>
                  <a:srgbClr val="69DFC8"/>
                </a:solidFill>
                <a:latin typeface="Arial" pitchFamily="34" charset="0"/>
                <a:ea typeface="Arial" pitchFamily="34" charset="-122"/>
                <a:cs typeface="Arial" pitchFamily="34" charset="-120"/>
              </a:rPr>
              <a:t>07</a:t>
            </a:r>
            <a:endParaRPr lang="en-US" sz="1000" dirty="0"/>
          </a:p>
        </p:txBody>
      </p:sp>
    </p:spTree>
  </p:cSld>
  <p:clrMapOvr>
    <a:masterClrMapping/>
  </p:clrMapOvr>
</p:sld>
</file>

<file path=ppt/theme/theme1.xml><?xml version="1.0" encoding="utf-8"?>
<a:theme xmlns:a="http://schemas.openxmlformats.org/drawingml/2006/main" name="Agentic Executive — Charcoal and Teal">
  <a:themeElements>
    <a:clrScheme name="Agentic Executive">
      <a:dk1>
        <a:srgbClr val="142329"/>
      </a:dk1>
      <a:lt1>
        <a:srgbClr val="FFFFFF"/>
      </a:lt1>
      <a:dk2>
        <a:srgbClr val="1D333B"/>
      </a:dk2>
      <a:lt2>
        <a:srgbClr val="F4F7F6"/>
      </a:lt2>
      <a:accent1>
        <a:srgbClr val="007E80"/>
      </a:accent1>
      <a:accent2>
        <a:srgbClr val="69DFC8"/>
      </a:accent2>
      <a:accent3>
        <a:srgbClr val="7B70C3"/>
      </a:accent3>
      <a:accent4>
        <a:srgbClr val="DDA858"/>
      </a:accent4>
      <a:accent5>
        <a:srgbClr val="55707A"/>
      </a:accent5>
      <a:accent6>
        <a:srgbClr val="D6E2DF"/>
      </a:accent6>
      <a:hlink>
        <a:srgbClr val="007E80"/>
      </a:hlink>
      <a:folHlink>
        <a:srgbClr val="7B70C3"/>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3003</Words>
  <Application>Microsoft Office PowerPoint</Application>
  <PresentationFormat>Widescreen</PresentationFormat>
  <Paragraphs>274</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Agentic Executive — Charcoal and Teal</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Independent classroom resource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dc:title>
  <dc:subject>Agentic AI — a practical business briefing and original visual reference</dc:subject>
  <dc:creator>Workshop Learning Materials</dc:creator>
  <cp:lastModifiedBy>Arnab Chakraborty</cp:lastModifiedBy>
  <cp:revision>2</cp:revision>
  <dcterms:created xsi:type="dcterms:W3CDTF">2026-10-01T05:31:24Z</dcterms:created>
  <dcterms:modified xsi:type="dcterms:W3CDTF">2026-10-02T03:22:37Z</dcterms:modified>
</cp:coreProperties>
</file>